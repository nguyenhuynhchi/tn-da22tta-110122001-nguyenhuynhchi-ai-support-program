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DejaVu Serif Bold" charset="1" panose="02060803050605020204"/>
      <p:regular r:id="rId25"/>
    </p:embeddedFont>
    <p:embeddedFont>
      <p:font typeface="DejaVu Serif" charset="1" panose="02060603050605020204"/>
      <p:regular r:id="rId26"/>
    </p:embeddedFont>
    <p:embeddedFont>
      <p:font typeface="Muli Bold" charset="1" panose="00000800000000000000"/>
      <p:regular r:id="rId27"/>
    </p:embeddedFont>
    <p:embeddedFont>
      <p:font typeface="Muli Ultra-Bold" charset="1" panose="00000900000000000000"/>
      <p:regular r:id="rId28"/>
    </p:embeddedFont>
    <p:embeddedFont>
      <p:font typeface="Muli" charset="1" panose="00000500000000000000"/>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5.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png" Type="http://schemas.openxmlformats.org/officeDocument/2006/relationships/image"/><Relationship Id="rId11" Target="../media/image12.png" Type="http://schemas.openxmlformats.org/officeDocument/2006/relationships/image"/><Relationship Id="rId12" Target="../media/image13.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6.png" Type="http://schemas.openxmlformats.org/officeDocument/2006/relationships/image"/><Relationship Id="rId6" Target="../media/image7.png" Type="http://schemas.openxmlformats.org/officeDocument/2006/relationships/image"/><Relationship Id="rId7" Target="../media/image8.png" Type="http://schemas.openxmlformats.org/officeDocument/2006/relationships/image"/><Relationship Id="rId8" Target="../media/image9.png" Type="http://schemas.openxmlformats.org/officeDocument/2006/relationships/image"/><Relationship Id="rId9" Target="../media/image10.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16.png" Type="http://schemas.openxmlformats.org/officeDocument/2006/relationships/image"/><Relationship Id="rId8" Target="../media/image17.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18.png" Type="http://schemas.openxmlformats.org/officeDocument/2006/relationships/image"/><Relationship Id="rId6" Target="../media/image19.png" Type="http://schemas.openxmlformats.org/officeDocument/2006/relationships/image"/><Relationship Id="rId7" Target="../media/image20.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1.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3.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4.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5.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6.png" Type="http://schemas.openxmlformats.org/officeDocument/2006/relationships/image"/><Relationship Id="rId6" Target="../media/image27.png" Type="http://schemas.openxmlformats.org/officeDocument/2006/relationships/image"/><Relationship Id="rId7" Target="../media/image28.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29.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30.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31.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 Id="rId5" Target="../media/image3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4.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31E40"/>
        </a:solidFill>
      </p:bgPr>
    </p:bg>
    <p:spTree>
      <p:nvGrpSpPr>
        <p:cNvPr id="1" name=""/>
        <p:cNvGrpSpPr/>
        <p:nvPr/>
      </p:nvGrpSpPr>
      <p:grpSpPr>
        <a:xfrm>
          <a:off x="0" y="0"/>
          <a:ext cx="0" cy="0"/>
          <a:chOff x="0" y="0"/>
          <a:chExt cx="0" cy="0"/>
        </a:xfrm>
      </p:grpSpPr>
      <p:sp>
        <p:nvSpPr>
          <p:cNvPr name="Freeform 2" id="2"/>
          <p:cNvSpPr/>
          <p:nvPr/>
        </p:nvSpPr>
        <p:spPr>
          <a:xfrm flipH="false" flipV="false" rot="0">
            <a:off x="-1717367" y="-2432569"/>
            <a:ext cx="6550227" cy="6550227"/>
          </a:xfrm>
          <a:custGeom>
            <a:avLst/>
            <a:gdLst/>
            <a:ahLst/>
            <a:cxnLst/>
            <a:rect r="r" b="b" t="t" l="l"/>
            <a:pathLst>
              <a:path h="6550227" w="6550227">
                <a:moveTo>
                  <a:pt x="0" y="0"/>
                </a:moveTo>
                <a:lnTo>
                  <a:pt x="6550227" y="0"/>
                </a:lnTo>
                <a:lnTo>
                  <a:pt x="6550227" y="6550227"/>
                </a:lnTo>
                <a:lnTo>
                  <a:pt x="0" y="655022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0" y="503363"/>
            <a:ext cx="18288000" cy="1137466"/>
            <a:chOff x="0" y="0"/>
            <a:chExt cx="4816593" cy="299580"/>
          </a:xfrm>
        </p:grpSpPr>
        <p:sp>
          <p:nvSpPr>
            <p:cNvPr name="Freeform 4" id="4"/>
            <p:cNvSpPr/>
            <p:nvPr/>
          </p:nvSpPr>
          <p:spPr>
            <a:xfrm flipH="false" flipV="false" rot="0">
              <a:off x="0" y="0"/>
              <a:ext cx="4816592" cy="299580"/>
            </a:xfrm>
            <a:custGeom>
              <a:avLst/>
              <a:gdLst/>
              <a:ahLst/>
              <a:cxnLst/>
              <a:rect r="r" b="b" t="t" l="l"/>
              <a:pathLst>
                <a:path h="299580" w="4816592">
                  <a:moveTo>
                    <a:pt x="0" y="0"/>
                  </a:moveTo>
                  <a:lnTo>
                    <a:pt x="4816592" y="0"/>
                  </a:lnTo>
                  <a:lnTo>
                    <a:pt x="4816592" y="299580"/>
                  </a:lnTo>
                  <a:lnTo>
                    <a:pt x="0" y="299580"/>
                  </a:lnTo>
                  <a:close/>
                </a:path>
              </a:pathLst>
            </a:custGeom>
            <a:solidFill>
              <a:srgbClr val="354EAB"/>
            </a:solidFill>
          </p:spPr>
        </p:sp>
        <p:sp>
          <p:nvSpPr>
            <p:cNvPr name="TextBox 5" id="5"/>
            <p:cNvSpPr txBox="true"/>
            <p:nvPr/>
          </p:nvSpPr>
          <p:spPr>
            <a:xfrm>
              <a:off x="0" y="-66675"/>
              <a:ext cx="4816593" cy="366255"/>
            </a:xfrm>
            <a:prstGeom prst="rect">
              <a:avLst/>
            </a:prstGeom>
          </p:spPr>
          <p:txBody>
            <a:bodyPr anchor="ctr" rtlCol="false" tIns="50800" lIns="50800" bIns="50800" rIns="50800"/>
            <a:lstStyle/>
            <a:p>
              <a:pPr algn="ctr">
                <a:lnSpc>
                  <a:spcPts val="3300"/>
                </a:lnSpc>
              </a:pPr>
            </a:p>
          </p:txBody>
        </p:sp>
      </p:grpSp>
      <p:grpSp>
        <p:nvGrpSpPr>
          <p:cNvPr name="Group 6" id="6"/>
          <p:cNvGrpSpPr/>
          <p:nvPr/>
        </p:nvGrpSpPr>
        <p:grpSpPr>
          <a:xfrm rot="0">
            <a:off x="485650" y="0"/>
            <a:ext cx="2144193" cy="214419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5FFF5"/>
            </a:solidFill>
          </p:spPr>
        </p:sp>
        <p:sp>
          <p:nvSpPr>
            <p:cNvPr name="TextBox 8" id="8"/>
            <p:cNvSpPr txBox="true"/>
            <p:nvPr/>
          </p:nvSpPr>
          <p:spPr>
            <a:xfrm>
              <a:off x="76200" y="9525"/>
              <a:ext cx="660400" cy="727075"/>
            </a:xfrm>
            <a:prstGeom prst="rect">
              <a:avLst/>
            </a:prstGeom>
          </p:spPr>
          <p:txBody>
            <a:bodyPr anchor="ctr" rtlCol="false" tIns="50800" lIns="50800" bIns="50800" rIns="50800"/>
            <a:lstStyle/>
            <a:p>
              <a:pPr algn="ctr">
                <a:lnSpc>
                  <a:spcPts val="3300"/>
                </a:lnSpc>
              </a:pPr>
            </a:p>
          </p:txBody>
        </p:sp>
      </p:grpSp>
      <p:sp>
        <p:nvSpPr>
          <p:cNvPr name="Freeform 9" id="9"/>
          <p:cNvSpPr/>
          <p:nvPr/>
        </p:nvSpPr>
        <p:spPr>
          <a:xfrm flipH="false" flipV="false" rot="0">
            <a:off x="721601" y="235951"/>
            <a:ext cx="1672291" cy="1672291"/>
          </a:xfrm>
          <a:custGeom>
            <a:avLst/>
            <a:gdLst/>
            <a:ahLst/>
            <a:cxnLst/>
            <a:rect r="r" b="b" t="t" l="l"/>
            <a:pathLst>
              <a:path h="1672291" w="1672291">
                <a:moveTo>
                  <a:pt x="0" y="0"/>
                </a:moveTo>
                <a:lnTo>
                  <a:pt x="1672290" y="0"/>
                </a:lnTo>
                <a:lnTo>
                  <a:pt x="1672290" y="1672291"/>
                </a:lnTo>
                <a:lnTo>
                  <a:pt x="0" y="1672291"/>
                </a:lnTo>
                <a:lnTo>
                  <a:pt x="0" y="0"/>
                </a:lnTo>
                <a:close/>
              </a:path>
            </a:pathLst>
          </a:custGeom>
          <a:blipFill>
            <a:blip r:embed="rId4"/>
            <a:stretch>
              <a:fillRect l="0" t="0" r="0" b="0"/>
            </a:stretch>
          </a:blipFill>
        </p:spPr>
      </p:sp>
      <p:sp>
        <p:nvSpPr>
          <p:cNvPr name="Freeform 10" id="10"/>
          <p:cNvSpPr/>
          <p:nvPr/>
        </p:nvSpPr>
        <p:spPr>
          <a:xfrm flipH="false" flipV="false" rot="0">
            <a:off x="4766701" y="503701"/>
            <a:ext cx="8754599" cy="8754599"/>
          </a:xfrm>
          <a:custGeom>
            <a:avLst/>
            <a:gdLst/>
            <a:ahLst/>
            <a:cxnLst/>
            <a:rect r="r" b="b" t="t" l="l"/>
            <a:pathLst>
              <a:path h="8754599" w="8754599">
                <a:moveTo>
                  <a:pt x="0" y="0"/>
                </a:moveTo>
                <a:lnTo>
                  <a:pt x="8754598" y="0"/>
                </a:lnTo>
                <a:lnTo>
                  <a:pt x="8754598" y="8754599"/>
                </a:lnTo>
                <a:lnTo>
                  <a:pt x="0" y="87545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AutoShape 11" id="11"/>
          <p:cNvSpPr/>
          <p:nvPr/>
        </p:nvSpPr>
        <p:spPr>
          <a:xfrm>
            <a:off x="2153606" y="8883160"/>
            <a:ext cx="2347464" cy="0"/>
          </a:xfrm>
          <a:prstGeom prst="line">
            <a:avLst/>
          </a:prstGeom>
          <a:ln cap="flat" w="38100">
            <a:solidFill>
              <a:srgbClr val="FFFFFF"/>
            </a:solidFill>
            <a:prstDash val="solid"/>
            <a:headEnd type="none" len="sm" w="sm"/>
            <a:tailEnd type="none" len="sm" w="sm"/>
          </a:ln>
        </p:spPr>
      </p:sp>
      <p:sp>
        <p:nvSpPr>
          <p:cNvPr name="AutoShape 12" id="12"/>
          <p:cNvSpPr/>
          <p:nvPr/>
        </p:nvSpPr>
        <p:spPr>
          <a:xfrm flipV="true">
            <a:off x="12615386" y="8863734"/>
            <a:ext cx="2347464" cy="0"/>
          </a:xfrm>
          <a:prstGeom prst="line">
            <a:avLst/>
          </a:prstGeom>
          <a:ln cap="flat" w="38100">
            <a:solidFill>
              <a:srgbClr val="FFFFFF"/>
            </a:solidFill>
            <a:prstDash val="solid"/>
            <a:headEnd type="none" len="sm" w="sm"/>
            <a:tailEnd type="none" len="sm" w="sm"/>
          </a:ln>
        </p:spPr>
      </p:sp>
      <p:sp>
        <p:nvSpPr>
          <p:cNvPr name="TextBox 13" id="13"/>
          <p:cNvSpPr txBox="true"/>
          <p:nvPr/>
        </p:nvSpPr>
        <p:spPr>
          <a:xfrm rot="0">
            <a:off x="602391" y="8202293"/>
            <a:ext cx="5449894" cy="589475"/>
          </a:xfrm>
          <a:prstGeom prst="rect">
            <a:avLst/>
          </a:prstGeom>
        </p:spPr>
        <p:txBody>
          <a:bodyPr anchor="t" rtlCol="false" tIns="0" lIns="0" bIns="0" rIns="0">
            <a:spAutoFit/>
          </a:bodyPr>
          <a:lstStyle/>
          <a:p>
            <a:pPr algn="ctr">
              <a:lnSpc>
                <a:spcPts val="4616"/>
              </a:lnSpc>
            </a:pPr>
            <a:r>
              <a:rPr lang="en-US" sz="3297" b="true">
                <a:solidFill>
                  <a:srgbClr val="FFFFFF"/>
                </a:solidFill>
                <a:latin typeface="DejaVu Serif Bold"/>
                <a:ea typeface="DejaVu Serif Bold"/>
                <a:cs typeface="DejaVu Serif Bold"/>
                <a:sym typeface="DejaVu Serif Bold"/>
              </a:rPr>
              <a:t>Giảng viên hướng dẫn: </a:t>
            </a:r>
          </a:p>
        </p:txBody>
      </p:sp>
      <p:sp>
        <p:nvSpPr>
          <p:cNvPr name="TextBox 14" id="14"/>
          <p:cNvSpPr txBox="true"/>
          <p:nvPr/>
        </p:nvSpPr>
        <p:spPr>
          <a:xfrm rot="0">
            <a:off x="11350975" y="8202293"/>
            <a:ext cx="4876286" cy="582876"/>
          </a:xfrm>
          <a:prstGeom prst="rect">
            <a:avLst/>
          </a:prstGeom>
        </p:spPr>
        <p:txBody>
          <a:bodyPr anchor="t" rtlCol="false" tIns="0" lIns="0" bIns="0" rIns="0">
            <a:spAutoFit/>
          </a:bodyPr>
          <a:lstStyle/>
          <a:p>
            <a:pPr algn="ctr">
              <a:lnSpc>
                <a:spcPts val="4619"/>
              </a:lnSpc>
            </a:pPr>
            <a:r>
              <a:rPr lang="en-US" sz="3299" b="true">
                <a:solidFill>
                  <a:srgbClr val="FFFFFF"/>
                </a:solidFill>
                <a:latin typeface="DejaVu Serif Bold"/>
                <a:ea typeface="DejaVu Serif Bold"/>
                <a:cs typeface="DejaVu Serif Bold"/>
                <a:sym typeface="DejaVu Serif Bold"/>
              </a:rPr>
              <a:t>Sinh viên thực hiện: </a:t>
            </a:r>
          </a:p>
        </p:txBody>
      </p:sp>
      <p:sp>
        <p:nvSpPr>
          <p:cNvPr name="TextBox 15" id="15"/>
          <p:cNvSpPr txBox="true"/>
          <p:nvPr/>
        </p:nvSpPr>
        <p:spPr>
          <a:xfrm rot="0">
            <a:off x="8877954" y="8973049"/>
            <a:ext cx="9822329" cy="582876"/>
          </a:xfrm>
          <a:prstGeom prst="rect">
            <a:avLst/>
          </a:prstGeom>
        </p:spPr>
        <p:txBody>
          <a:bodyPr anchor="t" rtlCol="false" tIns="0" lIns="0" bIns="0" rIns="0">
            <a:spAutoFit/>
          </a:bodyPr>
          <a:lstStyle/>
          <a:p>
            <a:pPr algn="ctr">
              <a:lnSpc>
                <a:spcPts val="4619"/>
              </a:lnSpc>
            </a:pPr>
            <a:r>
              <a:rPr lang="en-US" sz="3299">
                <a:solidFill>
                  <a:srgbClr val="FFFFFF"/>
                </a:solidFill>
                <a:latin typeface="DejaVu Serif"/>
                <a:ea typeface="DejaVu Serif"/>
                <a:cs typeface="DejaVu Serif"/>
                <a:sym typeface="DejaVu Serif"/>
              </a:rPr>
              <a:t>Nguyễn Huỳnh Chí - 110122001</a:t>
            </a:r>
          </a:p>
        </p:txBody>
      </p:sp>
      <p:sp>
        <p:nvSpPr>
          <p:cNvPr name="TextBox 16" id="16"/>
          <p:cNvSpPr txBox="true"/>
          <p:nvPr/>
        </p:nvSpPr>
        <p:spPr>
          <a:xfrm rot="0">
            <a:off x="1087272" y="8973049"/>
            <a:ext cx="4480132" cy="582876"/>
          </a:xfrm>
          <a:prstGeom prst="rect">
            <a:avLst/>
          </a:prstGeom>
        </p:spPr>
        <p:txBody>
          <a:bodyPr anchor="t" rtlCol="false" tIns="0" lIns="0" bIns="0" rIns="0">
            <a:spAutoFit/>
          </a:bodyPr>
          <a:lstStyle/>
          <a:p>
            <a:pPr algn="ctr">
              <a:lnSpc>
                <a:spcPts val="4619"/>
              </a:lnSpc>
            </a:pPr>
            <a:r>
              <a:rPr lang="en-US" sz="3299">
                <a:solidFill>
                  <a:srgbClr val="FFFFFF"/>
                </a:solidFill>
                <a:latin typeface="DejaVu Serif"/>
                <a:ea typeface="DejaVu Serif"/>
                <a:cs typeface="DejaVu Serif"/>
                <a:sym typeface="DejaVu Serif"/>
              </a:rPr>
              <a:t>ThS. Trịnh Quốc Việt</a:t>
            </a:r>
          </a:p>
        </p:txBody>
      </p:sp>
      <p:sp>
        <p:nvSpPr>
          <p:cNvPr name="TextBox 17" id="17"/>
          <p:cNvSpPr txBox="true"/>
          <p:nvPr/>
        </p:nvSpPr>
        <p:spPr>
          <a:xfrm rot="0">
            <a:off x="2806763" y="787617"/>
            <a:ext cx="6761724" cy="549910"/>
          </a:xfrm>
          <a:prstGeom prst="rect">
            <a:avLst/>
          </a:prstGeom>
        </p:spPr>
        <p:txBody>
          <a:bodyPr anchor="t" rtlCol="false" tIns="0" lIns="0" bIns="0" rIns="0">
            <a:spAutoFit/>
          </a:bodyPr>
          <a:lstStyle/>
          <a:p>
            <a:pPr algn="l">
              <a:lnSpc>
                <a:spcPts val="4445"/>
              </a:lnSpc>
            </a:pPr>
            <a:r>
              <a:rPr lang="en-US" b="true" sz="3500" spc="105">
                <a:solidFill>
                  <a:srgbClr val="FFFFFF"/>
                </a:solidFill>
                <a:latin typeface="Muli Bold"/>
                <a:ea typeface="Muli Bold"/>
                <a:cs typeface="Muli Bold"/>
                <a:sym typeface="Muli Bold"/>
              </a:rPr>
              <a:t>ĐẠI HỌC TRÀ VINH</a:t>
            </a:r>
          </a:p>
        </p:txBody>
      </p:sp>
      <p:sp>
        <p:nvSpPr>
          <p:cNvPr name="TextBox 18" id="18"/>
          <p:cNvSpPr txBox="true"/>
          <p:nvPr/>
        </p:nvSpPr>
        <p:spPr>
          <a:xfrm rot="0">
            <a:off x="3681030" y="4127183"/>
            <a:ext cx="10925941" cy="2827336"/>
          </a:xfrm>
          <a:prstGeom prst="rect">
            <a:avLst/>
          </a:prstGeom>
        </p:spPr>
        <p:txBody>
          <a:bodyPr anchor="t" rtlCol="false" tIns="0" lIns="0" bIns="0" rIns="0">
            <a:spAutoFit/>
          </a:bodyPr>
          <a:lstStyle/>
          <a:p>
            <a:pPr algn="ctr">
              <a:lnSpc>
                <a:spcPts val="5596"/>
              </a:lnSpc>
              <a:spcBef>
                <a:spcPct val="0"/>
              </a:spcBef>
            </a:pPr>
            <a:r>
              <a:rPr lang="en-US" b="true" sz="3997" spc="227">
                <a:solidFill>
                  <a:srgbClr val="FFBD59"/>
                </a:solidFill>
                <a:latin typeface="DejaVu Serif Bold"/>
                <a:ea typeface="DejaVu Serif Bold"/>
                <a:cs typeface="DejaVu Serif Bold"/>
                <a:sym typeface="DejaVu Serif Bold"/>
              </a:rPr>
              <a:t>XÂY</a:t>
            </a:r>
            <a:r>
              <a:rPr lang="en-US" b="true" sz="3997" spc="227">
                <a:solidFill>
                  <a:srgbClr val="FFBD59"/>
                </a:solidFill>
                <a:latin typeface="DejaVu Serif Bold"/>
                <a:ea typeface="DejaVu Serif Bold"/>
                <a:cs typeface="DejaVu Serif Bold"/>
                <a:sym typeface="DejaVu Serif Bold"/>
              </a:rPr>
              <a:t> DỰNG CHATBOT HỖ TRỢ </a:t>
            </a:r>
          </a:p>
          <a:p>
            <a:pPr algn="ctr">
              <a:lnSpc>
                <a:spcPts val="5596"/>
              </a:lnSpc>
              <a:spcBef>
                <a:spcPct val="0"/>
              </a:spcBef>
            </a:pPr>
            <a:r>
              <a:rPr lang="en-US" b="true" sz="3997" spc="227">
                <a:solidFill>
                  <a:srgbClr val="FFBD59"/>
                </a:solidFill>
                <a:latin typeface="DejaVu Serif Bold"/>
                <a:ea typeface="DejaVu Serif Bold"/>
                <a:cs typeface="DejaVu Serif Bold"/>
                <a:sym typeface="DejaVu Serif Bold"/>
              </a:rPr>
              <a:t>GIẢI BÀI TẬP LẬP TRÌNH</a:t>
            </a:r>
          </a:p>
          <a:p>
            <a:pPr algn="ctr">
              <a:lnSpc>
                <a:spcPts val="5596"/>
              </a:lnSpc>
              <a:spcBef>
                <a:spcPct val="0"/>
              </a:spcBef>
            </a:pPr>
            <a:r>
              <a:rPr lang="en-US" b="true" sz="3997" spc="227">
                <a:solidFill>
                  <a:srgbClr val="FFBD59"/>
                </a:solidFill>
                <a:latin typeface="DejaVu Serif Bold"/>
                <a:ea typeface="DejaVu Serif Bold"/>
                <a:cs typeface="DejaVu Serif Bold"/>
                <a:sym typeface="DejaVu Serif Bold"/>
              </a:rPr>
              <a:t>VÀ GỢI Ý LỖI SAI CHO SINH VIÊN </a:t>
            </a:r>
          </a:p>
          <a:p>
            <a:pPr algn="ctr">
              <a:lnSpc>
                <a:spcPts val="5596"/>
              </a:lnSpc>
              <a:spcBef>
                <a:spcPct val="0"/>
              </a:spcBef>
            </a:pPr>
            <a:r>
              <a:rPr lang="en-US" b="true" sz="3997" spc="227">
                <a:solidFill>
                  <a:srgbClr val="FFBD59"/>
                </a:solidFill>
                <a:latin typeface="DejaVu Serif Bold"/>
                <a:ea typeface="DejaVu Serif Bold"/>
                <a:cs typeface="DejaVu Serif Bold"/>
                <a:sym typeface="DejaVu Serif Bold"/>
              </a:rPr>
              <a:t>NGÀNH CÔNG NGHỆ THÔNG TIN</a:t>
            </a:r>
          </a:p>
        </p:txBody>
      </p:sp>
      <p:sp>
        <p:nvSpPr>
          <p:cNvPr name="TextBox 19" id="19"/>
          <p:cNvSpPr txBox="true"/>
          <p:nvPr/>
        </p:nvSpPr>
        <p:spPr>
          <a:xfrm rot="0">
            <a:off x="9433147" y="787617"/>
            <a:ext cx="10841101" cy="549910"/>
          </a:xfrm>
          <a:prstGeom prst="rect">
            <a:avLst/>
          </a:prstGeom>
        </p:spPr>
        <p:txBody>
          <a:bodyPr anchor="t" rtlCol="false" tIns="0" lIns="0" bIns="0" rIns="0">
            <a:spAutoFit/>
          </a:bodyPr>
          <a:lstStyle/>
          <a:p>
            <a:pPr algn="l">
              <a:lnSpc>
                <a:spcPts val="4445"/>
              </a:lnSpc>
            </a:pPr>
            <a:r>
              <a:rPr lang="en-US" b="true" sz="3500" spc="105">
                <a:solidFill>
                  <a:srgbClr val="FFFFFF"/>
                </a:solidFill>
                <a:latin typeface="Muli Bold"/>
                <a:ea typeface="Muli Bold"/>
                <a:cs typeface="Muli Bold"/>
                <a:sym typeface="Muli Bold"/>
              </a:rPr>
              <a:t>TRƯỜNG KỸ THUẬT VÀ CÔNG NGHỆ</a:t>
            </a:r>
          </a:p>
        </p:txBody>
      </p:sp>
      <p:sp>
        <p:nvSpPr>
          <p:cNvPr name="TextBox 20" id="20"/>
          <p:cNvSpPr txBox="true"/>
          <p:nvPr/>
        </p:nvSpPr>
        <p:spPr>
          <a:xfrm rot="0">
            <a:off x="6312969" y="2568434"/>
            <a:ext cx="5129970" cy="598547"/>
          </a:xfrm>
          <a:prstGeom prst="rect">
            <a:avLst/>
          </a:prstGeom>
        </p:spPr>
        <p:txBody>
          <a:bodyPr anchor="t" rtlCol="false" tIns="0" lIns="0" bIns="0" rIns="0">
            <a:spAutoFit/>
          </a:bodyPr>
          <a:lstStyle/>
          <a:p>
            <a:pPr algn="ctr">
              <a:lnSpc>
                <a:spcPts val="4759"/>
              </a:lnSpc>
              <a:spcBef>
                <a:spcPct val="0"/>
              </a:spcBef>
            </a:pPr>
            <a:r>
              <a:rPr lang="en-US" b="true" sz="3399">
                <a:solidFill>
                  <a:srgbClr val="FFFFFF"/>
                </a:solidFill>
                <a:latin typeface="DejaVu Serif Bold"/>
                <a:ea typeface="DejaVu Serif Bold"/>
                <a:cs typeface="DejaVu Serif Bold"/>
                <a:sym typeface="DejaVu Serif Bold"/>
              </a:rPr>
              <a:t>ĐỒ ÁN TỐT NGHIỆP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212561" y="1777895"/>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grpSp>
        <p:nvGrpSpPr>
          <p:cNvPr name="Group 5" id="5"/>
          <p:cNvGrpSpPr/>
          <p:nvPr/>
        </p:nvGrpSpPr>
        <p:grpSpPr>
          <a:xfrm rot="-5400000">
            <a:off x="5380242" y="-54726"/>
            <a:ext cx="921462" cy="2405689"/>
            <a:chOff x="0" y="0"/>
            <a:chExt cx="2432268" cy="6350000"/>
          </a:xfrm>
        </p:grpSpPr>
        <p:sp>
          <p:nvSpPr>
            <p:cNvPr name="Freeform 6" id="6"/>
            <p:cNvSpPr/>
            <p:nvPr/>
          </p:nvSpPr>
          <p:spPr>
            <a:xfrm flipH="false" flipV="true" rot="0">
              <a:off x="0" y="0"/>
              <a:ext cx="2432268" cy="6350000"/>
            </a:xfrm>
            <a:custGeom>
              <a:avLst/>
              <a:gdLst/>
              <a:ahLst/>
              <a:cxnLst/>
              <a:rect r="r" b="b" t="t" l="l"/>
              <a:pathLst>
                <a:path h="6350000" w="2432268">
                  <a:moveTo>
                    <a:pt x="1216134" y="0"/>
                  </a:moveTo>
                  <a:cubicBezTo>
                    <a:pt x="544828" y="0"/>
                    <a:pt x="0" y="995680"/>
                    <a:pt x="0" y="2222500"/>
                  </a:cubicBezTo>
                  <a:lnTo>
                    <a:pt x="0" y="4127500"/>
                  </a:lnTo>
                  <a:cubicBezTo>
                    <a:pt x="0" y="5354320"/>
                    <a:pt x="544828" y="6350000"/>
                    <a:pt x="1216134" y="6350000"/>
                  </a:cubicBezTo>
                  <a:cubicBezTo>
                    <a:pt x="1887440" y="6350000"/>
                    <a:pt x="2432268" y="5354320"/>
                    <a:pt x="2432268" y="4127500"/>
                  </a:cubicBezTo>
                  <a:lnTo>
                    <a:pt x="2432268" y="2222500"/>
                  </a:lnTo>
                  <a:cubicBezTo>
                    <a:pt x="2432268" y="995680"/>
                    <a:pt x="1887440" y="0"/>
                    <a:pt x="1216134" y="0"/>
                  </a:cubicBezTo>
                  <a:close/>
                </a:path>
              </a:pathLst>
            </a:custGeom>
            <a:blipFill>
              <a:blip r:embed="rId4">
                <a:alphaModFix amt="51000"/>
              </a:blip>
              <a:stretch>
                <a:fillRect l="-410040" t="0" r="-410040" b="0"/>
              </a:stretch>
            </a:blipFill>
          </p:spPr>
        </p:sp>
      </p:grpSp>
      <p:sp>
        <p:nvSpPr>
          <p:cNvPr name="TextBox 7" id="7"/>
          <p:cNvSpPr txBox="true"/>
          <p:nvPr/>
        </p:nvSpPr>
        <p:spPr>
          <a:xfrm rot="0">
            <a:off x="5145809" y="3180681"/>
            <a:ext cx="6241175" cy="476196"/>
          </a:xfrm>
          <a:prstGeom prst="rect">
            <a:avLst/>
          </a:prstGeom>
        </p:spPr>
        <p:txBody>
          <a:bodyPr anchor="t" rtlCol="false" tIns="0" lIns="0" bIns="0" rIns="0">
            <a:spAutoFit/>
          </a:bodyPr>
          <a:lstStyle/>
          <a:p>
            <a:pPr algn="l" marL="0" indent="0" lvl="0">
              <a:lnSpc>
                <a:spcPts val="3840"/>
              </a:lnSpc>
              <a:spcBef>
                <a:spcPct val="0"/>
              </a:spcBef>
            </a:pPr>
            <a:r>
              <a:rPr lang="en-US" b="true" sz="3200" spc="96" strike="noStrike" u="none">
                <a:solidFill>
                  <a:srgbClr val="17E3B2"/>
                </a:solidFill>
                <a:latin typeface="Muli Ultra-Bold"/>
                <a:ea typeface="Muli Ultra-Bold"/>
                <a:cs typeface="Muli Ultra-Bold"/>
                <a:sym typeface="Muli Ultra-Bold"/>
              </a:rPr>
              <a:t>Sự phát triển mạnh mẽ của AI</a:t>
            </a:r>
          </a:p>
        </p:txBody>
      </p:sp>
      <p:sp>
        <p:nvSpPr>
          <p:cNvPr name="TextBox 8" id="8"/>
          <p:cNvSpPr txBox="true"/>
          <p:nvPr/>
        </p:nvSpPr>
        <p:spPr>
          <a:xfrm rot="0">
            <a:off x="5145809" y="5446579"/>
            <a:ext cx="8331939" cy="476196"/>
          </a:xfrm>
          <a:prstGeom prst="rect">
            <a:avLst/>
          </a:prstGeom>
        </p:spPr>
        <p:txBody>
          <a:bodyPr anchor="t" rtlCol="false" tIns="0" lIns="0" bIns="0" rIns="0">
            <a:spAutoFit/>
          </a:bodyPr>
          <a:lstStyle/>
          <a:p>
            <a:pPr algn="l" marL="0" indent="0" lvl="0">
              <a:lnSpc>
                <a:spcPts val="3840"/>
              </a:lnSpc>
              <a:spcBef>
                <a:spcPct val="0"/>
              </a:spcBef>
            </a:pPr>
            <a:r>
              <a:rPr lang="en-US" b="true" sz="3200" spc="96" strike="noStrike" u="none">
                <a:solidFill>
                  <a:srgbClr val="17E3B2"/>
                </a:solidFill>
                <a:latin typeface="Muli Ultra-Bold"/>
                <a:ea typeface="Muli Ultra-Bold"/>
                <a:cs typeface="Muli Ultra-Bold"/>
                <a:sym typeface="Muli Ultra-Bold"/>
              </a:rPr>
              <a:t>Ứng dụng công nghệ theo xu hướng mới</a:t>
            </a:r>
          </a:p>
        </p:txBody>
      </p:sp>
      <p:sp>
        <p:nvSpPr>
          <p:cNvPr name="TextBox 9" id="9"/>
          <p:cNvSpPr txBox="true"/>
          <p:nvPr/>
        </p:nvSpPr>
        <p:spPr>
          <a:xfrm rot="0">
            <a:off x="5145809" y="7712477"/>
            <a:ext cx="7307055" cy="476196"/>
          </a:xfrm>
          <a:prstGeom prst="rect">
            <a:avLst/>
          </a:prstGeom>
        </p:spPr>
        <p:txBody>
          <a:bodyPr anchor="t" rtlCol="false" tIns="0" lIns="0" bIns="0" rIns="0">
            <a:spAutoFit/>
          </a:bodyPr>
          <a:lstStyle/>
          <a:p>
            <a:pPr algn="l" marL="0" indent="0" lvl="0">
              <a:lnSpc>
                <a:spcPts val="3840"/>
              </a:lnSpc>
              <a:spcBef>
                <a:spcPct val="0"/>
              </a:spcBef>
            </a:pPr>
            <a:r>
              <a:rPr lang="en-US" b="true" sz="3200" spc="96" strike="noStrike" u="none">
                <a:solidFill>
                  <a:srgbClr val="17E3B2"/>
                </a:solidFill>
                <a:latin typeface="Muli Ultra-Bold"/>
                <a:ea typeface="Muli Ultra-Bold"/>
                <a:cs typeface="Muli Ultra-Bold"/>
                <a:sym typeface="Muli Ultra-Bold"/>
              </a:rPr>
              <a:t>Sinh viên đang sử dụng AI sai cách</a:t>
            </a:r>
          </a:p>
        </p:txBody>
      </p:sp>
      <p:grpSp>
        <p:nvGrpSpPr>
          <p:cNvPr name="Group 10" id="10"/>
          <p:cNvGrpSpPr/>
          <p:nvPr/>
        </p:nvGrpSpPr>
        <p:grpSpPr>
          <a:xfrm rot="-5400000">
            <a:off x="5380242" y="2210770"/>
            <a:ext cx="921462" cy="2405689"/>
            <a:chOff x="0" y="0"/>
            <a:chExt cx="2432268" cy="6350000"/>
          </a:xfrm>
        </p:grpSpPr>
        <p:sp>
          <p:nvSpPr>
            <p:cNvPr name="Freeform 11" id="11"/>
            <p:cNvSpPr/>
            <p:nvPr/>
          </p:nvSpPr>
          <p:spPr>
            <a:xfrm flipH="false" flipV="true" rot="0">
              <a:off x="0" y="0"/>
              <a:ext cx="2432268" cy="6350000"/>
            </a:xfrm>
            <a:custGeom>
              <a:avLst/>
              <a:gdLst/>
              <a:ahLst/>
              <a:cxnLst/>
              <a:rect r="r" b="b" t="t" l="l"/>
              <a:pathLst>
                <a:path h="6350000" w="2432268">
                  <a:moveTo>
                    <a:pt x="1216134" y="0"/>
                  </a:moveTo>
                  <a:cubicBezTo>
                    <a:pt x="544828" y="0"/>
                    <a:pt x="0" y="995680"/>
                    <a:pt x="0" y="2222500"/>
                  </a:cubicBezTo>
                  <a:lnTo>
                    <a:pt x="0" y="4127500"/>
                  </a:lnTo>
                  <a:cubicBezTo>
                    <a:pt x="0" y="5354320"/>
                    <a:pt x="544828" y="6350000"/>
                    <a:pt x="1216134" y="6350000"/>
                  </a:cubicBezTo>
                  <a:cubicBezTo>
                    <a:pt x="1887440" y="6350000"/>
                    <a:pt x="2432268" y="5354320"/>
                    <a:pt x="2432268" y="4127500"/>
                  </a:cubicBezTo>
                  <a:lnTo>
                    <a:pt x="2432268" y="2222500"/>
                  </a:lnTo>
                  <a:cubicBezTo>
                    <a:pt x="2432268" y="995680"/>
                    <a:pt x="1887440" y="0"/>
                    <a:pt x="1216134" y="0"/>
                  </a:cubicBezTo>
                  <a:close/>
                </a:path>
              </a:pathLst>
            </a:custGeom>
            <a:blipFill>
              <a:blip r:embed="rId4">
                <a:alphaModFix amt="51000"/>
              </a:blip>
              <a:stretch>
                <a:fillRect l="-410040" t="0" r="-410040" b="0"/>
              </a:stretch>
            </a:blipFill>
          </p:spPr>
        </p:sp>
      </p:grpSp>
      <p:grpSp>
        <p:nvGrpSpPr>
          <p:cNvPr name="Group 12" id="12"/>
          <p:cNvGrpSpPr/>
          <p:nvPr/>
        </p:nvGrpSpPr>
        <p:grpSpPr>
          <a:xfrm rot="-5400000">
            <a:off x="5380242" y="4476266"/>
            <a:ext cx="921462" cy="2405689"/>
            <a:chOff x="0" y="0"/>
            <a:chExt cx="2432268" cy="6350000"/>
          </a:xfrm>
        </p:grpSpPr>
        <p:sp>
          <p:nvSpPr>
            <p:cNvPr name="Freeform 13" id="13"/>
            <p:cNvSpPr/>
            <p:nvPr/>
          </p:nvSpPr>
          <p:spPr>
            <a:xfrm flipH="false" flipV="true" rot="0">
              <a:off x="0" y="0"/>
              <a:ext cx="2432268" cy="6350000"/>
            </a:xfrm>
            <a:custGeom>
              <a:avLst/>
              <a:gdLst/>
              <a:ahLst/>
              <a:cxnLst/>
              <a:rect r="r" b="b" t="t" l="l"/>
              <a:pathLst>
                <a:path h="6350000" w="2432268">
                  <a:moveTo>
                    <a:pt x="1216134" y="0"/>
                  </a:moveTo>
                  <a:cubicBezTo>
                    <a:pt x="544828" y="0"/>
                    <a:pt x="0" y="995680"/>
                    <a:pt x="0" y="2222500"/>
                  </a:cubicBezTo>
                  <a:lnTo>
                    <a:pt x="0" y="4127500"/>
                  </a:lnTo>
                  <a:cubicBezTo>
                    <a:pt x="0" y="5354320"/>
                    <a:pt x="544828" y="6350000"/>
                    <a:pt x="1216134" y="6350000"/>
                  </a:cubicBezTo>
                  <a:cubicBezTo>
                    <a:pt x="1887440" y="6350000"/>
                    <a:pt x="2432268" y="5354320"/>
                    <a:pt x="2432268" y="4127500"/>
                  </a:cubicBezTo>
                  <a:lnTo>
                    <a:pt x="2432268" y="2222500"/>
                  </a:lnTo>
                  <a:cubicBezTo>
                    <a:pt x="2432268" y="995680"/>
                    <a:pt x="1887440" y="0"/>
                    <a:pt x="1216134" y="0"/>
                  </a:cubicBezTo>
                  <a:close/>
                </a:path>
              </a:pathLst>
            </a:custGeom>
            <a:blipFill>
              <a:blip r:embed="rId4">
                <a:alphaModFix amt="51000"/>
              </a:blip>
              <a:stretch>
                <a:fillRect l="-410040" t="0" r="-410040" b="0"/>
              </a:stretch>
            </a:blipFill>
          </p:spPr>
        </p:sp>
      </p:grpSp>
      <p:grpSp>
        <p:nvGrpSpPr>
          <p:cNvPr name="Group 14" id="14"/>
          <p:cNvGrpSpPr/>
          <p:nvPr/>
        </p:nvGrpSpPr>
        <p:grpSpPr>
          <a:xfrm rot="-5400000">
            <a:off x="5380242" y="6741763"/>
            <a:ext cx="921462" cy="2405689"/>
            <a:chOff x="0" y="0"/>
            <a:chExt cx="2432268" cy="6350000"/>
          </a:xfrm>
        </p:grpSpPr>
        <p:sp>
          <p:nvSpPr>
            <p:cNvPr name="Freeform 15" id="15"/>
            <p:cNvSpPr/>
            <p:nvPr/>
          </p:nvSpPr>
          <p:spPr>
            <a:xfrm flipH="false" flipV="true" rot="0">
              <a:off x="0" y="0"/>
              <a:ext cx="2432268" cy="6350000"/>
            </a:xfrm>
            <a:custGeom>
              <a:avLst/>
              <a:gdLst/>
              <a:ahLst/>
              <a:cxnLst/>
              <a:rect r="r" b="b" t="t" l="l"/>
              <a:pathLst>
                <a:path h="6350000" w="2432268">
                  <a:moveTo>
                    <a:pt x="1216134" y="0"/>
                  </a:moveTo>
                  <a:cubicBezTo>
                    <a:pt x="544828" y="0"/>
                    <a:pt x="0" y="995680"/>
                    <a:pt x="0" y="2222500"/>
                  </a:cubicBezTo>
                  <a:lnTo>
                    <a:pt x="0" y="4127500"/>
                  </a:lnTo>
                  <a:cubicBezTo>
                    <a:pt x="0" y="5354320"/>
                    <a:pt x="544828" y="6350000"/>
                    <a:pt x="1216134" y="6350000"/>
                  </a:cubicBezTo>
                  <a:cubicBezTo>
                    <a:pt x="1887440" y="6350000"/>
                    <a:pt x="2432268" y="5354320"/>
                    <a:pt x="2432268" y="4127500"/>
                  </a:cubicBezTo>
                  <a:lnTo>
                    <a:pt x="2432268" y="2222500"/>
                  </a:lnTo>
                  <a:cubicBezTo>
                    <a:pt x="2432268" y="995680"/>
                    <a:pt x="1887440" y="0"/>
                    <a:pt x="1216134" y="0"/>
                  </a:cubicBezTo>
                  <a:close/>
                </a:path>
              </a:pathLst>
            </a:custGeom>
            <a:blipFill>
              <a:blip r:embed="rId4">
                <a:alphaModFix amt="51000"/>
              </a:blip>
              <a:stretch>
                <a:fillRect l="-410040" t="0" r="-410040" b="0"/>
              </a:stretch>
            </a:blipFill>
          </p:spPr>
        </p:sp>
      </p:grpSp>
      <p:grpSp>
        <p:nvGrpSpPr>
          <p:cNvPr name="Group 16" id="16"/>
          <p:cNvGrpSpPr/>
          <p:nvPr/>
        </p:nvGrpSpPr>
        <p:grpSpPr>
          <a:xfrm rot="0">
            <a:off x="496426" y="2091037"/>
            <a:ext cx="3472577" cy="5611915"/>
            <a:chOff x="0" y="0"/>
            <a:chExt cx="4445000" cy="7183415"/>
          </a:xfrm>
        </p:grpSpPr>
        <p:sp>
          <p:nvSpPr>
            <p:cNvPr name="Freeform 17" id="17"/>
            <p:cNvSpPr/>
            <p:nvPr/>
          </p:nvSpPr>
          <p:spPr>
            <a:xfrm flipH="false" flipV="false" rot="0">
              <a:off x="0" y="0"/>
              <a:ext cx="4445000" cy="7183416"/>
            </a:xfrm>
            <a:custGeom>
              <a:avLst/>
              <a:gdLst/>
              <a:ahLst/>
              <a:cxnLst/>
              <a:rect r="r" b="b" t="t" l="l"/>
              <a:pathLst>
                <a:path h="7183416" w="4445000">
                  <a:moveTo>
                    <a:pt x="2222500" y="7183416"/>
                  </a:moveTo>
                  <a:cubicBezTo>
                    <a:pt x="995680" y="7183416"/>
                    <a:pt x="0" y="6057056"/>
                    <a:pt x="0" y="4669220"/>
                  </a:cubicBezTo>
                  <a:lnTo>
                    <a:pt x="0" y="2514195"/>
                  </a:lnTo>
                  <a:cubicBezTo>
                    <a:pt x="0" y="1126360"/>
                    <a:pt x="995680" y="0"/>
                    <a:pt x="2222500" y="0"/>
                  </a:cubicBezTo>
                  <a:cubicBezTo>
                    <a:pt x="3449320" y="0"/>
                    <a:pt x="4445000" y="1126360"/>
                    <a:pt x="4445000" y="2514195"/>
                  </a:cubicBezTo>
                  <a:lnTo>
                    <a:pt x="4445000" y="4669220"/>
                  </a:lnTo>
                  <a:cubicBezTo>
                    <a:pt x="4445000" y="6057056"/>
                    <a:pt x="3449320" y="7183416"/>
                    <a:pt x="2222500" y="7183416"/>
                  </a:cubicBezTo>
                  <a:close/>
                </a:path>
              </a:pathLst>
            </a:custGeom>
            <a:blipFill>
              <a:blip r:embed="rId5">
                <a:alphaModFix amt="28000"/>
              </a:blip>
              <a:stretch>
                <a:fillRect l="-31154" t="0" r="-31154" b="0"/>
              </a:stretch>
            </a:blipFill>
          </p:spPr>
        </p:sp>
      </p:grpSp>
      <p:sp>
        <p:nvSpPr>
          <p:cNvPr name="TextBox 18" id="18"/>
          <p:cNvSpPr txBox="true"/>
          <p:nvPr/>
        </p:nvSpPr>
        <p:spPr>
          <a:xfrm rot="0">
            <a:off x="496426" y="4533900"/>
            <a:ext cx="3674204" cy="1143000"/>
          </a:xfrm>
          <a:prstGeom prst="rect">
            <a:avLst/>
          </a:prstGeom>
        </p:spPr>
        <p:txBody>
          <a:bodyPr anchor="t" rtlCol="false" tIns="0" lIns="0" bIns="0" rIns="0">
            <a:spAutoFit/>
          </a:bodyPr>
          <a:lstStyle/>
          <a:p>
            <a:pPr algn="ctr">
              <a:lnSpc>
                <a:spcPts val="4560"/>
              </a:lnSpc>
            </a:pPr>
            <a:r>
              <a:rPr lang="en-US" b="true" sz="3800">
                <a:solidFill>
                  <a:srgbClr val="FF9A00"/>
                </a:solidFill>
                <a:latin typeface="Muli Bold"/>
                <a:ea typeface="Muli Bold"/>
                <a:cs typeface="Muli Bold"/>
                <a:sym typeface="Muli Bold"/>
              </a:rPr>
              <a:t>LÝ DO</a:t>
            </a:r>
            <a:r>
              <a:rPr lang="en-US" b="true" sz="3800">
                <a:solidFill>
                  <a:srgbClr val="FF9A00"/>
                </a:solidFill>
                <a:latin typeface="Muli Bold"/>
                <a:ea typeface="Muli Bold"/>
                <a:cs typeface="Muli Bold"/>
                <a:sym typeface="Muli Bold"/>
              </a:rPr>
              <a:t> CHỌN </a:t>
            </a:r>
          </a:p>
          <a:p>
            <a:pPr algn="ctr" marL="0" indent="0" lvl="0">
              <a:lnSpc>
                <a:spcPts val="4560"/>
              </a:lnSpc>
              <a:spcBef>
                <a:spcPct val="0"/>
              </a:spcBef>
            </a:pPr>
            <a:r>
              <a:rPr lang="en-US" b="true" sz="3800">
                <a:solidFill>
                  <a:srgbClr val="FF9A00"/>
                </a:solidFill>
                <a:latin typeface="Muli Bold"/>
                <a:ea typeface="Muli Bold"/>
                <a:cs typeface="Muli Bold"/>
                <a:sym typeface="Muli Bold"/>
              </a:rPr>
              <a:t>ĐỀ TÀI</a:t>
            </a:r>
          </a:p>
        </p:txBody>
      </p:sp>
      <p:sp>
        <p:nvSpPr>
          <p:cNvPr name="TextBox 19" id="19"/>
          <p:cNvSpPr txBox="true"/>
          <p:nvPr/>
        </p:nvSpPr>
        <p:spPr>
          <a:xfrm rot="0">
            <a:off x="5145809" y="914783"/>
            <a:ext cx="11420392" cy="476196"/>
          </a:xfrm>
          <a:prstGeom prst="rect">
            <a:avLst/>
          </a:prstGeom>
        </p:spPr>
        <p:txBody>
          <a:bodyPr anchor="t" rtlCol="false" tIns="0" lIns="0" bIns="0" rIns="0">
            <a:spAutoFit/>
          </a:bodyPr>
          <a:lstStyle/>
          <a:p>
            <a:pPr algn="l" marL="0" indent="0" lvl="0">
              <a:lnSpc>
                <a:spcPts val="3840"/>
              </a:lnSpc>
              <a:spcBef>
                <a:spcPct val="0"/>
              </a:spcBef>
            </a:pPr>
            <a:r>
              <a:rPr lang="en-US" b="true" sz="3200" spc="96">
                <a:solidFill>
                  <a:srgbClr val="17E3B2"/>
                </a:solidFill>
                <a:latin typeface="Muli Ultra-Bold"/>
                <a:ea typeface="Muli Ultra-Bold"/>
                <a:cs typeface="Muli Ultra-Bold"/>
                <a:sym typeface="Muli Ultra-Bold"/>
              </a:rPr>
              <a:t>Bối cảnh chuyển đổi số mạnh mẽ </a:t>
            </a:r>
          </a:p>
        </p:txBody>
      </p:sp>
      <p:sp>
        <p:nvSpPr>
          <p:cNvPr name="TextBox 20" id="20"/>
          <p:cNvSpPr txBox="true"/>
          <p:nvPr/>
        </p:nvSpPr>
        <p:spPr>
          <a:xfrm rot="0">
            <a:off x="6274636" y="1823177"/>
            <a:ext cx="8192176" cy="441271"/>
          </a:xfrm>
          <a:prstGeom prst="rect">
            <a:avLst/>
          </a:prstGeom>
        </p:spPr>
        <p:txBody>
          <a:bodyPr anchor="t" rtlCol="false" tIns="0" lIns="0" bIns="0" rIns="0">
            <a:spAutoFit/>
          </a:bodyPr>
          <a:lstStyle/>
          <a:p>
            <a:pPr algn="l">
              <a:lnSpc>
                <a:spcPts val="3500"/>
              </a:lnSpc>
              <a:spcBef>
                <a:spcPct val="0"/>
              </a:spcBef>
            </a:pPr>
            <a:r>
              <a:rPr lang="en-US" sz="2500">
                <a:solidFill>
                  <a:srgbClr val="FFFFFF"/>
                </a:solidFill>
                <a:latin typeface="DejaVu Serif"/>
                <a:ea typeface="DejaVu Serif"/>
                <a:cs typeface="DejaVu Serif"/>
                <a:sym typeface="DejaVu Serif"/>
              </a:rPr>
              <a:t>K</a:t>
            </a:r>
            <a:r>
              <a:rPr lang="en-US" sz="2500">
                <a:solidFill>
                  <a:srgbClr val="FFFFFF"/>
                </a:solidFill>
                <a:latin typeface="DejaVu Serif"/>
                <a:ea typeface="DejaVu Serif"/>
                <a:cs typeface="DejaVu Serif"/>
                <a:sym typeface="DejaVu Serif"/>
              </a:rPr>
              <a:t>huyến khích ứng dụng công nghệ vào dạy và học.</a:t>
            </a:r>
          </a:p>
        </p:txBody>
      </p:sp>
      <p:sp>
        <p:nvSpPr>
          <p:cNvPr name="TextBox 21" id="21"/>
          <p:cNvSpPr txBox="true"/>
          <p:nvPr/>
        </p:nvSpPr>
        <p:spPr>
          <a:xfrm rot="0">
            <a:off x="6273797" y="3854213"/>
            <a:ext cx="8944764" cy="879366"/>
          </a:xfrm>
          <a:prstGeom prst="rect">
            <a:avLst/>
          </a:prstGeom>
        </p:spPr>
        <p:txBody>
          <a:bodyPr anchor="t" rtlCol="false" tIns="0" lIns="0" bIns="0" rIns="0">
            <a:spAutoFit/>
          </a:bodyPr>
          <a:lstStyle/>
          <a:p>
            <a:pPr algn="l" marL="0" indent="0" lvl="0">
              <a:lnSpc>
                <a:spcPts val="3500"/>
              </a:lnSpc>
              <a:spcBef>
                <a:spcPct val="0"/>
              </a:spcBef>
            </a:pPr>
            <a:r>
              <a:rPr lang="en-US" sz="2500" strike="noStrike" u="none">
                <a:solidFill>
                  <a:srgbClr val="FFFFFF"/>
                </a:solidFill>
                <a:latin typeface="DejaVu Serif"/>
                <a:ea typeface="DejaVu Serif"/>
                <a:cs typeface="DejaVu Serif"/>
                <a:sym typeface="DejaVu Serif"/>
              </a:rPr>
              <a:t>Trí tuệ nhân tạo đang phát triển nhanh chóng và tạo ra nhiều cơ hội đổi mới trong lĩnh vực giáo dục.</a:t>
            </a:r>
          </a:p>
        </p:txBody>
      </p:sp>
      <p:sp>
        <p:nvSpPr>
          <p:cNvPr name="TextBox 22" id="22"/>
          <p:cNvSpPr txBox="true"/>
          <p:nvPr/>
        </p:nvSpPr>
        <p:spPr>
          <a:xfrm rot="0">
            <a:off x="6273797" y="6323399"/>
            <a:ext cx="8944764" cy="879366"/>
          </a:xfrm>
          <a:prstGeom prst="rect">
            <a:avLst/>
          </a:prstGeom>
        </p:spPr>
        <p:txBody>
          <a:bodyPr anchor="t" rtlCol="false" tIns="0" lIns="0" bIns="0" rIns="0">
            <a:spAutoFit/>
          </a:bodyPr>
          <a:lstStyle/>
          <a:p>
            <a:pPr algn="l" marL="0" indent="0" lvl="0">
              <a:lnSpc>
                <a:spcPts val="3500"/>
              </a:lnSpc>
              <a:spcBef>
                <a:spcPct val="0"/>
              </a:spcBef>
            </a:pPr>
            <a:r>
              <a:rPr lang="en-US" sz="2500" strike="noStrike" u="none">
                <a:solidFill>
                  <a:srgbClr val="FFFFFF"/>
                </a:solidFill>
                <a:latin typeface="DejaVu Serif"/>
                <a:ea typeface="DejaVu Serif"/>
                <a:cs typeface="DejaVu Serif"/>
                <a:sym typeface="DejaVu Serif"/>
              </a:rPr>
              <a:t>Việc tích hợp chatbot AI giúp tiếp cận các công nghệ tiên tiến đang được sử dụng rộng rãi trên thế giới.</a:t>
            </a:r>
          </a:p>
        </p:txBody>
      </p:sp>
      <p:sp>
        <p:nvSpPr>
          <p:cNvPr name="TextBox 23" id="23"/>
          <p:cNvSpPr txBox="true"/>
          <p:nvPr/>
        </p:nvSpPr>
        <p:spPr>
          <a:xfrm rot="0">
            <a:off x="6273797" y="8662988"/>
            <a:ext cx="8944764" cy="879366"/>
          </a:xfrm>
          <a:prstGeom prst="rect">
            <a:avLst/>
          </a:prstGeom>
        </p:spPr>
        <p:txBody>
          <a:bodyPr anchor="t" rtlCol="false" tIns="0" lIns="0" bIns="0" rIns="0">
            <a:spAutoFit/>
          </a:bodyPr>
          <a:lstStyle/>
          <a:p>
            <a:pPr algn="l">
              <a:lnSpc>
                <a:spcPts val="3500"/>
              </a:lnSpc>
              <a:spcBef>
                <a:spcPct val="0"/>
              </a:spcBef>
            </a:pPr>
            <a:r>
              <a:rPr lang="en-US" sz="2500">
                <a:solidFill>
                  <a:srgbClr val="FFFFFF"/>
                </a:solidFill>
                <a:latin typeface="DejaVu Serif"/>
                <a:ea typeface="DejaVu Serif"/>
                <a:cs typeface="DejaVu Serif"/>
                <a:sym typeface="DejaVu Serif"/>
              </a:rPr>
              <a:t>Sinh đang chưa biết cách sử dụng AI hiệu quả, làm hỏng kiến thức chuyên môn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621850" y="6952201"/>
            <a:ext cx="7480405" cy="7480405"/>
          </a:xfrm>
          <a:custGeom>
            <a:avLst/>
            <a:gdLst/>
            <a:ahLst/>
            <a:cxnLst/>
            <a:rect r="r" b="b" t="t" l="l"/>
            <a:pathLst>
              <a:path h="7480405" w="7480405">
                <a:moveTo>
                  <a:pt x="0" y="0"/>
                </a:moveTo>
                <a:lnTo>
                  <a:pt x="7480405" y="0"/>
                </a:lnTo>
                <a:lnTo>
                  <a:pt x="7480405" y="7480404"/>
                </a:lnTo>
                <a:lnTo>
                  <a:pt x="0" y="7480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TextBox 5" id="5"/>
          <p:cNvSpPr txBox="true"/>
          <p:nvPr/>
        </p:nvSpPr>
        <p:spPr>
          <a:xfrm rot="0">
            <a:off x="1028700" y="1330660"/>
            <a:ext cx="15662199" cy="942975"/>
          </a:xfrm>
          <a:prstGeom prst="rect">
            <a:avLst/>
          </a:prstGeom>
        </p:spPr>
        <p:txBody>
          <a:bodyPr anchor="t" rtlCol="false" tIns="0" lIns="0" bIns="0" rIns="0">
            <a:spAutoFit/>
          </a:bodyPr>
          <a:lstStyle/>
          <a:p>
            <a:pPr algn="just">
              <a:lnSpc>
                <a:spcPts val="3750"/>
              </a:lnSpc>
            </a:pPr>
            <a:r>
              <a:rPr lang="en-US" sz="2500">
                <a:solidFill>
                  <a:srgbClr val="FFFFFF"/>
                </a:solidFill>
                <a:latin typeface="DejaVu Serif"/>
                <a:ea typeface="DejaVu Serif"/>
                <a:cs typeface="DejaVu Serif"/>
                <a:sym typeface="DejaVu Serif"/>
              </a:rPr>
              <a:t>     Xây dựng hệ thống tích hợp chatbot AI tương tác với hệ thống quản lý học tập Moodle để hỗ trợ lập trình cho sinh viên ngành Công Nghệ Thông Tin  </a:t>
            </a:r>
          </a:p>
        </p:txBody>
      </p:sp>
      <p:sp>
        <p:nvSpPr>
          <p:cNvPr name="TextBox 6" id="6"/>
          <p:cNvSpPr txBox="true"/>
          <p:nvPr/>
        </p:nvSpPr>
        <p:spPr>
          <a:xfrm rot="0">
            <a:off x="371910" y="361950"/>
            <a:ext cx="7377535" cy="619179"/>
          </a:xfrm>
          <a:prstGeom prst="rect">
            <a:avLst/>
          </a:prstGeom>
        </p:spPr>
        <p:txBody>
          <a:bodyPr anchor="t" rtlCol="false" tIns="0" lIns="0" bIns="0" rIns="0">
            <a:spAutoFit/>
          </a:bodyPr>
          <a:lstStyle/>
          <a:p>
            <a:pPr algn="l" marL="0" indent="0" lvl="0">
              <a:lnSpc>
                <a:spcPts val="4800"/>
              </a:lnSpc>
              <a:spcBef>
                <a:spcPct val="0"/>
              </a:spcBef>
            </a:pPr>
            <a:r>
              <a:rPr lang="en-US" b="true" sz="4000" strike="noStrike" u="none">
                <a:solidFill>
                  <a:srgbClr val="FF9A00"/>
                </a:solidFill>
                <a:latin typeface="Muli Bold"/>
                <a:ea typeface="Muli Bold"/>
                <a:cs typeface="Muli Bold"/>
                <a:sym typeface="Muli Bold"/>
              </a:rPr>
              <a:t>GIỚI THIỆU ĐỀ TÀI</a:t>
            </a:r>
          </a:p>
        </p:txBody>
      </p:sp>
      <p:sp>
        <p:nvSpPr>
          <p:cNvPr name="TextBox 7" id="7"/>
          <p:cNvSpPr txBox="true"/>
          <p:nvPr/>
        </p:nvSpPr>
        <p:spPr>
          <a:xfrm rot="0">
            <a:off x="1028700" y="2695791"/>
            <a:ext cx="1769380" cy="476196"/>
          </a:xfrm>
          <a:prstGeom prst="rect">
            <a:avLst/>
          </a:prstGeom>
        </p:spPr>
        <p:txBody>
          <a:bodyPr anchor="t" rtlCol="false" tIns="0" lIns="0" bIns="0" rIns="0">
            <a:spAutoFit/>
          </a:bodyPr>
          <a:lstStyle/>
          <a:p>
            <a:pPr algn="l" marL="0" indent="0" lvl="0">
              <a:lnSpc>
                <a:spcPts val="3840"/>
              </a:lnSpc>
              <a:spcBef>
                <a:spcPct val="0"/>
              </a:spcBef>
            </a:pPr>
            <a:r>
              <a:rPr lang="en-US" b="true" sz="3200" spc="96">
                <a:solidFill>
                  <a:srgbClr val="17E3B2"/>
                </a:solidFill>
                <a:latin typeface="Muli Bold"/>
                <a:ea typeface="Muli Bold"/>
                <a:cs typeface="Muli Bold"/>
                <a:sym typeface="Muli Bold"/>
              </a:rPr>
              <a:t>Mô tả</a:t>
            </a:r>
          </a:p>
        </p:txBody>
      </p:sp>
      <p:sp>
        <p:nvSpPr>
          <p:cNvPr name="TextBox 8" id="8"/>
          <p:cNvSpPr txBox="true"/>
          <p:nvPr/>
        </p:nvSpPr>
        <p:spPr>
          <a:xfrm rot="0">
            <a:off x="1195542" y="4379910"/>
            <a:ext cx="6618806" cy="1523999"/>
          </a:xfrm>
          <a:prstGeom prst="rect">
            <a:avLst/>
          </a:prstGeom>
        </p:spPr>
        <p:txBody>
          <a:bodyPr anchor="t" rtlCol="false" tIns="0" lIns="0" bIns="0" rIns="0">
            <a:spAutoFit/>
          </a:bodyPr>
          <a:lstStyle/>
          <a:p>
            <a:pPr algn="just">
              <a:lnSpc>
                <a:spcPts val="3000"/>
              </a:lnSpc>
            </a:pPr>
            <a:r>
              <a:rPr lang="en-US" sz="2000">
                <a:solidFill>
                  <a:srgbClr val="FFFFFF"/>
                </a:solidFill>
                <a:latin typeface="DejaVu Serif"/>
                <a:ea typeface="DejaVu Serif"/>
                <a:cs typeface="DejaVu Serif"/>
                <a:sym typeface="DejaVu Serif"/>
              </a:rPr>
              <a:t>     Tích hợp AI thông qua AI API Key, để hệ thống kết nối đến dịch vụ mô hình ngôn ngữ lớn để xử lý và phân tích dữ liệu đầu vào, từ đó sinh phản hồi thông minh phù hợp với các chức năng hệ thống.</a:t>
            </a:r>
          </a:p>
        </p:txBody>
      </p:sp>
      <p:sp>
        <p:nvSpPr>
          <p:cNvPr name="TextBox 9" id="9"/>
          <p:cNvSpPr txBox="true"/>
          <p:nvPr/>
        </p:nvSpPr>
        <p:spPr>
          <a:xfrm rot="0">
            <a:off x="1195542" y="3184947"/>
            <a:ext cx="6618806" cy="1142999"/>
          </a:xfrm>
          <a:prstGeom prst="rect">
            <a:avLst/>
          </a:prstGeom>
        </p:spPr>
        <p:txBody>
          <a:bodyPr anchor="t" rtlCol="false" tIns="0" lIns="0" bIns="0" rIns="0">
            <a:spAutoFit/>
          </a:bodyPr>
          <a:lstStyle/>
          <a:p>
            <a:pPr algn="just">
              <a:lnSpc>
                <a:spcPts val="3000"/>
              </a:lnSpc>
            </a:pPr>
            <a:r>
              <a:rPr lang="en-US" sz="2000">
                <a:solidFill>
                  <a:srgbClr val="FFFFFF"/>
                </a:solidFill>
                <a:latin typeface="DejaVu Serif"/>
                <a:ea typeface="DejaVu Serif"/>
                <a:cs typeface="DejaVu Serif"/>
                <a:sym typeface="DejaVu Serif"/>
              </a:rPr>
              <a:t>     Sử dụng Web Service API của Moodle để thu thập thông tin dữ liệu như: thông tin bài tập, bài làm sinh viên nộp.</a:t>
            </a:r>
          </a:p>
        </p:txBody>
      </p:sp>
      <p:sp>
        <p:nvSpPr>
          <p:cNvPr name="TextBox 10" id="10"/>
          <p:cNvSpPr txBox="true"/>
          <p:nvPr/>
        </p:nvSpPr>
        <p:spPr>
          <a:xfrm rot="0">
            <a:off x="1195542" y="5951534"/>
            <a:ext cx="6618806" cy="1904999"/>
          </a:xfrm>
          <a:prstGeom prst="rect">
            <a:avLst/>
          </a:prstGeom>
        </p:spPr>
        <p:txBody>
          <a:bodyPr anchor="t" rtlCol="false" tIns="0" lIns="0" bIns="0" rIns="0">
            <a:spAutoFit/>
          </a:bodyPr>
          <a:lstStyle/>
          <a:p>
            <a:pPr algn="just">
              <a:lnSpc>
                <a:spcPts val="3000"/>
              </a:lnSpc>
            </a:pPr>
            <a:r>
              <a:rPr lang="en-US" sz="2000">
                <a:solidFill>
                  <a:srgbClr val="FFFFFF"/>
                </a:solidFill>
                <a:latin typeface="DejaVu Serif"/>
                <a:ea typeface="DejaVu Serif"/>
                <a:cs typeface="DejaVu Serif"/>
                <a:sym typeface="DejaVu Serif"/>
              </a:rPr>
              <a:t>     Xây dựng prompt để truyền các dữ liệu đầu vào hợp lý cho các System Prompt được thiết kế cho các chức năng hệ thống, nhằm đảm bảo đủ dữ liệu cần thiết để làm cơ sở cho AI trả về phản hồi phù hợp. </a:t>
            </a:r>
          </a:p>
        </p:txBody>
      </p:sp>
      <p:sp>
        <p:nvSpPr>
          <p:cNvPr name="TextBox 11" id="11"/>
          <p:cNvSpPr txBox="true"/>
          <p:nvPr/>
        </p:nvSpPr>
        <p:spPr>
          <a:xfrm rot="0">
            <a:off x="9381019" y="2695791"/>
            <a:ext cx="3108166" cy="476196"/>
          </a:xfrm>
          <a:prstGeom prst="rect">
            <a:avLst/>
          </a:prstGeom>
        </p:spPr>
        <p:txBody>
          <a:bodyPr anchor="t" rtlCol="false" tIns="0" lIns="0" bIns="0" rIns="0">
            <a:spAutoFit/>
          </a:bodyPr>
          <a:lstStyle/>
          <a:p>
            <a:pPr algn="l" marL="0" indent="0" lvl="0">
              <a:lnSpc>
                <a:spcPts val="3840"/>
              </a:lnSpc>
              <a:spcBef>
                <a:spcPct val="0"/>
              </a:spcBef>
            </a:pPr>
            <a:r>
              <a:rPr lang="en-US" b="true" sz="3200" spc="96" strike="noStrike" u="none">
                <a:solidFill>
                  <a:srgbClr val="17E3B2"/>
                </a:solidFill>
                <a:latin typeface="Muli Bold"/>
                <a:ea typeface="Muli Bold"/>
                <a:cs typeface="Muli Bold"/>
                <a:sym typeface="Muli Bold"/>
              </a:rPr>
              <a:t>Mục tiêu</a:t>
            </a:r>
          </a:p>
        </p:txBody>
      </p:sp>
      <p:sp>
        <p:nvSpPr>
          <p:cNvPr name="TextBox 12" id="12"/>
          <p:cNvSpPr txBox="true"/>
          <p:nvPr/>
        </p:nvSpPr>
        <p:spPr>
          <a:xfrm rot="0">
            <a:off x="9381019" y="3184947"/>
            <a:ext cx="6618806" cy="1142999"/>
          </a:xfrm>
          <a:prstGeom prst="rect">
            <a:avLst/>
          </a:prstGeom>
        </p:spPr>
        <p:txBody>
          <a:bodyPr anchor="t" rtlCol="false" tIns="0" lIns="0" bIns="0" rIns="0">
            <a:spAutoFit/>
          </a:bodyPr>
          <a:lstStyle/>
          <a:p>
            <a:pPr algn="just">
              <a:lnSpc>
                <a:spcPts val="3000"/>
              </a:lnSpc>
            </a:pPr>
            <a:r>
              <a:rPr lang="en-US" sz="2000">
                <a:solidFill>
                  <a:srgbClr val="FFFFFF"/>
                </a:solidFill>
                <a:latin typeface="DejaVu Serif"/>
                <a:ea typeface="DejaVu Serif"/>
                <a:cs typeface="DejaVu Serif"/>
                <a:sym typeface="DejaVu Serif"/>
              </a:rPr>
              <a:t>     Từ nội dung đề bài bài tập, AI sinh nội dung định hướng cách giải quyết bài toán dựa trên yêu cầu đề bài.</a:t>
            </a:r>
          </a:p>
        </p:txBody>
      </p:sp>
      <p:sp>
        <p:nvSpPr>
          <p:cNvPr name="TextBox 13" id="13"/>
          <p:cNvSpPr txBox="true"/>
          <p:nvPr/>
        </p:nvSpPr>
        <p:spPr>
          <a:xfrm rot="0">
            <a:off x="9381019" y="4415298"/>
            <a:ext cx="6618806" cy="1142999"/>
          </a:xfrm>
          <a:prstGeom prst="rect">
            <a:avLst/>
          </a:prstGeom>
        </p:spPr>
        <p:txBody>
          <a:bodyPr anchor="t" rtlCol="false" tIns="0" lIns="0" bIns="0" rIns="0">
            <a:spAutoFit/>
          </a:bodyPr>
          <a:lstStyle/>
          <a:p>
            <a:pPr algn="just">
              <a:lnSpc>
                <a:spcPts val="3000"/>
              </a:lnSpc>
            </a:pPr>
            <a:r>
              <a:rPr lang="en-US" sz="2000">
                <a:solidFill>
                  <a:srgbClr val="FFFFFF"/>
                </a:solidFill>
                <a:latin typeface="DejaVu Serif"/>
                <a:ea typeface="DejaVu Serif"/>
                <a:cs typeface="DejaVu Serif"/>
                <a:sym typeface="DejaVu Serif"/>
              </a:rPr>
              <a:t>     Trao đổi với sinh viên, trả lời các câu hỏi hoặc yêu cầu liên quan đến bài tập, duy trì được ngữ cảnh hội thoại với sinh viên.</a:t>
            </a:r>
          </a:p>
        </p:txBody>
      </p:sp>
      <p:sp>
        <p:nvSpPr>
          <p:cNvPr name="TextBox 14" id="14"/>
          <p:cNvSpPr txBox="true"/>
          <p:nvPr/>
        </p:nvSpPr>
        <p:spPr>
          <a:xfrm rot="0">
            <a:off x="9381019" y="5645649"/>
            <a:ext cx="6618806" cy="1142999"/>
          </a:xfrm>
          <a:prstGeom prst="rect">
            <a:avLst/>
          </a:prstGeom>
        </p:spPr>
        <p:txBody>
          <a:bodyPr anchor="t" rtlCol="false" tIns="0" lIns="0" bIns="0" rIns="0">
            <a:spAutoFit/>
          </a:bodyPr>
          <a:lstStyle/>
          <a:p>
            <a:pPr algn="just">
              <a:lnSpc>
                <a:spcPts val="3000"/>
              </a:lnSpc>
            </a:pPr>
            <a:r>
              <a:rPr lang="en-US" sz="2000">
                <a:solidFill>
                  <a:srgbClr val="FFFFFF"/>
                </a:solidFill>
                <a:latin typeface="DejaVu Serif"/>
                <a:ea typeface="DejaVu Serif"/>
                <a:cs typeface="DejaVu Serif"/>
                <a:sym typeface="DejaVu Serif"/>
              </a:rPr>
              <a:t>     Thu thập mã nguồn bài làm của sinh viên kèm theo yêu cầu, tiêu chí của bài tập để phân tích và đưa ra các nhận xét. </a:t>
            </a:r>
          </a:p>
        </p:txBody>
      </p:sp>
      <p:sp>
        <p:nvSpPr>
          <p:cNvPr name="TextBox 15" id="15"/>
          <p:cNvSpPr txBox="true"/>
          <p:nvPr/>
        </p:nvSpPr>
        <p:spPr>
          <a:xfrm rot="0">
            <a:off x="9381019" y="6876001"/>
            <a:ext cx="6618806" cy="1142999"/>
          </a:xfrm>
          <a:prstGeom prst="rect">
            <a:avLst/>
          </a:prstGeom>
        </p:spPr>
        <p:txBody>
          <a:bodyPr anchor="t" rtlCol="false" tIns="0" lIns="0" bIns="0" rIns="0">
            <a:spAutoFit/>
          </a:bodyPr>
          <a:lstStyle/>
          <a:p>
            <a:pPr algn="just">
              <a:lnSpc>
                <a:spcPts val="3000"/>
              </a:lnSpc>
            </a:pPr>
            <a:r>
              <a:rPr lang="en-US" sz="2000">
                <a:solidFill>
                  <a:srgbClr val="FFFFFF"/>
                </a:solidFill>
                <a:latin typeface="DejaVu Serif"/>
                <a:ea typeface="DejaVu Serif"/>
                <a:cs typeface="DejaVu Serif"/>
                <a:sym typeface="DejaVu Serif"/>
              </a:rPr>
              <a:t>     Xác định mức độ hoàn thành của bài làm dựa trên yêu cầu và tiêu chí chấm điểm, hỗ trợ sinh viên chỉnh sửa bổ sung và cải thiện chất lượng bài.</a:t>
            </a:r>
          </a:p>
        </p:txBody>
      </p:sp>
      <p:sp>
        <p:nvSpPr>
          <p:cNvPr name="TextBox 16" id="16"/>
          <p:cNvSpPr txBox="true"/>
          <p:nvPr/>
        </p:nvSpPr>
        <p:spPr>
          <a:xfrm rot="0">
            <a:off x="9381019" y="8106352"/>
            <a:ext cx="6618806" cy="1523999"/>
          </a:xfrm>
          <a:prstGeom prst="rect">
            <a:avLst/>
          </a:prstGeom>
        </p:spPr>
        <p:txBody>
          <a:bodyPr anchor="t" rtlCol="false" tIns="0" lIns="0" bIns="0" rIns="0">
            <a:spAutoFit/>
          </a:bodyPr>
          <a:lstStyle/>
          <a:p>
            <a:pPr algn="just">
              <a:lnSpc>
                <a:spcPts val="3000"/>
              </a:lnSpc>
            </a:pPr>
            <a:r>
              <a:rPr lang="en-US" sz="2000">
                <a:solidFill>
                  <a:srgbClr val="FFFFFF"/>
                </a:solidFill>
                <a:latin typeface="DejaVu Serif"/>
                <a:ea typeface="DejaVu Serif"/>
                <a:cs typeface="DejaVu Serif"/>
                <a:sym typeface="DejaVu Serif"/>
              </a:rPr>
              <a:t>     Không trả về lời giải và mã nguồn hoàn chỉnh trong phản hồi, nhằm khuyến khích sinh viên dựa vào gợi ý hướng dẫn và nhận xét để tự hoàn thành bài tập. </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960149" y="7866726"/>
            <a:ext cx="7480405" cy="7480405"/>
          </a:xfrm>
          <a:custGeom>
            <a:avLst/>
            <a:gdLst/>
            <a:ahLst/>
            <a:cxnLst/>
            <a:rect r="r" b="b" t="t" l="l"/>
            <a:pathLst>
              <a:path h="7480405" w="7480405">
                <a:moveTo>
                  <a:pt x="0" y="0"/>
                </a:moveTo>
                <a:lnTo>
                  <a:pt x="7480405" y="0"/>
                </a:lnTo>
                <a:lnTo>
                  <a:pt x="7480405" y="7480404"/>
                </a:lnTo>
                <a:lnTo>
                  <a:pt x="0" y="7480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8375679" y="1438275"/>
            <a:ext cx="649653" cy="491577"/>
          </a:xfrm>
          <a:custGeom>
            <a:avLst/>
            <a:gdLst/>
            <a:ahLst/>
            <a:cxnLst/>
            <a:rect r="r" b="b" t="t" l="l"/>
            <a:pathLst>
              <a:path h="491577" w="649653">
                <a:moveTo>
                  <a:pt x="0" y="0"/>
                </a:moveTo>
                <a:lnTo>
                  <a:pt x="649652" y="0"/>
                </a:lnTo>
                <a:lnTo>
                  <a:pt x="649652" y="491577"/>
                </a:lnTo>
                <a:lnTo>
                  <a:pt x="0" y="491577"/>
                </a:lnTo>
                <a:lnTo>
                  <a:pt x="0" y="0"/>
                </a:lnTo>
                <a:close/>
              </a:path>
            </a:pathLst>
          </a:custGeom>
          <a:blipFill>
            <a:blip r:embed="rId5"/>
            <a:stretch>
              <a:fillRect l="-23833" t="-21965" r="-18149" b="0"/>
            </a:stretch>
          </a:blipFill>
        </p:spPr>
      </p:sp>
      <p:sp>
        <p:nvSpPr>
          <p:cNvPr name="Freeform 6" id="6"/>
          <p:cNvSpPr/>
          <p:nvPr/>
        </p:nvSpPr>
        <p:spPr>
          <a:xfrm flipH="false" flipV="false" rot="0">
            <a:off x="7406717" y="1438275"/>
            <a:ext cx="491884" cy="491577"/>
          </a:xfrm>
          <a:custGeom>
            <a:avLst/>
            <a:gdLst/>
            <a:ahLst/>
            <a:cxnLst/>
            <a:rect r="r" b="b" t="t" l="l"/>
            <a:pathLst>
              <a:path h="491577" w="491884">
                <a:moveTo>
                  <a:pt x="0" y="0"/>
                </a:moveTo>
                <a:lnTo>
                  <a:pt x="491885" y="0"/>
                </a:lnTo>
                <a:lnTo>
                  <a:pt x="491885" y="491577"/>
                </a:lnTo>
                <a:lnTo>
                  <a:pt x="0" y="491577"/>
                </a:lnTo>
                <a:lnTo>
                  <a:pt x="0" y="0"/>
                </a:lnTo>
                <a:close/>
              </a:path>
            </a:pathLst>
          </a:custGeom>
          <a:blipFill>
            <a:blip r:embed="rId6"/>
            <a:stretch>
              <a:fillRect l="0" t="0" r="0" b="0"/>
            </a:stretch>
          </a:blipFill>
        </p:spPr>
      </p:sp>
      <p:sp>
        <p:nvSpPr>
          <p:cNvPr name="Freeform 7" id="7"/>
          <p:cNvSpPr/>
          <p:nvPr/>
        </p:nvSpPr>
        <p:spPr>
          <a:xfrm flipH="false" flipV="false" rot="0">
            <a:off x="7805974" y="4433888"/>
            <a:ext cx="551946" cy="491577"/>
          </a:xfrm>
          <a:custGeom>
            <a:avLst/>
            <a:gdLst/>
            <a:ahLst/>
            <a:cxnLst/>
            <a:rect r="r" b="b" t="t" l="l"/>
            <a:pathLst>
              <a:path h="491577" w="551946">
                <a:moveTo>
                  <a:pt x="0" y="0"/>
                </a:moveTo>
                <a:lnTo>
                  <a:pt x="551946" y="0"/>
                </a:lnTo>
                <a:lnTo>
                  <a:pt x="551946" y="491577"/>
                </a:lnTo>
                <a:lnTo>
                  <a:pt x="0" y="491577"/>
                </a:lnTo>
                <a:lnTo>
                  <a:pt x="0" y="0"/>
                </a:lnTo>
                <a:close/>
              </a:path>
            </a:pathLst>
          </a:custGeom>
          <a:blipFill>
            <a:blip r:embed="rId7"/>
            <a:stretch>
              <a:fillRect l="0" t="0" r="0" b="0"/>
            </a:stretch>
          </a:blipFill>
        </p:spPr>
      </p:sp>
      <p:sp>
        <p:nvSpPr>
          <p:cNvPr name="Freeform 8" id="8"/>
          <p:cNvSpPr/>
          <p:nvPr/>
        </p:nvSpPr>
        <p:spPr>
          <a:xfrm flipH="false" flipV="false" rot="0">
            <a:off x="8790787" y="4433888"/>
            <a:ext cx="803942" cy="491577"/>
          </a:xfrm>
          <a:custGeom>
            <a:avLst/>
            <a:gdLst/>
            <a:ahLst/>
            <a:cxnLst/>
            <a:rect r="r" b="b" t="t" l="l"/>
            <a:pathLst>
              <a:path h="491577" w="803942">
                <a:moveTo>
                  <a:pt x="0" y="0"/>
                </a:moveTo>
                <a:lnTo>
                  <a:pt x="803942" y="0"/>
                </a:lnTo>
                <a:lnTo>
                  <a:pt x="803942" y="491577"/>
                </a:lnTo>
                <a:lnTo>
                  <a:pt x="0" y="491577"/>
                </a:lnTo>
                <a:lnTo>
                  <a:pt x="0" y="0"/>
                </a:lnTo>
                <a:close/>
              </a:path>
            </a:pathLst>
          </a:custGeom>
          <a:blipFill>
            <a:blip r:embed="rId8"/>
            <a:stretch>
              <a:fillRect l="0" t="0" r="0" b="0"/>
            </a:stretch>
          </a:blipFill>
        </p:spPr>
      </p:sp>
      <p:sp>
        <p:nvSpPr>
          <p:cNvPr name="Freeform 9" id="9"/>
          <p:cNvSpPr/>
          <p:nvPr/>
        </p:nvSpPr>
        <p:spPr>
          <a:xfrm flipH="false" flipV="false" rot="0">
            <a:off x="3546141" y="7045535"/>
            <a:ext cx="465543" cy="491577"/>
          </a:xfrm>
          <a:custGeom>
            <a:avLst/>
            <a:gdLst/>
            <a:ahLst/>
            <a:cxnLst/>
            <a:rect r="r" b="b" t="t" l="l"/>
            <a:pathLst>
              <a:path h="491577" w="465543">
                <a:moveTo>
                  <a:pt x="0" y="0"/>
                </a:moveTo>
                <a:lnTo>
                  <a:pt x="465543" y="0"/>
                </a:lnTo>
                <a:lnTo>
                  <a:pt x="465543" y="491576"/>
                </a:lnTo>
                <a:lnTo>
                  <a:pt x="0" y="491576"/>
                </a:lnTo>
                <a:lnTo>
                  <a:pt x="0" y="0"/>
                </a:lnTo>
                <a:close/>
              </a:path>
            </a:pathLst>
          </a:custGeom>
          <a:blipFill>
            <a:blip r:embed="rId9"/>
            <a:stretch>
              <a:fillRect l="-21045" t="0" r="-20875" b="-34405"/>
            </a:stretch>
          </a:blipFill>
        </p:spPr>
      </p:sp>
      <p:sp>
        <p:nvSpPr>
          <p:cNvPr name="Freeform 10" id="10"/>
          <p:cNvSpPr/>
          <p:nvPr/>
        </p:nvSpPr>
        <p:spPr>
          <a:xfrm flipH="false" flipV="false" rot="0">
            <a:off x="4559926" y="7045535"/>
            <a:ext cx="476334" cy="491577"/>
          </a:xfrm>
          <a:custGeom>
            <a:avLst/>
            <a:gdLst/>
            <a:ahLst/>
            <a:cxnLst/>
            <a:rect r="r" b="b" t="t" l="l"/>
            <a:pathLst>
              <a:path h="491577" w="476334">
                <a:moveTo>
                  <a:pt x="0" y="0"/>
                </a:moveTo>
                <a:lnTo>
                  <a:pt x="476334" y="0"/>
                </a:lnTo>
                <a:lnTo>
                  <a:pt x="476334" y="491576"/>
                </a:lnTo>
                <a:lnTo>
                  <a:pt x="0" y="491576"/>
                </a:lnTo>
                <a:lnTo>
                  <a:pt x="0" y="0"/>
                </a:lnTo>
                <a:close/>
              </a:path>
            </a:pathLst>
          </a:custGeom>
          <a:blipFill>
            <a:blip r:embed="rId10"/>
            <a:stretch>
              <a:fillRect l="0" t="0" r="0" b="0"/>
            </a:stretch>
          </a:blipFill>
        </p:spPr>
      </p:sp>
      <p:sp>
        <p:nvSpPr>
          <p:cNvPr name="Freeform 11" id="11"/>
          <p:cNvSpPr/>
          <p:nvPr/>
        </p:nvSpPr>
        <p:spPr>
          <a:xfrm flipH="false" flipV="false" rot="0">
            <a:off x="9502408" y="1438275"/>
            <a:ext cx="491577" cy="491577"/>
          </a:xfrm>
          <a:custGeom>
            <a:avLst/>
            <a:gdLst/>
            <a:ahLst/>
            <a:cxnLst/>
            <a:rect r="r" b="b" t="t" l="l"/>
            <a:pathLst>
              <a:path h="491577" w="491577">
                <a:moveTo>
                  <a:pt x="0" y="0"/>
                </a:moveTo>
                <a:lnTo>
                  <a:pt x="491577" y="0"/>
                </a:lnTo>
                <a:lnTo>
                  <a:pt x="491577" y="491577"/>
                </a:lnTo>
                <a:lnTo>
                  <a:pt x="0" y="491577"/>
                </a:lnTo>
                <a:lnTo>
                  <a:pt x="0" y="0"/>
                </a:lnTo>
                <a:close/>
              </a:path>
            </a:pathLst>
          </a:custGeom>
          <a:blipFill>
            <a:blip r:embed="rId11"/>
            <a:stretch>
              <a:fillRect l="0" t="0" r="0" b="0"/>
            </a:stretch>
          </a:blipFill>
        </p:spPr>
      </p:sp>
      <p:sp>
        <p:nvSpPr>
          <p:cNvPr name="TextBox 12" id="12"/>
          <p:cNvSpPr txBox="true"/>
          <p:nvPr/>
        </p:nvSpPr>
        <p:spPr>
          <a:xfrm rot="0">
            <a:off x="371910" y="361950"/>
            <a:ext cx="6633219" cy="619179"/>
          </a:xfrm>
          <a:prstGeom prst="rect">
            <a:avLst/>
          </a:prstGeom>
        </p:spPr>
        <p:txBody>
          <a:bodyPr anchor="t" rtlCol="false" tIns="0" lIns="0" bIns="0" rIns="0">
            <a:spAutoFit/>
          </a:bodyPr>
          <a:lstStyle/>
          <a:p>
            <a:pPr algn="l" marL="0" indent="0" lvl="0">
              <a:lnSpc>
                <a:spcPts val="4800"/>
              </a:lnSpc>
              <a:spcBef>
                <a:spcPct val="0"/>
              </a:spcBef>
            </a:pPr>
            <a:r>
              <a:rPr lang="en-US" b="true" sz="4000">
                <a:solidFill>
                  <a:srgbClr val="FF9A00"/>
                </a:solidFill>
                <a:latin typeface="Muli Bold"/>
                <a:ea typeface="Muli Bold"/>
                <a:cs typeface="Muli Bold"/>
                <a:sym typeface="Muli Bold"/>
              </a:rPr>
              <a:t>CÔNG</a:t>
            </a:r>
            <a:r>
              <a:rPr lang="en-US" b="true" sz="4000" strike="noStrike" u="none">
                <a:solidFill>
                  <a:srgbClr val="FF9A00"/>
                </a:solidFill>
                <a:latin typeface="Muli Bold"/>
                <a:ea typeface="Muli Bold"/>
                <a:cs typeface="Muli Bold"/>
                <a:sym typeface="Muli Bold"/>
              </a:rPr>
              <a:t> </a:t>
            </a:r>
            <a:r>
              <a:rPr lang="en-US" b="true" sz="4000" strike="noStrike" u="none">
                <a:solidFill>
                  <a:srgbClr val="FF9A00"/>
                </a:solidFill>
                <a:latin typeface="Muli Bold"/>
                <a:ea typeface="Muli Bold"/>
                <a:cs typeface="Muli Bold"/>
                <a:sym typeface="Muli Bold"/>
              </a:rPr>
              <a:t>NG</a:t>
            </a:r>
            <a:r>
              <a:rPr lang="en-US" b="true" sz="4000" strike="noStrike" u="none">
                <a:solidFill>
                  <a:srgbClr val="FF9A00"/>
                </a:solidFill>
                <a:latin typeface="Muli Bold"/>
                <a:ea typeface="Muli Bold"/>
                <a:cs typeface="Muli Bold"/>
                <a:sym typeface="Muli Bold"/>
              </a:rPr>
              <a:t>HỆ </a:t>
            </a:r>
            <a:r>
              <a:rPr lang="en-US" b="true" sz="4000" strike="noStrike" u="none">
                <a:solidFill>
                  <a:srgbClr val="FF9A00"/>
                </a:solidFill>
                <a:latin typeface="Muli Bold"/>
                <a:ea typeface="Muli Bold"/>
                <a:cs typeface="Muli Bold"/>
                <a:sym typeface="Muli Bold"/>
              </a:rPr>
              <a:t>SỬ</a:t>
            </a:r>
            <a:r>
              <a:rPr lang="en-US" b="true" sz="4000" strike="noStrike" u="none">
                <a:solidFill>
                  <a:srgbClr val="FF9A00"/>
                </a:solidFill>
                <a:latin typeface="Muli Bold"/>
                <a:ea typeface="Muli Bold"/>
                <a:cs typeface="Muli Bold"/>
                <a:sym typeface="Muli Bold"/>
              </a:rPr>
              <a:t> </a:t>
            </a:r>
            <a:r>
              <a:rPr lang="en-US" b="true" sz="4000" strike="noStrike" u="none">
                <a:solidFill>
                  <a:srgbClr val="FF9A00"/>
                </a:solidFill>
                <a:latin typeface="Muli Bold"/>
                <a:ea typeface="Muli Bold"/>
                <a:cs typeface="Muli Bold"/>
                <a:sym typeface="Muli Bold"/>
              </a:rPr>
              <a:t>DỤNG</a:t>
            </a:r>
          </a:p>
        </p:txBody>
      </p:sp>
      <p:sp>
        <p:nvSpPr>
          <p:cNvPr name="TextBox 13" id="13"/>
          <p:cNvSpPr txBox="true"/>
          <p:nvPr/>
        </p:nvSpPr>
        <p:spPr>
          <a:xfrm rot="0">
            <a:off x="2167824" y="6469321"/>
            <a:ext cx="4330109" cy="523821"/>
          </a:xfrm>
          <a:prstGeom prst="rect">
            <a:avLst/>
          </a:prstGeom>
        </p:spPr>
        <p:txBody>
          <a:bodyPr anchor="t" rtlCol="false" tIns="0" lIns="0" bIns="0" rIns="0">
            <a:spAutoFit/>
          </a:bodyPr>
          <a:lstStyle/>
          <a:p>
            <a:pPr algn="ctr" marL="0" indent="0" lvl="0">
              <a:lnSpc>
                <a:spcPts val="4200"/>
              </a:lnSpc>
              <a:spcBef>
                <a:spcPct val="0"/>
              </a:spcBef>
            </a:pPr>
            <a:r>
              <a:rPr lang="en-US" b="true" sz="3000">
                <a:solidFill>
                  <a:srgbClr val="17E3B2"/>
                </a:solidFill>
                <a:latin typeface="DejaVu Serif Bold"/>
                <a:ea typeface="DejaVu Serif Bold"/>
                <a:cs typeface="DejaVu Serif Bold"/>
                <a:sym typeface="DejaVu Serif Bold"/>
              </a:rPr>
              <a:t>Database</a:t>
            </a:r>
          </a:p>
        </p:txBody>
      </p:sp>
      <p:sp>
        <p:nvSpPr>
          <p:cNvPr name="TextBox 14" id="14"/>
          <p:cNvSpPr txBox="true"/>
          <p:nvPr/>
        </p:nvSpPr>
        <p:spPr>
          <a:xfrm rot="0">
            <a:off x="590353" y="7730828"/>
            <a:ext cx="3421331" cy="1904999"/>
          </a:xfrm>
          <a:prstGeom prst="rect">
            <a:avLst/>
          </a:prstGeom>
        </p:spPr>
        <p:txBody>
          <a:bodyPr anchor="t" rtlCol="false" tIns="0" lIns="0" bIns="0" rIns="0">
            <a:spAutoFit/>
          </a:bodyPr>
          <a:lstStyle/>
          <a:p>
            <a:pPr algn="l" marL="0" indent="0" lvl="0">
              <a:lnSpc>
                <a:spcPts val="3000"/>
              </a:lnSpc>
              <a:spcBef>
                <a:spcPct val="0"/>
              </a:spcBef>
            </a:pPr>
            <a:r>
              <a:rPr lang="en-US" sz="2000" strike="noStrike" u="none">
                <a:solidFill>
                  <a:srgbClr val="FFFFFF"/>
                </a:solidFill>
                <a:latin typeface="DejaVu Serif"/>
                <a:ea typeface="DejaVu Serif"/>
                <a:cs typeface="DejaVu Serif"/>
                <a:sym typeface="DejaVu Serif"/>
              </a:rPr>
              <a:t>MongoDB:  lưu trữ các dữ liệu có cấu trúc linh hoạt như kết quả gợi ý bài tập, kết quả phân tích mã nguồn và lịch sử trao đổi.</a:t>
            </a:r>
          </a:p>
        </p:txBody>
      </p:sp>
      <p:sp>
        <p:nvSpPr>
          <p:cNvPr name="TextBox 15" id="15"/>
          <p:cNvSpPr txBox="true"/>
          <p:nvPr/>
        </p:nvSpPr>
        <p:spPr>
          <a:xfrm rot="0">
            <a:off x="7131854" y="914454"/>
            <a:ext cx="3215170" cy="523821"/>
          </a:xfrm>
          <a:prstGeom prst="rect">
            <a:avLst/>
          </a:prstGeom>
        </p:spPr>
        <p:txBody>
          <a:bodyPr anchor="t" rtlCol="false" tIns="0" lIns="0" bIns="0" rIns="0">
            <a:spAutoFit/>
          </a:bodyPr>
          <a:lstStyle/>
          <a:p>
            <a:pPr algn="ctr" marL="0" indent="0" lvl="0">
              <a:lnSpc>
                <a:spcPts val="4200"/>
              </a:lnSpc>
              <a:spcBef>
                <a:spcPct val="0"/>
              </a:spcBef>
            </a:pPr>
            <a:r>
              <a:rPr lang="en-US" b="true" sz="3000">
                <a:solidFill>
                  <a:srgbClr val="17E3B2"/>
                </a:solidFill>
                <a:latin typeface="DejaVu Serif Bold"/>
                <a:ea typeface="DejaVu Serif Bold"/>
                <a:cs typeface="DejaVu Serif Bold"/>
                <a:sym typeface="DejaVu Serif Bold"/>
              </a:rPr>
              <a:t>Backend</a:t>
            </a:r>
          </a:p>
        </p:txBody>
      </p:sp>
      <p:sp>
        <p:nvSpPr>
          <p:cNvPr name="TextBox 16" id="16"/>
          <p:cNvSpPr txBox="true"/>
          <p:nvPr/>
        </p:nvSpPr>
        <p:spPr>
          <a:xfrm rot="0">
            <a:off x="590353" y="2098822"/>
            <a:ext cx="5264437" cy="1523999"/>
          </a:xfrm>
          <a:prstGeom prst="rect">
            <a:avLst/>
          </a:prstGeom>
        </p:spPr>
        <p:txBody>
          <a:bodyPr anchor="t" rtlCol="false" tIns="0" lIns="0" bIns="0" rIns="0">
            <a:spAutoFit/>
          </a:bodyPr>
          <a:lstStyle/>
          <a:p>
            <a:pPr algn="l">
              <a:lnSpc>
                <a:spcPts val="3000"/>
              </a:lnSpc>
              <a:spcBef>
                <a:spcPct val="0"/>
              </a:spcBef>
            </a:pPr>
            <a:r>
              <a:rPr lang="en-US" sz="2000">
                <a:solidFill>
                  <a:srgbClr val="FFFFFF"/>
                </a:solidFill>
                <a:latin typeface="DejaVu Serif"/>
                <a:ea typeface="DejaVu Serif"/>
                <a:cs typeface="DejaVu Serif"/>
                <a:sym typeface="DejaVu Serif"/>
              </a:rPr>
              <a:t>Spring Boot Framework: xây dựng hệ thống backend, cung cấp REST API, xử lý nghiệp vụ và điều phối luồng dữ liệu giữa các thành phần.</a:t>
            </a:r>
          </a:p>
        </p:txBody>
      </p:sp>
      <p:sp>
        <p:nvSpPr>
          <p:cNvPr name="TextBox 17" id="17"/>
          <p:cNvSpPr txBox="true"/>
          <p:nvPr/>
        </p:nvSpPr>
        <p:spPr>
          <a:xfrm rot="0">
            <a:off x="6773714" y="3851421"/>
            <a:ext cx="3931449" cy="523821"/>
          </a:xfrm>
          <a:prstGeom prst="rect">
            <a:avLst/>
          </a:prstGeom>
        </p:spPr>
        <p:txBody>
          <a:bodyPr anchor="t" rtlCol="false" tIns="0" lIns="0" bIns="0" rIns="0">
            <a:spAutoFit/>
          </a:bodyPr>
          <a:lstStyle/>
          <a:p>
            <a:pPr algn="ctr" marL="0" indent="0" lvl="0">
              <a:lnSpc>
                <a:spcPts val="4200"/>
              </a:lnSpc>
              <a:spcBef>
                <a:spcPct val="0"/>
              </a:spcBef>
            </a:pPr>
            <a:r>
              <a:rPr lang="en-US" b="true" sz="3000">
                <a:solidFill>
                  <a:srgbClr val="17E3B2"/>
                </a:solidFill>
                <a:latin typeface="DejaVu Serif Bold"/>
                <a:ea typeface="DejaVu Serif Bold"/>
                <a:cs typeface="DejaVu Serif Bold"/>
                <a:sym typeface="DejaVu Serif Bold"/>
              </a:rPr>
              <a:t>Frontend</a:t>
            </a:r>
          </a:p>
        </p:txBody>
      </p:sp>
      <p:sp>
        <p:nvSpPr>
          <p:cNvPr name="TextBox 18" id="18"/>
          <p:cNvSpPr txBox="true"/>
          <p:nvPr/>
        </p:nvSpPr>
        <p:spPr>
          <a:xfrm rot="0">
            <a:off x="638856" y="5032467"/>
            <a:ext cx="7443091" cy="761999"/>
          </a:xfrm>
          <a:prstGeom prst="rect">
            <a:avLst/>
          </a:prstGeom>
        </p:spPr>
        <p:txBody>
          <a:bodyPr anchor="t" rtlCol="false" tIns="0" lIns="0" bIns="0" rIns="0">
            <a:spAutoFit/>
          </a:bodyPr>
          <a:lstStyle/>
          <a:p>
            <a:pPr algn="l" marL="0" indent="0" lvl="0">
              <a:lnSpc>
                <a:spcPts val="3000"/>
              </a:lnSpc>
              <a:spcBef>
                <a:spcPct val="0"/>
              </a:spcBef>
            </a:pPr>
            <a:r>
              <a:rPr lang="en-US" sz="2000" strike="noStrike" u="none">
                <a:solidFill>
                  <a:srgbClr val="FFFFFF"/>
                </a:solidFill>
                <a:latin typeface="DejaVu Serif"/>
                <a:ea typeface="DejaVu Serif"/>
                <a:cs typeface="DejaVu Serif"/>
                <a:sym typeface="DejaVu Serif"/>
              </a:rPr>
              <a:t>ReactJS: xây dựng giao diện chatbot tương tác với người dùng và kết nối với backend thông qua REST API.</a:t>
            </a:r>
          </a:p>
        </p:txBody>
      </p:sp>
      <p:sp>
        <p:nvSpPr>
          <p:cNvPr name="TextBox 19" id="19"/>
          <p:cNvSpPr txBox="true"/>
          <p:nvPr/>
        </p:nvSpPr>
        <p:spPr>
          <a:xfrm rot="0">
            <a:off x="10995205" y="6469321"/>
            <a:ext cx="5324187" cy="523821"/>
          </a:xfrm>
          <a:prstGeom prst="rect">
            <a:avLst/>
          </a:prstGeom>
        </p:spPr>
        <p:txBody>
          <a:bodyPr anchor="t" rtlCol="false" tIns="0" lIns="0" bIns="0" rIns="0">
            <a:spAutoFit/>
          </a:bodyPr>
          <a:lstStyle/>
          <a:p>
            <a:pPr algn="l" marL="0" indent="0" lvl="0">
              <a:lnSpc>
                <a:spcPts val="4200"/>
              </a:lnSpc>
              <a:spcBef>
                <a:spcPct val="0"/>
              </a:spcBef>
            </a:pPr>
            <a:r>
              <a:rPr lang="en-US" b="true" sz="3000">
                <a:solidFill>
                  <a:srgbClr val="17E3B2"/>
                </a:solidFill>
                <a:latin typeface="DejaVu Serif Bold"/>
                <a:ea typeface="DejaVu Serif Bold"/>
                <a:cs typeface="DejaVu Serif Bold"/>
                <a:sym typeface="DejaVu Serif Bold"/>
              </a:rPr>
              <a:t>Đóng gói và triển khai </a:t>
            </a:r>
          </a:p>
        </p:txBody>
      </p:sp>
      <p:sp>
        <p:nvSpPr>
          <p:cNvPr name="TextBox 20" id="20"/>
          <p:cNvSpPr txBox="true"/>
          <p:nvPr/>
        </p:nvSpPr>
        <p:spPr>
          <a:xfrm rot="0">
            <a:off x="10347024" y="7730828"/>
            <a:ext cx="2681142" cy="1142999"/>
          </a:xfrm>
          <a:prstGeom prst="rect">
            <a:avLst/>
          </a:prstGeom>
        </p:spPr>
        <p:txBody>
          <a:bodyPr anchor="t" rtlCol="false" tIns="0" lIns="0" bIns="0" rIns="0">
            <a:spAutoFit/>
          </a:bodyPr>
          <a:lstStyle/>
          <a:p>
            <a:pPr algn="l" marL="0" indent="0" lvl="0">
              <a:lnSpc>
                <a:spcPts val="3000"/>
              </a:lnSpc>
              <a:spcBef>
                <a:spcPct val="0"/>
              </a:spcBef>
            </a:pPr>
            <a:r>
              <a:rPr lang="en-US" sz="2000" strike="noStrike" u="none">
                <a:solidFill>
                  <a:srgbClr val="FFFFFF"/>
                </a:solidFill>
                <a:latin typeface="DejaVu Serif"/>
                <a:ea typeface="DejaVu Serif"/>
                <a:cs typeface="DejaVu Serif"/>
                <a:sym typeface="DejaVu Serif"/>
              </a:rPr>
              <a:t>Docker: đóng gói và triển khai ứng dụng bằng container.</a:t>
            </a:r>
          </a:p>
        </p:txBody>
      </p:sp>
      <p:sp>
        <p:nvSpPr>
          <p:cNvPr name="TextBox 21" id="21"/>
          <p:cNvSpPr txBox="true"/>
          <p:nvPr/>
        </p:nvSpPr>
        <p:spPr>
          <a:xfrm rot="0">
            <a:off x="6292608" y="2092165"/>
            <a:ext cx="5264437" cy="1523999"/>
          </a:xfrm>
          <a:prstGeom prst="rect">
            <a:avLst/>
          </a:prstGeom>
        </p:spPr>
        <p:txBody>
          <a:bodyPr anchor="t" rtlCol="false" tIns="0" lIns="0" bIns="0" rIns="0">
            <a:spAutoFit/>
          </a:bodyPr>
          <a:lstStyle/>
          <a:p>
            <a:pPr algn="l" marL="0" indent="0" lvl="0">
              <a:lnSpc>
                <a:spcPts val="3000"/>
              </a:lnSpc>
              <a:spcBef>
                <a:spcPct val="0"/>
              </a:spcBef>
            </a:pPr>
            <a:r>
              <a:rPr lang="en-US" sz="2000" strike="noStrike" u="none">
                <a:solidFill>
                  <a:srgbClr val="FFFFFF"/>
                </a:solidFill>
                <a:latin typeface="DejaVu Serif"/>
                <a:ea typeface="DejaVu Serif"/>
                <a:cs typeface="DejaVu Serif"/>
                <a:sym typeface="DejaVu Serif"/>
              </a:rPr>
              <a:t>Spring AI: Hỗ trợ tích hợp và quản lý quá trình tương tác với mô hình GPT-5.4 mini, bao gồm xây dựng prompt và quản lý ngữ cảnh hội thoại.</a:t>
            </a:r>
          </a:p>
        </p:txBody>
      </p:sp>
      <p:sp>
        <p:nvSpPr>
          <p:cNvPr name="TextBox 22" id="22"/>
          <p:cNvSpPr txBox="true"/>
          <p:nvPr/>
        </p:nvSpPr>
        <p:spPr>
          <a:xfrm rot="0">
            <a:off x="11994863" y="2092165"/>
            <a:ext cx="5264437" cy="1523999"/>
          </a:xfrm>
          <a:prstGeom prst="rect">
            <a:avLst/>
          </a:prstGeom>
        </p:spPr>
        <p:txBody>
          <a:bodyPr anchor="t" rtlCol="false" tIns="0" lIns="0" bIns="0" rIns="0">
            <a:spAutoFit/>
          </a:bodyPr>
          <a:lstStyle/>
          <a:p>
            <a:pPr algn="l" marL="0" indent="0" lvl="0">
              <a:lnSpc>
                <a:spcPts val="3000"/>
              </a:lnSpc>
              <a:spcBef>
                <a:spcPct val="0"/>
              </a:spcBef>
            </a:pPr>
            <a:r>
              <a:rPr lang="en-US" sz="2000" strike="noStrike" u="none">
                <a:solidFill>
                  <a:srgbClr val="FFFFFF"/>
                </a:solidFill>
                <a:latin typeface="DejaVu Serif"/>
                <a:ea typeface="DejaVu Serif"/>
                <a:cs typeface="DejaVu Serif"/>
                <a:sym typeface="DejaVu Serif"/>
              </a:rPr>
              <a:t>Moodle Web Service API: cho phép truy xuất dữ liệu từ Moodle như khóa học, bài tập, bài nộp và các thông tin liên quan phục vụ quá trình hỗ trợ học tập.</a:t>
            </a:r>
          </a:p>
        </p:txBody>
      </p:sp>
      <p:sp>
        <p:nvSpPr>
          <p:cNvPr name="TextBox 23" id="23"/>
          <p:cNvSpPr txBox="true"/>
          <p:nvPr/>
        </p:nvSpPr>
        <p:spPr>
          <a:xfrm rot="0">
            <a:off x="9192758" y="5032467"/>
            <a:ext cx="7446455" cy="761999"/>
          </a:xfrm>
          <a:prstGeom prst="rect">
            <a:avLst/>
          </a:prstGeom>
        </p:spPr>
        <p:txBody>
          <a:bodyPr anchor="t" rtlCol="false" tIns="0" lIns="0" bIns="0" rIns="0">
            <a:spAutoFit/>
          </a:bodyPr>
          <a:lstStyle/>
          <a:p>
            <a:pPr algn="l" marL="0" indent="0" lvl="0">
              <a:lnSpc>
                <a:spcPts val="3000"/>
              </a:lnSpc>
              <a:spcBef>
                <a:spcPct val="0"/>
              </a:spcBef>
            </a:pPr>
            <a:r>
              <a:rPr lang="en-US" sz="2000" strike="noStrike" u="none">
                <a:solidFill>
                  <a:srgbClr val="FFFFFF"/>
                </a:solidFill>
                <a:latin typeface="DejaVu Serif"/>
                <a:ea typeface="DejaVu Serif"/>
                <a:cs typeface="DejaVu Serif"/>
                <a:sym typeface="DejaVu Serif"/>
              </a:rPr>
              <a:t>Tailwind CSS: thiết kế giao diện hiện đại, responsive và tối ưu quá trình phát triển giao diện người dùng.</a:t>
            </a:r>
          </a:p>
        </p:txBody>
      </p:sp>
      <p:sp>
        <p:nvSpPr>
          <p:cNvPr name="TextBox 24" id="24"/>
          <p:cNvSpPr txBox="true"/>
          <p:nvPr/>
        </p:nvSpPr>
        <p:spPr>
          <a:xfrm rot="0">
            <a:off x="4559926" y="7730828"/>
            <a:ext cx="3338675" cy="1904999"/>
          </a:xfrm>
          <a:prstGeom prst="rect">
            <a:avLst/>
          </a:prstGeom>
        </p:spPr>
        <p:txBody>
          <a:bodyPr anchor="t" rtlCol="false" tIns="0" lIns="0" bIns="0" rIns="0">
            <a:spAutoFit/>
          </a:bodyPr>
          <a:lstStyle/>
          <a:p>
            <a:pPr algn="l" marL="0" indent="0" lvl="0">
              <a:lnSpc>
                <a:spcPts val="3000"/>
              </a:lnSpc>
              <a:spcBef>
                <a:spcPct val="0"/>
              </a:spcBef>
            </a:pPr>
            <a:r>
              <a:rPr lang="en-US" sz="2000" strike="noStrike" u="none">
                <a:solidFill>
                  <a:srgbClr val="FFFFFF"/>
                </a:solidFill>
                <a:latin typeface="DejaVu Serif"/>
                <a:ea typeface="DejaVu Serif"/>
                <a:cs typeface="DejaVu Serif"/>
                <a:sym typeface="DejaVu Serif"/>
              </a:rPr>
              <a:t>PostgreSQL: được Spring AI cung cấp lưu trữ Chat Memory, giúp duy trì ngữ cảnh hội thoại giữa AI với sinh viên.</a:t>
            </a:r>
          </a:p>
        </p:txBody>
      </p:sp>
      <p:sp>
        <p:nvSpPr>
          <p:cNvPr name="TextBox 25" id="25"/>
          <p:cNvSpPr txBox="true"/>
          <p:nvPr/>
        </p:nvSpPr>
        <p:spPr>
          <a:xfrm rot="0">
            <a:off x="13821909" y="7730828"/>
            <a:ext cx="3227767" cy="1523999"/>
          </a:xfrm>
          <a:prstGeom prst="rect">
            <a:avLst/>
          </a:prstGeom>
        </p:spPr>
        <p:txBody>
          <a:bodyPr anchor="t" rtlCol="false" tIns="0" lIns="0" bIns="0" rIns="0">
            <a:spAutoFit/>
          </a:bodyPr>
          <a:lstStyle/>
          <a:p>
            <a:pPr algn="l" marL="0" indent="0" lvl="0">
              <a:lnSpc>
                <a:spcPts val="3000"/>
              </a:lnSpc>
              <a:spcBef>
                <a:spcPct val="0"/>
              </a:spcBef>
            </a:pPr>
            <a:r>
              <a:rPr lang="en-US" sz="2000" strike="noStrike" u="none">
                <a:solidFill>
                  <a:srgbClr val="FFFFFF"/>
                </a:solidFill>
                <a:latin typeface="DejaVu Serif"/>
                <a:ea typeface="DejaVu Serif"/>
                <a:cs typeface="DejaVu Serif"/>
                <a:sym typeface="DejaVu Serif"/>
              </a:rPr>
              <a:t>Docker compose: quản lý và khởi chạy đồng thời nhiều container của hệ thống.</a:t>
            </a:r>
          </a:p>
        </p:txBody>
      </p:sp>
      <p:sp>
        <p:nvSpPr>
          <p:cNvPr name="Freeform 26" id="26"/>
          <p:cNvSpPr/>
          <p:nvPr/>
        </p:nvSpPr>
        <p:spPr>
          <a:xfrm flipH="false" flipV="false" rot="0">
            <a:off x="13020572" y="7045535"/>
            <a:ext cx="801338" cy="491577"/>
          </a:xfrm>
          <a:custGeom>
            <a:avLst/>
            <a:gdLst/>
            <a:ahLst/>
            <a:cxnLst/>
            <a:rect r="r" b="b" t="t" l="l"/>
            <a:pathLst>
              <a:path h="491577" w="801338">
                <a:moveTo>
                  <a:pt x="0" y="0"/>
                </a:moveTo>
                <a:lnTo>
                  <a:pt x="801337" y="0"/>
                </a:lnTo>
                <a:lnTo>
                  <a:pt x="801337" y="491576"/>
                </a:lnTo>
                <a:lnTo>
                  <a:pt x="0" y="491576"/>
                </a:lnTo>
                <a:lnTo>
                  <a:pt x="0" y="0"/>
                </a:lnTo>
                <a:close/>
              </a:path>
            </a:pathLst>
          </a:custGeom>
          <a:blipFill>
            <a:blip r:embed="rId12"/>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14912717" y="3188168"/>
            <a:ext cx="7480405" cy="7480405"/>
          </a:xfrm>
          <a:custGeom>
            <a:avLst/>
            <a:gdLst/>
            <a:ahLst/>
            <a:cxnLst/>
            <a:rect r="r" b="b" t="t" l="l"/>
            <a:pathLst>
              <a:path h="7480405" w="7480405">
                <a:moveTo>
                  <a:pt x="0" y="0"/>
                </a:moveTo>
                <a:lnTo>
                  <a:pt x="7480405" y="0"/>
                </a:lnTo>
                <a:lnTo>
                  <a:pt x="7480405"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graphicFrame>
        <p:nvGraphicFramePr>
          <p:cNvPr name="Table 5" id="5"/>
          <p:cNvGraphicFramePr>
            <a:graphicFrameLocks noGrp="true"/>
          </p:cNvGraphicFramePr>
          <p:nvPr/>
        </p:nvGraphicFramePr>
        <p:xfrm>
          <a:off x="1341760" y="3188168"/>
          <a:ext cx="14622348" cy="5927776"/>
        </p:xfrm>
        <a:graphic>
          <a:graphicData uri="http://schemas.openxmlformats.org/drawingml/2006/table">
            <a:tbl>
              <a:tblPr/>
              <a:tblGrid>
                <a:gridCol w="2756671"/>
                <a:gridCol w="5932838"/>
                <a:gridCol w="5932838"/>
              </a:tblGrid>
              <a:tr h="740972">
                <a:tc>
                  <a:txBody>
                    <a:bodyPr anchor="t" rtlCol="false"/>
                    <a:lstStyle/>
                    <a:p>
                      <a:pPr algn="ctr">
                        <a:lnSpc>
                          <a:spcPts val="3499"/>
                        </a:lnSpc>
                        <a:defRPr/>
                      </a:pPr>
                      <a:r>
                        <a:rPr lang="en-US" sz="2499" b="true">
                          <a:solidFill>
                            <a:srgbClr val="FFFFFF"/>
                          </a:solidFill>
                          <a:latin typeface="Muli Bold"/>
                          <a:ea typeface="Muli Bold"/>
                          <a:cs typeface="Muli Bold"/>
                          <a:sym typeface="Muli Bold"/>
                        </a:rPr>
                        <a:t>Thuộc tính</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499"/>
                        </a:lnSpc>
                        <a:defRPr/>
                      </a:pPr>
                      <a:r>
                        <a:rPr lang="en-US" sz="2499" b="true">
                          <a:solidFill>
                            <a:srgbClr val="FFFFFF"/>
                          </a:solidFill>
                          <a:latin typeface="Muli Bold"/>
                          <a:ea typeface="Muli Bold"/>
                          <a:cs typeface="Muli Bold"/>
                          <a:sym typeface="Muli Bold"/>
                        </a:rPr>
                        <a:t>OpenAI</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499"/>
                        </a:lnSpc>
                        <a:defRPr/>
                      </a:pPr>
                      <a:r>
                        <a:rPr lang="en-US" sz="2499" b="true">
                          <a:solidFill>
                            <a:srgbClr val="FFFFFF"/>
                          </a:solidFill>
                          <a:latin typeface="Muli Bold"/>
                          <a:ea typeface="Muli Bold"/>
                          <a:cs typeface="Muli Bold"/>
                          <a:sym typeface="Muli Bold"/>
                        </a:rPr>
                        <a:t>Gemini</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740972">
                <a:tc>
                  <a:txBody>
                    <a:bodyPr anchor="t" rtlCol="false"/>
                    <a:lstStyle/>
                    <a:p>
                      <a:pPr algn="ctr" marL="0" indent="0" lvl="0">
                        <a:lnSpc>
                          <a:spcPts val="2520"/>
                        </a:lnSpc>
                        <a:spcBef>
                          <a:spcPct val="0"/>
                        </a:spcBef>
                        <a:defRPr/>
                      </a:pPr>
                      <a:r>
                        <a:rPr lang="en-US" sz="1800" strike="noStrike" u="none">
                          <a:solidFill>
                            <a:srgbClr val="FFFFFF"/>
                          </a:solidFill>
                          <a:latin typeface="Muli"/>
                          <a:ea typeface="Muli"/>
                          <a:cs typeface="Muli"/>
                          <a:sym typeface="Muli"/>
                        </a:rPr>
                        <a:t>Reasoning</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Mạnh về suy luận</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Cân bằng suy luận và chi phí</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740972">
                <a:tc>
                  <a:txBody>
                    <a:bodyPr anchor="t" rtlCol="false"/>
                    <a:lstStyle/>
                    <a:p>
                      <a:pPr algn="ctr">
                        <a:lnSpc>
                          <a:spcPts val="2520"/>
                        </a:lnSpc>
                        <a:defRPr/>
                      </a:pPr>
                      <a:r>
                        <a:rPr lang="en-US" sz="1800">
                          <a:solidFill>
                            <a:srgbClr val="FFFFFF"/>
                          </a:solidFill>
                          <a:latin typeface="Muli"/>
                          <a:ea typeface="Muli"/>
                          <a:cs typeface="Muli"/>
                          <a:sym typeface="Muli"/>
                        </a:rPr>
                        <a:t>Speed</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Từ trung bình đến nhanh</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Từ trung bình đến nhanh</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740972">
                <a:tc>
                  <a:txBody>
                    <a:bodyPr anchor="t" rtlCol="false"/>
                    <a:lstStyle/>
                    <a:p>
                      <a:pPr algn="ctr">
                        <a:lnSpc>
                          <a:spcPts val="2520"/>
                        </a:lnSpc>
                        <a:defRPr/>
                      </a:pPr>
                      <a:r>
                        <a:rPr lang="en-US" sz="1800">
                          <a:solidFill>
                            <a:srgbClr val="FFFFFF"/>
                          </a:solidFill>
                          <a:latin typeface="Muli"/>
                          <a:ea typeface="Muli"/>
                          <a:cs typeface="Muli"/>
                          <a:sym typeface="Muli"/>
                        </a:rPr>
                        <a:t>Price</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Cao hơn</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Thấp hơn</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740972">
                <a:tc>
                  <a:txBody>
                    <a:bodyPr anchor="t" rtlCol="false"/>
                    <a:lstStyle/>
                    <a:p>
                      <a:pPr algn="ctr">
                        <a:lnSpc>
                          <a:spcPts val="2520"/>
                        </a:lnSpc>
                        <a:defRPr/>
                      </a:pPr>
                      <a:r>
                        <a:rPr lang="en-US" sz="1800">
                          <a:solidFill>
                            <a:srgbClr val="FFFFFF"/>
                          </a:solidFill>
                          <a:latin typeface="Muli"/>
                          <a:ea typeface="Muli"/>
                          <a:cs typeface="Muli"/>
                          <a:sym typeface="Muli"/>
                        </a:rPr>
                        <a:t>Context Window</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400k - 1M</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1M - 2M</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740972">
                <a:tc>
                  <a:txBody>
                    <a:bodyPr anchor="t" rtlCol="false"/>
                    <a:lstStyle/>
                    <a:p>
                      <a:pPr algn="ctr">
                        <a:lnSpc>
                          <a:spcPts val="2520"/>
                        </a:lnSpc>
                        <a:defRPr/>
                      </a:pPr>
                      <a:r>
                        <a:rPr lang="en-US" sz="1800">
                          <a:solidFill>
                            <a:srgbClr val="FFFFFF"/>
                          </a:solidFill>
                          <a:latin typeface="Muli"/>
                          <a:ea typeface="Muli"/>
                          <a:cs typeface="Muli"/>
                          <a:sym typeface="Muli"/>
                        </a:rPr>
                        <a:t>Max Output Token</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128K</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8K - 64K</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740972">
                <a:tc>
                  <a:txBody>
                    <a:bodyPr anchor="t" rtlCol="false"/>
                    <a:lstStyle/>
                    <a:p>
                      <a:pPr algn="ctr">
                        <a:lnSpc>
                          <a:spcPts val="2520"/>
                        </a:lnSpc>
                        <a:defRPr/>
                      </a:pPr>
                      <a:r>
                        <a:rPr lang="en-US" sz="1800">
                          <a:solidFill>
                            <a:srgbClr val="FFFFFF"/>
                          </a:solidFill>
                          <a:latin typeface="Muli"/>
                          <a:ea typeface="Muli"/>
                          <a:cs typeface="Muli"/>
                          <a:sym typeface="Muli"/>
                        </a:rPr>
                        <a:t>Input Type</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Text / Image</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Text / Image / Audio / Video</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740972">
                <a:tc>
                  <a:txBody>
                    <a:bodyPr anchor="t" rtlCol="false"/>
                    <a:lstStyle/>
                    <a:p>
                      <a:pPr algn="ctr">
                        <a:lnSpc>
                          <a:spcPts val="2520"/>
                        </a:lnSpc>
                        <a:defRPr/>
                      </a:pPr>
                      <a:r>
                        <a:rPr lang="en-US" sz="1800">
                          <a:solidFill>
                            <a:srgbClr val="FFFFFF"/>
                          </a:solidFill>
                          <a:latin typeface="Muli"/>
                          <a:ea typeface="Muli"/>
                          <a:cs typeface="Muli"/>
                          <a:sym typeface="Muli"/>
                        </a:rPr>
                        <a:t>Output Type</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Text</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2520"/>
                        </a:lnSpc>
                        <a:defRPr/>
                      </a:pPr>
                      <a:r>
                        <a:rPr lang="en-US" sz="1800">
                          <a:solidFill>
                            <a:srgbClr val="FFFFFF"/>
                          </a:solidFill>
                          <a:latin typeface="Muli"/>
                          <a:ea typeface="Muli"/>
                          <a:cs typeface="Muli"/>
                          <a:sym typeface="Muli"/>
                        </a:rPr>
                        <a:t>Text</a:t>
                      </a:r>
                      <a:endParaRPr lang="en-US" sz="1100"/>
                    </a:p>
                  </a:txBody>
                  <a:tcPr marL="95250" marR="95250" marT="95250" marB="9525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bl>
          </a:graphicData>
        </a:graphic>
      </p:graphicFrame>
      <p:sp>
        <p:nvSpPr>
          <p:cNvPr name="TextBox 6" id="6"/>
          <p:cNvSpPr txBox="true"/>
          <p:nvPr/>
        </p:nvSpPr>
        <p:spPr>
          <a:xfrm rot="0">
            <a:off x="446590" y="409521"/>
            <a:ext cx="11100835" cy="619179"/>
          </a:xfrm>
          <a:prstGeom prst="rect">
            <a:avLst/>
          </a:prstGeom>
        </p:spPr>
        <p:txBody>
          <a:bodyPr anchor="t" rtlCol="false" tIns="0" lIns="0" bIns="0" rIns="0">
            <a:spAutoFit/>
          </a:bodyPr>
          <a:lstStyle/>
          <a:p>
            <a:pPr algn="l" marL="0" indent="0" lvl="0">
              <a:lnSpc>
                <a:spcPts val="4800"/>
              </a:lnSpc>
              <a:spcBef>
                <a:spcPct val="0"/>
              </a:spcBef>
            </a:pPr>
            <a:r>
              <a:rPr lang="en-US" b="true" sz="4000" strike="noStrike" u="none">
                <a:solidFill>
                  <a:srgbClr val="FF9A00"/>
                </a:solidFill>
                <a:latin typeface="Muli Bold"/>
                <a:ea typeface="Muli Bold"/>
                <a:cs typeface="Muli Bold"/>
                <a:sym typeface="Muli Bold"/>
              </a:rPr>
              <a:t>KHẢO SÁT LỰA VÀ CHỌN MÔ HÌNH AI </a:t>
            </a:r>
          </a:p>
        </p:txBody>
      </p:sp>
      <p:sp>
        <p:nvSpPr>
          <p:cNvPr name="TextBox 7" id="7"/>
          <p:cNvSpPr txBox="true"/>
          <p:nvPr/>
        </p:nvSpPr>
        <p:spPr>
          <a:xfrm rot="0">
            <a:off x="1028700" y="1313790"/>
            <a:ext cx="15248468" cy="1303019"/>
          </a:xfrm>
          <a:prstGeom prst="rect">
            <a:avLst/>
          </a:prstGeom>
        </p:spPr>
        <p:txBody>
          <a:bodyPr anchor="t" rtlCol="false" tIns="0" lIns="0" bIns="0" rIns="0">
            <a:spAutoFit/>
          </a:bodyPr>
          <a:lstStyle/>
          <a:p>
            <a:pPr algn="just" marL="0" indent="0" lvl="0">
              <a:lnSpc>
                <a:spcPts val="3450"/>
              </a:lnSpc>
              <a:spcBef>
                <a:spcPct val="0"/>
              </a:spcBef>
            </a:pPr>
            <a:r>
              <a:rPr lang="en-US" sz="2300">
                <a:solidFill>
                  <a:srgbClr val="FFFFFF"/>
                </a:solidFill>
                <a:latin typeface="DejaVu Serif"/>
                <a:ea typeface="DejaVu Serif"/>
                <a:cs typeface="DejaVu Serif"/>
                <a:sym typeface="DejaVu Serif"/>
              </a:rPr>
              <a:t>     Sau khi tham khảo </a:t>
            </a:r>
            <a:r>
              <a:rPr lang="en-US" sz="2300" strike="noStrike" u="none">
                <a:solidFill>
                  <a:srgbClr val="FFFFFF"/>
                </a:solidFill>
                <a:latin typeface="DejaVu Serif"/>
                <a:ea typeface="DejaVu Serif"/>
                <a:cs typeface="DejaVu Serif"/>
                <a:sym typeface="DejaVu Serif"/>
              </a:rPr>
              <a:t>các dịch vụ cung cấp mô hình AI phổ biến như OpenAI GPT, Google Gemini, Anthropic Claude và Meta Llama. Đề tài tập trung khảo sát các mô hình của OpenAI và Google dựa trên khả năng lập trình, hội thoại theo ngữ cảnh, hiệu năng và chi phí sử dụng.</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3432573" y="5938190"/>
            <a:ext cx="7480405" cy="7480405"/>
          </a:xfrm>
          <a:custGeom>
            <a:avLst/>
            <a:gdLst/>
            <a:ahLst/>
            <a:cxnLst/>
            <a:rect r="r" b="b" t="t" l="l"/>
            <a:pathLst>
              <a:path h="7480405" w="7480405">
                <a:moveTo>
                  <a:pt x="0" y="0"/>
                </a:moveTo>
                <a:lnTo>
                  <a:pt x="7480404" y="0"/>
                </a:lnTo>
                <a:lnTo>
                  <a:pt x="7480404" y="7480404"/>
                </a:lnTo>
                <a:lnTo>
                  <a:pt x="0" y="7480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graphicFrame>
        <p:nvGraphicFramePr>
          <p:cNvPr name="Table 5" id="5"/>
          <p:cNvGraphicFramePr>
            <a:graphicFrameLocks noGrp="true"/>
          </p:cNvGraphicFramePr>
          <p:nvPr/>
        </p:nvGraphicFramePr>
        <p:xfrm>
          <a:off x="2739755" y="3626193"/>
          <a:ext cx="12182512" cy="5457825"/>
        </p:xfrm>
        <a:graphic>
          <a:graphicData uri="http://schemas.openxmlformats.org/drawingml/2006/table">
            <a:tbl>
              <a:tblPr/>
              <a:tblGrid>
                <a:gridCol w="2441610"/>
                <a:gridCol w="2441610"/>
                <a:gridCol w="2155100"/>
                <a:gridCol w="2450539"/>
                <a:gridCol w="2693652"/>
              </a:tblGrid>
              <a:tr h="930420">
                <a:tc>
                  <a:txBody>
                    <a:bodyPr anchor="t" rtlCol="false"/>
                    <a:lstStyle/>
                    <a:p>
                      <a:pPr algn="ctr">
                        <a:lnSpc>
                          <a:spcPts val="3219"/>
                        </a:lnSpc>
                        <a:defRPr/>
                      </a:pPr>
                      <a:r>
                        <a:rPr lang="en-US" sz="2299" b="true">
                          <a:solidFill>
                            <a:srgbClr val="FFFFFF"/>
                          </a:solidFill>
                          <a:latin typeface="DejaVu Serif Bold"/>
                          <a:ea typeface="DejaVu Serif Bold"/>
                          <a:cs typeface="DejaVu Serif Bold"/>
                          <a:sym typeface="DejaVu Serif Bold"/>
                        </a:rPr>
                        <a:t>Thuộc tính</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r>
                        <a:rPr lang="en-US" sz="2299" b="true">
                          <a:solidFill>
                            <a:srgbClr val="FFFFFF"/>
                          </a:solidFill>
                          <a:latin typeface="Muli Bold"/>
                          <a:ea typeface="Muli Bold"/>
                          <a:cs typeface="Muli Bold"/>
                          <a:sym typeface="Muli Bold"/>
                        </a:rPr>
                        <a:t>GPT 5.4</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r>
                        <a:rPr lang="en-US" sz="2299" b="true">
                          <a:solidFill>
                            <a:srgbClr val="FFFFFF"/>
                          </a:solidFill>
                          <a:latin typeface="Muli Bold"/>
                          <a:ea typeface="Muli Bold"/>
                          <a:cs typeface="Muli Bold"/>
                          <a:sym typeface="Muli Bold"/>
                        </a:rPr>
                        <a:t>GPT 5.4 nano</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r>
                        <a:rPr lang="en-US" sz="2299" b="true">
                          <a:solidFill>
                            <a:srgbClr val="FFFFFF"/>
                          </a:solidFill>
                          <a:latin typeface="Muli Bold"/>
                          <a:ea typeface="Muli Bold"/>
                          <a:cs typeface="Muli Bold"/>
                          <a:sym typeface="Muli Bold"/>
                        </a:rPr>
                        <a:t>GPT 5.4 mini</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r>
                        <a:rPr lang="en-US" sz="2299" b="true">
                          <a:solidFill>
                            <a:srgbClr val="FFFFFF"/>
                          </a:solidFill>
                          <a:latin typeface="DejaVu Serif Bold"/>
                          <a:ea typeface="DejaVu Serif Bold"/>
                          <a:cs typeface="DejaVu Serif Bold"/>
                          <a:sym typeface="DejaVu Serif Bold"/>
                        </a:rPr>
                        <a:t>GPT 5.5</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930420">
                <a:tc>
                  <a:txBody>
                    <a:bodyPr anchor="t" rtlCol="false"/>
                    <a:lstStyle/>
                    <a:p>
                      <a:pPr algn="ctr">
                        <a:lnSpc>
                          <a:spcPts val="3219"/>
                        </a:lnSpc>
                        <a:defRPr/>
                      </a:pPr>
                      <a:r>
                        <a:rPr lang="en-US" sz="2299" b="true">
                          <a:solidFill>
                            <a:srgbClr val="FFFFFF"/>
                          </a:solidFill>
                          <a:latin typeface="DejaVu Serif Bold"/>
                          <a:ea typeface="DejaVu Serif Bold"/>
                          <a:cs typeface="DejaVu Serif Bold"/>
                          <a:sym typeface="DejaVu Serif Bold"/>
                        </a:rPr>
                        <a:t>Reasoning</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930420">
                <a:tc>
                  <a:txBody>
                    <a:bodyPr anchor="t" rtlCol="false"/>
                    <a:lstStyle/>
                    <a:p>
                      <a:pPr algn="ctr">
                        <a:lnSpc>
                          <a:spcPts val="3219"/>
                        </a:lnSpc>
                        <a:defRPr/>
                      </a:pPr>
                      <a:r>
                        <a:rPr lang="en-US" sz="2299" b="true">
                          <a:solidFill>
                            <a:srgbClr val="FFFFFF"/>
                          </a:solidFill>
                          <a:latin typeface="DejaVu Serif Bold"/>
                          <a:ea typeface="DejaVu Serif Bold"/>
                          <a:cs typeface="DejaVu Serif Bold"/>
                          <a:sym typeface="DejaVu Serif Bold"/>
                        </a:rPr>
                        <a:t>Speed</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1333282">
                <a:tc>
                  <a:txBody>
                    <a:bodyPr anchor="t" rtlCol="false"/>
                    <a:lstStyle/>
                    <a:p>
                      <a:pPr algn="ctr">
                        <a:lnSpc>
                          <a:spcPts val="3219"/>
                        </a:lnSpc>
                        <a:defRPr/>
                      </a:pPr>
                      <a:r>
                        <a:rPr lang="en-US" sz="2299" b="true">
                          <a:solidFill>
                            <a:srgbClr val="FFFFFF"/>
                          </a:solidFill>
                          <a:latin typeface="DejaVu Serif Bold"/>
                          <a:ea typeface="DejaVu Serif Bold"/>
                          <a:cs typeface="DejaVu Serif Bold"/>
                          <a:sym typeface="DejaVu Serif Bold"/>
                        </a:rPr>
                        <a:t>Price</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l">
                        <a:lnSpc>
                          <a:spcPts val="3219"/>
                        </a:lnSpc>
                        <a:defRPr/>
                      </a:pPr>
                      <a:r>
                        <a:rPr lang="en-US" sz="2299">
                          <a:solidFill>
                            <a:srgbClr val="FFFFFF"/>
                          </a:solidFill>
                          <a:latin typeface="Muli"/>
                          <a:ea typeface="Muli"/>
                          <a:cs typeface="Muli"/>
                          <a:sym typeface="Muli"/>
                        </a:rPr>
                        <a:t>In:    $2.50</a:t>
                      </a:r>
                      <a:endParaRPr lang="en-US" sz="1100"/>
                    </a:p>
                    <a:p>
                      <a:pPr algn="l">
                        <a:lnSpc>
                          <a:spcPts val="3219"/>
                        </a:lnSpc>
                      </a:pPr>
                      <a:r>
                        <a:rPr lang="en-US" sz="2299">
                          <a:solidFill>
                            <a:srgbClr val="FFFFFF"/>
                          </a:solidFill>
                          <a:latin typeface="Muli"/>
                          <a:ea typeface="Muli"/>
                          <a:cs typeface="Muli"/>
                          <a:sym typeface="Muli"/>
                        </a:rPr>
                        <a:t>Out: $15</a:t>
                      </a:r>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l">
                        <a:lnSpc>
                          <a:spcPts val="3219"/>
                        </a:lnSpc>
                        <a:defRPr/>
                      </a:pPr>
                      <a:r>
                        <a:rPr lang="en-US" sz="2299">
                          <a:solidFill>
                            <a:srgbClr val="FFFFFF"/>
                          </a:solidFill>
                          <a:latin typeface="Muli"/>
                          <a:ea typeface="Muli"/>
                          <a:cs typeface="Muli"/>
                          <a:sym typeface="Muli"/>
                        </a:rPr>
                        <a:t>In:    $0.20</a:t>
                      </a:r>
                      <a:endParaRPr lang="en-US" sz="1100"/>
                    </a:p>
                    <a:p>
                      <a:pPr algn="l">
                        <a:lnSpc>
                          <a:spcPts val="3219"/>
                        </a:lnSpc>
                      </a:pPr>
                      <a:r>
                        <a:rPr lang="en-US" sz="2299">
                          <a:solidFill>
                            <a:srgbClr val="FFFFFF"/>
                          </a:solidFill>
                          <a:latin typeface="Muli"/>
                          <a:ea typeface="Muli"/>
                          <a:cs typeface="Muli"/>
                          <a:sym typeface="Muli"/>
                        </a:rPr>
                        <a:t>Out: $1.25</a:t>
                      </a:r>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l">
                        <a:lnSpc>
                          <a:spcPts val="3219"/>
                        </a:lnSpc>
                        <a:defRPr/>
                      </a:pPr>
                      <a:r>
                        <a:rPr lang="en-US" sz="2299">
                          <a:solidFill>
                            <a:srgbClr val="FFFFFF"/>
                          </a:solidFill>
                          <a:latin typeface="Muli"/>
                          <a:ea typeface="Muli"/>
                          <a:cs typeface="Muli"/>
                          <a:sym typeface="Muli"/>
                        </a:rPr>
                        <a:t>In:    $0.75</a:t>
                      </a:r>
                      <a:endParaRPr lang="en-US" sz="1100"/>
                    </a:p>
                    <a:p>
                      <a:pPr algn="l">
                        <a:lnSpc>
                          <a:spcPts val="3219"/>
                        </a:lnSpc>
                      </a:pPr>
                      <a:r>
                        <a:rPr lang="en-US" sz="2299">
                          <a:solidFill>
                            <a:srgbClr val="FFFFFF"/>
                          </a:solidFill>
                          <a:latin typeface="Muli"/>
                          <a:ea typeface="Muli"/>
                          <a:cs typeface="Muli"/>
                          <a:sym typeface="Muli"/>
                        </a:rPr>
                        <a:t>Out: $4.50</a:t>
                      </a:r>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l">
                        <a:lnSpc>
                          <a:spcPts val="3219"/>
                        </a:lnSpc>
                        <a:defRPr/>
                      </a:pPr>
                      <a:r>
                        <a:rPr lang="en-US" sz="2299">
                          <a:solidFill>
                            <a:srgbClr val="FFFFFF"/>
                          </a:solidFill>
                          <a:latin typeface="DejaVu Serif"/>
                          <a:ea typeface="DejaVu Serif"/>
                          <a:cs typeface="DejaVu Serif"/>
                          <a:sym typeface="DejaVu Serif"/>
                        </a:rPr>
                        <a:t>In:   $5</a:t>
                      </a:r>
                      <a:endParaRPr lang="en-US" sz="1100"/>
                    </a:p>
                    <a:p>
                      <a:pPr algn="l">
                        <a:lnSpc>
                          <a:spcPts val="3219"/>
                        </a:lnSpc>
                      </a:pPr>
                      <a:r>
                        <a:rPr lang="en-US" sz="2299">
                          <a:solidFill>
                            <a:srgbClr val="FFFFFF"/>
                          </a:solidFill>
                          <a:latin typeface="DejaVu Serif"/>
                          <a:ea typeface="DejaVu Serif"/>
                          <a:cs typeface="DejaVu Serif"/>
                          <a:sym typeface="DejaVu Serif"/>
                        </a:rPr>
                        <a:t>Out: $30</a:t>
                      </a:r>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1333282">
                <a:tc>
                  <a:txBody>
                    <a:bodyPr anchor="t" rtlCol="false"/>
                    <a:lstStyle/>
                    <a:p>
                      <a:pPr algn="ctr">
                        <a:lnSpc>
                          <a:spcPts val="3219"/>
                        </a:lnSpc>
                        <a:defRPr/>
                      </a:pPr>
                      <a:r>
                        <a:rPr lang="en-US" sz="2299" b="true">
                          <a:solidFill>
                            <a:srgbClr val="FFFFFF"/>
                          </a:solidFill>
                          <a:latin typeface="DejaVu Serif Bold"/>
                          <a:ea typeface="DejaVu Serif Bold"/>
                          <a:cs typeface="DejaVu Serif Bold"/>
                          <a:sym typeface="DejaVu Serif Bold"/>
                        </a:rPr>
                        <a:t>Context Window</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r>
                        <a:rPr lang="en-US" sz="2299">
                          <a:solidFill>
                            <a:srgbClr val="FFFFFF"/>
                          </a:solidFill>
                          <a:latin typeface="Muli"/>
                          <a:ea typeface="Muli"/>
                          <a:cs typeface="Muli"/>
                          <a:sym typeface="Muli"/>
                        </a:rPr>
                        <a:t>1M</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r>
                        <a:rPr lang="en-US" sz="2299">
                          <a:solidFill>
                            <a:srgbClr val="FFFFFF"/>
                          </a:solidFill>
                          <a:latin typeface="Muli"/>
                          <a:ea typeface="Muli"/>
                          <a:cs typeface="Muli"/>
                          <a:sym typeface="Muli"/>
                        </a:rPr>
                        <a:t>400K</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r>
                        <a:rPr lang="en-US" sz="2299">
                          <a:solidFill>
                            <a:srgbClr val="FFFFFF"/>
                          </a:solidFill>
                          <a:latin typeface="Muli"/>
                          <a:ea typeface="Muli"/>
                          <a:cs typeface="Muli"/>
                          <a:sym typeface="Muli"/>
                        </a:rPr>
                        <a:t>400K</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219"/>
                        </a:lnSpc>
                        <a:defRPr/>
                      </a:pPr>
                      <a:r>
                        <a:rPr lang="en-US" sz="2299">
                          <a:solidFill>
                            <a:srgbClr val="FFFFFF"/>
                          </a:solidFill>
                          <a:latin typeface="DejaVu Serif"/>
                          <a:ea typeface="DejaVu Serif"/>
                          <a:cs typeface="DejaVu Serif"/>
                          <a:sym typeface="DejaVu Serif"/>
                        </a:rPr>
                        <a:t>1M</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bl>
          </a:graphicData>
        </a:graphic>
      </p:graphicFrame>
      <p:sp>
        <p:nvSpPr>
          <p:cNvPr name="Freeform 6" id="6"/>
          <p:cNvSpPr/>
          <p:nvPr/>
        </p:nvSpPr>
        <p:spPr>
          <a:xfrm flipH="false" flipV="false" rot="0">
            <a:off x="5770316"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6267645"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0">
            <a:off x="6764975"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false" flipV="false" rot="0">
            <a:off x="8130144"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0" id="10"/>
          <p:cNvSpPr/>
          <p:nvPr/>
        </p:nvSpPr>
        <p:spPr>
          <a:xfrm flipH="false" flipV="false" rot="0">
            <a:off x="8627474"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1" id="11"/>
          <p:cNvSpPr/>
          <p:nvPr/>
        </p:nvSpPr>
        <p:spPr>
          <a:xfrm flipH="false" flipV="false" rot="0">
            <a:off x="9124804"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2" id="12"/>
          <p:cNvSpPr/>
          <p:nvPr/>
        </p:nvSpPr>
        <p:spPr>
          <a:xfrm flipH="false" flipV="false" rot="0">
            <a:off x="10636927"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3" id="13"/>
          <p:cNvSpPr/>
          <p:nvPr/>
        </p:nvSpPr>
        <p:spPr>
          <a:xfrm flipH="false" flipV="false" rot="0">
            <a:off x="11134257"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4" id="14"/>
          <p:cNvSpPr/>
          <p:nvPr/>
        </p:nvSpPr>
        <p:spPr>
          <a:xfrm flipH="false" flipV="false" rot="0">
            <a:off x="13410505" y="4841495"/>
            <a:ext cx="289513" cy="368593"/>
          </a:xfrm>
          <a:custGeom>
            <a:avLst/>
            <a:gdLst/>
            <a:ahLst/>
            <a:cxnLst/>
            <a:rect r="r" b="b" t="t" l="l"/>
            <a:pathLst>
              <a:path h="368593" w="289513">
                <a:moveTo>
                  <a:pt x="0" y="0"/>
                </a:moveTo>
                <a:lnTo>
                  <a:pt x="289513" y="0"/>
                </a:lnTo>
                <a:lnTo>
                  <a:pt x="289513" y="368593"/>
                </a:lnTo>
                <a:lnTo>
                  <a:pt x="0" y="3685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5829961" y="5796084"/>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6" id="16"/>
          <p:cNvSpPr/>
          <p:nvPr/>
        </p:nvSpPr>
        <p:spPr>
          <a:xfrm flipH="false" flipV="false" rot="0">
            <a:off x="6312379" y="5796084"/>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7" id="17"/>
          <p:cNvSpPr/>
          <p:nvPr/>
        </p:nvSpPr>
        <p:spPr>
          <a:xfrm flipH="false" flipV="false" rot="0">
            <a:off x="6794798" y="5796084"/>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8" id="18"/>
          <p:cNvSpPr/>
          <p:nvPr/>
        </p:nvSpPr>
        <p:spPr>
          <a:xfrm flipH="false" flipV="false" rot="0">
            <a:off x="10425541" y="5786487"/>
            <a:ext cx="229868" cy="368593"/>
          </a:xfrm>
          <a:custGeom>
            <a:avLst/>
            <a:gdLst/>
            <a:ahLst/>
            <a:cxnLst/>
            <a:rect r="r" b="b" t="t" l="l"/>
            <a:pathLst>
              <a:path h="368593" w="229868">
                <a:moveTo>
                  <a:pt x="0" y="0"/>
                </a:moveTo>
                <a:lnTo>
                  <a:pt x="229867" y="0"/>
                </a:lnTo>
                <a:lnTo>
                  <a:pt x="229867"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9" id="19"/>
          <p:cNvSpPr/>
          <p:nvPr/>
        </p:nvSpPr>
        <p:spPr>
          <a:xfrm flipH="false" flipV="false" rot="0">
            <a:off x="10907959" y="5786487"/>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0" id="20"/>
          <p:cNvSpPr/>
          <p:nvPr/>
        </p:nvSpPr>
        <p:spPr>
          <a:xfrm flipH="false" flipV="false" rot="0">
            <a:off x="11390378" y="5786487"/>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1" id="21"/>
          <p:cNvSpPr/>
          <p:nvPr/>
        </p:nvSpPr>
        <p:spPr>
          <a:xfrm flipH="false" flipV="false" rot="0">
            <a:off x="12957909" y="5796084"/>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2" id="22"/>
          <p:cNvSpPr/>
          <p:nvPr/>
        </p:nvSpPr>
        <p:spPr>
          <a:xfrm flipH="false" flipV="false" rot="0">
            <a:off x="13440327" y="5796084"/>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3" id="23"/>
          <p:cNvSpPr/>
          <p:nvPr/>
        </p:nvSpPr>
        <p:spPr>
          <a:xfrm flipH="false" flipV="false" rot="0">
            <a:off x="13922746" y="5796084"/>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4" id="24"/>
          <p:cNvSpPr/>
          <p:nvPr/>
        </p:nvSpPr>
        <p:spPr>
          <a:xfrm flipH="false" flipV="false" rot="0">
            <a:off x="8397535" y="5786487"/>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5" id="25"/>
          <p:cNvSpPr/>
          <p:nvPr/>
        </p:nvSpPr>
        <p:spPr>
          <a:xfrm flipH="false" flipV="false" rot="0">
            <a:off x="8879953" y="5786487"/>
            <a:ext cx="229868" cy="368593"/>
          </a:xfrm>
          <a:custGeom>
            <a:avLst/>
            <a:gdLst/>
            <a:ahLst/>
            <a:cxnLst/>
            <a:rect r="r" b="b" t="t" l="l"/>
            <a:pathLst>
              <a:path h="368593" w="229868">
                <a:moveTo>
                  <a:pt x="0" y="0"/>
                </a:moveTo>
                <a:lnTo>
                  <a:pt x="229868" y="0"/>
                </a:lnTo>
                <a:lnTo>
                  <a:pt x="229868" y="368593"/>
                </a:lnTo>
                <a:lnTo>
                  <a:pt x="0" y="3685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26" id="26"/>
          <p:cNvGrpSpPr/>
          <p:nvPr/>
        </p:nvGrpSpPr>
        <p:grpSpPr>
          <a:xfrm rot="0">
            <a:off x="9763034" y="3626193"/>
            <a:ext cx="2461450" cy="5457825"/>
            <a:chOff x="0" y="0"/>
            <a:chExt cx="648283" cy="1437452"/>
          </a:xfrm>
        </p:grpSpPr>
        <p:sp>
          <p:nvSpPr>
            <p:cNvPr name="Freeform 27" id="27"/>
            <p:cNvSpPr/>
            <p:nvPr/>
          </p:nvSpPr>
          <p:spPr>
            <a:xfrm flipH="false" flipV="false" rot="0">
              <a:off x="0" y="0"/>
              <a:ext cx="648283" cy="1437452"/>
            </a:xfrm>
            <a:custGeom>
              <a:avLst/>
              <a:gdLst/>
              <a:ahLst/>
              <a:cxnLst/>
              <a:rect r="r" b="b" t="t" l="l"/>
              <a:pathLst>
                <a:path h="1437452" w="648283">
                  <a:moveTo>
                    <a:pt x="0" y="0"/>
                  </a:moveTo>
                  <a:lnTo>
                    <a:pt x="648283" y="0"/>
                  </a:lnTo>
                  <a:lnTo>
                    <a:pt x="648283" y="1437452"/>
                  </a:lnTo>
                  <a:lnTo>
                    <a:pt x="0" y="1437452"/>
                  </a:lnTo>
                  <a:close/>
                </a:path>
              </a:pathLst>
            </a:custGeom>
            <a:ln w="104775" cap="sq">
              <a:solidFill>
                <a:srgbClr val="86C7ED"/>
              </a:solidFill>
              <a:prstDash val="solid"/>
              <a:miter/>
            </a:ln>
          </p:spPr>
        </p:sp>
        <p:sp>
          <p:nvSpPr>
            <p:cNvPr name="TextBox 28" id="28"/>
            <p:cNvSpPr txBox="true"/>
            <p:nvPr/>
          </p:nvSpPr>
          <p:spPr>
            <a:xfrm>
              <a:off x="0" y="-19050"/>
              <a:ext cx="648283" cy="1456502"/>
            </a:xfrm>
            <a:prstGeom prst="rect">
              <a:avLst/>
            </a:prstGeom>
          </p:spPr>
          <p:txBody>
            <a:bodyPr anchor="ctr" rtlCol="false" tIns="50800" lIns="50800" bIns="50800" rIns="50800"/>
            <a:lstStyle/>
            <a:p>
              <a:pPr algn="ctr">
                <a:lnSpc>
                  <a:spcPts val="3048"/>
                </a:lnSpc>
              </a:pPr>
            </a:p>
          </p:txBody>
        </p:sp>
      </p:grpSp>
      <p:sp>
        <p:nvSpPr>
          <p:cNvPr name="TextBox 29" id="29"/>
          <p:cNvSpPr txBox="true"/>
          <p:nvPr/>
        </p:nvSpPr>
        <p:spPr>
          <a:xfrm rot="0">
            <a:off x="446590" y="1296912"/>
            <a:ext cx="16264982" cy="1311516"/>
          </a:xfrm>
          <a:prstGeom prst="rect">
            <a:avLst/>
          </a:prstGeom>
        </p:spPr>
        <p:txBody>
          <a:bodyPr anchor="t" rtlCol="false" tIns="0" lIns="0" bIns="0" rIns="0">
            <a:spAutoFit/>
          </a:bodyPr>
          <a:lstStyle/>
          <a:p>
            <a:pPr algn="just" marL="0" indent="0" lvl="0">
              <a:lnSpc>
                <a:spcPts val="3450"/>
              </a:lnSpc>
              <a:spcBef>
                <a:spcPct val="0"/>
              </a:spcBef>
            </a:pPr>
            <a:r>
              <a:rPr lang="en-US" sz="2300">
                <a:solidFill>
                  <a:srgbClr val="FFFFFF"/>
                </a:solidFill>
                <a:latin typeface="DejaVu Serif"/>
                <a:ea typeface="DejaVu Serif"/>
                <a:cs typeface="DejaVu Serif"/>
                <a:sym typeface="DejaVu Serif"/>
              </a:rPr>
              <a:t>      </a:t>
            </a:r>
            <a:r>
              <a:rPr lang="en-US" sz="2300" strike="noStrike" u="none">
                <a:solidFill>
                  <a:srgbClr val="FFFFFF"/>
                </a:solidFill>
                <a:latin typeface="DejaVu Serif"/>
                <a:ea typeface="DejaVu Serif"/>
                <a:cs typeface="DejaVu Serif"/>
                <a:sym typeface="DejaVu Serif"/>
              </a:rPr>
              <a:t>Sau quá trình khảo sát 2 dịch vụ cung cấp, đề tài lựa chọn </a:t>
            </a:r>
            <a:r>
              <a:rPr lang="en-US" b="true" sz="2300" strike="noStrike" u="none">
                <a:solidFill>
                  <a:srgbClr val="FFFFFF"/>
                </a:solidFill>
                <a:latin typeface="DejaVu Serif Bold"/>
                <a:ea typeface="DejaVu Serif Bold"/>
                <a:cs typeface="DejaVu Serif Bold"/>
                <a:sym typeface="DejaVu Serif Bold"/>
              </a:rPr>
              <a:t>GPT-5.4 mini</a:t>
            </a:r>
            <a:r>
              <a:rPr lang="en-US" sz="2300" strike="noStrike" u="none">
                <a:solidFill>
                  <a:srgbClr val="FFFFFF"/>
                </a:solidFill>
                <a:latin typeface="DejaVu Serif"/>
                <a:ea typeface="DejaVu Serif"/>
                <a:cs typeface="DejaVu Serif"/>
                <a:sym typeface="DejaVu Serif"/>
              </a:rPr>
              <a:t> do OpenAI cung cấp </a:t>
            </a:r>
            <a:r>
              <a:rPr lang="en-US" sz="2300" strike="noStrike" u="none">
                <a:solidFill>
                  <a:srgbClr val="FFFFFF"/>
                </a:solidFill>
                <a:latin typeface="DejaVu Serif"/>
                <a:ea typeface="DejaVu Serif"/>
                <a:cs typeface="DejaVu Serif"/>
                <a:sym typeface="DejaVu Serif"/>
              </a:rPr>
              <a:t>làm mô hình AI cho hệ thống chatbot. Mô hình được lựa chọn nhờ khả năng cân bằng giữa hiệu năng, tốc độ phản hồi, chi phí sử dụng và khả năng hỗ trợ các tác vụ lập trình, phù hợp với phạm vị đề tài.</a:t>
            </a:r>
          </a:p>
        </p:txBody>
      </p:sp>
      <p:sp>
        <p:nvSpPr>
          <p:cNvPr name="TextBox 30" id="30"/>
          <p:cNvSpPr txBox="true"/>
          <p:nvPr/>
        </p:nvSpPr>
        <p:spPr>
          <a:xfrm rot="0">
            <a:off x="4895552" y="3122485"/>
            <a:ext cx="8198670" cy="342846"/>
          </a:xfrm>
          <a:prstGeom prst="rect">
            <a:avLst/>
          </a:prstGeom>
        </p:spPr>
        <p:txBody>
          <a:bodyPr anchor="t" rtlCol="false" tIns="0" lIns="0" bIns="0" rIns="0">
            <a:spAutoFit/>
          </a:bodyPr>
          <a:lstStyle/>
          <a:p>
            <a:pPr algn="ctr">
              <a:lnSpc>
                <a:spcPts val="2760"/>
              </a:lnSpc>
              <a:spcBef>
                <a:spcPct val="0"/>
              </a:spcBef>
            </a:pPr>
            <a:r>
              <a:rPr lang="en-US" sz="2300" spc="69">
                <a:solidFill>
                  <a:srgbClr val="FFFFFF"/>
                </a:solidFill>
                <a:latin typeface="Muli"/>
                <a:ea typeface="Muli"/>
                <a:cs typeface="Muli"/>
                <a:sym typeface="Muli"/>
              </a:rPr>
              <a:t>So sánh mô hình</a:t>
            </a:r>
            <a:r>
              <a:rPr lang="en-US" b="true" sz="2300" spc="69">
                <a:solidFill>
                  <a:srgbClr val="FFFFFF"/>
                </a:solidFill>
                <a:latin typeface="Muli Bold"/>
                <a:ea typeface="Muli Bold"/>
                <a:cs typeface="Muli Bold"/>
                <a:sym typeface="Muli Bold"/>
              </a:rPr>
              <a:t> </a:t>
            </a:r>
            <a:r>
              <a:rPr lang="en-US" b="true" sz="2300" spc="69">
                <a:solidFill>
                  <a:srgbClr val="FFFFFF"/>
                </a:solidFill>
                <a:latin typeface="Muli Bold"/>
                <a:ea typeface="Muli Bold"/>
                <a:cs typeface="Muli Bold"/>
                <a:sym typeface="Muli Bold"/>
              </a:rPr>
              <a:t>GPT-5.4 mini </a:t>
            </a:r>
            <a:r>
              <a:rPr lang="en-US" sz="2300" spc="69">
                <a:solidFill>
                  <a:srgbClr val="FFFFFF"/>
                </a:solidFill>
                <a:latin typeface="Muli"/>
                <a:ea typeface="Muli"/>
                <a:cs typeface="Muli"/>
                <a:sym typeface="Muli"/>
              </a:rPr>
              <a:t>với các mô hình GPT khác:</a:t>
            </a:r>
          </a:p>
        </p:txBody>
      </p:sp>
      <p:sp>
        <p:nvSpPr>
          <p:cNvPr name="TextBox 31" id="31"/>
          <p:cNvSpPr txBox="true"/>
          <p:nvPr/>
        </p:nvSpPr>
        <p:spPr>
          <a:xfrm rot="0">
            <a:off x="446590" y="409521"/>
            <a:ext cx="10461369" cy="619179"/>
          </a:xfrm>
          <a:prstGeom prst="rect">
            <a:avLst/>
          </a:prstGeom>
        </p:spPr>
        <p:txBody>
          <a:bodyPr anchor="t" rtlCol="false" tIns="0" lIns="0" bIns="0" rIns="0">
            <a:spAutoFit/>
          </a:bodyPr>
          <a:lstStyle/>
          <a:p>
            <a:pPr algn="l" marL="0" indent="0" lvl="0">
              <a:lnSpc>
                <a:spcPts val="4800"/>
              </a:lnSpc>
              <a:spcBef>
                <a:spcPct val="0"/>
              </a:spcBef>
            </a:pPr>
            <a:r>
              <a:rPr lang="en-US" b="true" sz="4000" strike="noStrike" u="none">
                <a:solidFill>
                  <a:srgbClr val="FF9A00"/>
                </a:solidFill>
                <a:latin typeface="Muli Bold"/>
                <a:ea typeface="Muli Bold"/>
                <a:cs typeface="Muli Bold"/>
                <a:sym typeface="Muli Bold"/>
              </a:rPr>
              <a:t>KHẢO SÁT LỰA VÀ CHỌN MÔ HÌNH AI </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3432573" y="5938190"/>
            <a:ext cx="7480405" cy="7480405"/>
          </a:xfrm>
          <a:custGeom>
            <a:avLst/>
            <a:gdLst/>
            <a:ahLst/>
            <a:cxnLst/>
            <a:rect r="r" b="b" t="t" l="l"/>
            <a:pathLst>
              <a:path h="7480405" w="7480405">
                <a:moveTo>
                  <a:pt x="0" y="0"/>
                </a:moveTo>
                <a:lnTo>
                  <a:pt x="7480404" y="0"/>
                </a:lnTo>
                <a:lnTo>
                  <a:pt x="7480404" y="7480404"/>
                </a:lnTo>
                <a:lnTo>
                  <a:pt x="0" y="7480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11130677" y="1028700"/>
            <a:ext cx="6559274" cy="5132875"/>
          </a:xfrm>
          <a:custGeom>
            <a:avLst/>
            <a:gdLst/>
            <a:ahLst/>
            <a:cxnLst/>
            <a:rect r="r" b="b" t="t" l="l"/>
            <a:pathLst>
              <a:path h="5132875" w="6559274">
                <a:moveTo>
                  <a:pt x="0" y="0"/>
                </a:moveTo>
                <a:lnTo>
                  <a:pt x="6559274" y="0"/>
                </a:lnTo>
                <a:lnTo>
                  <a:pt x="6559274" y="5132875"/>
                </a:lnTo>
                <a:lnTo>
                  <a:pt x="0" y="5132875"/>
                </a:lnTo>
                <a:lnTo>
                  <a:pt x="0" y="0"/>
                </a:lnTo>
                <a:close/>
              </a:path>
            </a:pathLst>
          </a:custGeom>
          <a:blipFill>
            <a:blip r:embed="rId5"/>
            <a:stretch>
              <a:fillRect l="0" t="0" r="0" b="0"/>
            </a:stretch>
          </a:blipFill>
        </p:spPr>
      </p:sp>
      <p:sp>
        <p:nvSpPr>
          <p:cNvPr name="Freeform 6" id="6"/>
          <p:cNvSpPr/>
          <p:nvPr/>
        </p:nvSpPr>
        <p:spPr>
          <a:xfrm flipH="false" flipV="false" rot="0">
            <a:off x="10877691" y="6962208"/>
            <a:ext cx="7065247" cy="2991381"/>
          </a:xfrm>
          <a:custGeom>
            <a:avLst/>
            <a:gdLst/>
            <a:ahLst/>
            <a:cxnLst/>
            <a:rect r="r" b="b" t="t" l="l"/>
            <a:pathLst>
              <a:path h="2991381" w="7065247">
                <a:moveTo>
                  <a:pt x="0" y="0"/>
                </a:moveTo>
                <a:lnTo>
                  <a:pt x="7065247" y="0"/>
                </a:lnTo>
                <a:lnTo>
                  <a:pt x="7065247" y="2991381"/>
                </a:lnTo>
                <a:lnTo>
                  <a:pt x="0" y="2991381"/>
                </a:lnTo>
                <a:lnTo>
                  <a:pt x="0" y="0"/>
                </a:lnTo>
                <a:close/>
              </a:path>
            </a:pathLst>
          </a:custGeom>
          <a:blipFill>
            <a:blip r:embed="rId6"/>
            <a:stretch>
              <a:fillRect l="0" t="0" r="0" b="0"/>
            </a:stretch>
          </a:blipFill>
        </p:spPr>
      </p:sp>
      <p:sp>
        <p:nvSpPr>
          <p:cNvPr name="Freeform 7" id="7"/>
          <p:cNvSpPr/>
          <p:nvPr/>
        </p:nvSpPr>
        <p:spPr>
          <a:xfrm flipH="false" flipV="false" rot="0">
            <a:off x="1552610" y="5000252"/>
            <a:ext cx="7549025" cy="4850280"/>
          </a:xfrm>
          <a:custGeom>
            <a:avLst/>
            <a:gdLst/>
            <a:ahLst/>
            <a:cxnLst/>
            <a:rect r="r" b="b" t="t" l="l"/>
            <a:pathLst>
              <a:path h="4850280" w="7549025">
                <a:moveTo>
                  <a:pt x="0" y="0"/>
                </a:moveTo>
                <a:lnTo>
                  <a:pt x="7549025" y="0"/>
                </a:lnTo>
                <a:lnTo>
                  <a:pt x="7549025" y="4850279"/>
                </a:lnTo>
                <a:lnTo>
                  <a:pt x="0" y="4850279"/>
                </a:lnTo>
                <a:lnTo>
                  <a:pt x="0" y="0"/>
                </a:lnTo>
                <a:close/>
              </a:path>
            </a:pathLst>
          </a:custGeom>
          <a:blipFill>
            <a:blip r:embed="rId7"/>
            <a:stretch>
              <a:fillRect l="0" t="0" r="0" b="0"/>
            </a:stretch>
          </a:blipFill>
        </p:spPr>
      </p:sp>
      <p:sp>
        <p:nvSpPr>
          <p:cNvPr name="TextBox 8" id="8"/>
          <p:cNvSpPr txBox="true"/>
          <p:nvPr/>
        </p:nvSpPr>
        <p:spPr>
          <a:xfrm rot="0">
            <a:off x="446590" y="409521"/>
            <a:ext cx="9761066" cy="619179"/>
          </a:xfrm>
          <a:prstGeom prst="rect">
            <a:avLst/>
          </a:prstGeom>
        </p:spPr>
        <p:txBody>
          <a:bodyPr anchor="t" rtlCol="false" tIns="0" lIns="0" bIns="0" rIns="0">
            <a:spAutoFit/>
          </a:bodyPr>
          <a:lstStyle/>
          <a:p>
            <a:pPr algn="l" marL="0" indent="0" lvl="0">
              <a:lnSpc>
                <a:spcPts val="4800"/>
              </a:lnSpc>
              <a:spcBef>
                <a:spcPct val="0"/>
              </a:spcBef>
            </a:pPr>
            <a:r>
              <a:rPr lang="en-US" b="true" sz="4000">
                <a:solidFill>
                  <a:srgbClr val="FF9A00"/>
                </a:solidFill>
                <a:latin typeface="Muli Bold"/>
                <a:ea typeface="Muli Bold"/>
                <a:cs typeface="Muli Bold"/>
                <a:sym typeface="Muli Bold"/>
              </a:rPr>
              <a:t>CẤU HÌNH MOODLE</a:t>
            </a:r>
          </a:p>
        </p:txBody>
      </p:sp>
      <p:sp>
        <p:nvSpPr>
          <p:cNvPr name="TextBox 9" id="9"/>
          <p:cNvSpPr txBox="true"/>
          <p:nvPr/>
        </p:nvSpPr>
        <p:spPr>
          <a:xfrm rot="0">
            <a:off x="514350" y="1215127"/>
            <a:ext cx="9922806" cy="3055240"/>
          </a:xfrm>
          <a:prstGeom prst="rect">
            <a:avLst/>
          </a:prstGeom>
        </p:spPr>
        <p:txBody>
          <a:bodyPr anchor="t" rtlCol="false" tIns="0" lIns="0" bIns="0" rIns="0">
            <a:spAutoFit/>
          </a:bodyPr>
          <a:lstStyle/>
          <a:p>
            <a:pPr algn="just" marL="0" indent="0" lvl="0">
              <a:lnSpc>
                <a:spcPts val="3450"/>
              </a:lnSpc>
              <a:spcBef>
                <a:spcPct val="0"/>
              </a:spcBef>
            </a:pPr>
            <a:r>
              <a:rPr lang="en-US" sz="2300">
                <a:solidFill>
                  <a:srgbClr val="FFFFFF"/>
                </a:solidFill>
                <a:latin typeface="DejaVu Serif"/>
                <a:ea typeface="DejaVu Serif"/>
                <a:cs typeface="DejaVu Serif"/>
                <a:sym typeface="DejaVu Serif"/>
              </a:rPr>
              <a:t>     T</a:t>
            </a:r>
            <a:r>
              <a:rPr lang="en-US" sz="2300" strike="noStrike" u="none">
                <a:solidFill>
                  <a:srgbClr val="FFFFFF"/>
                </a:solidFill>
                <a:latin typeface="DejaVu Serif"/>
                <a:ea typeface="DejaVu Serif"/>
                <a:cs typeface="DejaVu Serif"/>
                <a:sym typeface="DejaVu Serif"/>
              </a:rPr>
              <a:t>hực hiện cấu hình dịch vụ ngoài (External Service) trong Moodle, thêm người dùng thử nghiệm để xác thực cho dịch vụ ngoài, thêm các hàm API cần thiết và tạo token xác thực. </a:t>
            </a:r>
          </a:p>
          <a:p>
            <a:pPr algn="just" marL="0" indent="0" lvl="0">
              <a:lnSpc>
                <a:spcPts val="3450"/>
              </a:lnSpc>
              <a:spcBef>
                <a:spcPct val="0"/>
              </a:spcBef>
            </a:pPr>
            <a:r>
              <a:rPr lang="en-US" sz="2300" strike="noStrike" u="none">
                <a:solidFill>
                  <a:srgbClr val="FFFFFF"/>
                </a:solidFill>
                <a:latin typeface="DejaVu Serif"/>
                <a:ea typeface="DejaVu Serif"/>
                <a:cs typeface="DejaVu Serif"/>
                <a:sym typeface="DejaVu Serif"/>
              </a:rPr>
              <a:t>      </a:t>
            </a:r>
            <a:r>
              <a:rPr lang="en-US" sz="2300" strike="noStrike" u="none">
                <a:solidFill>
                  <a:srgbClr val="FFFFFF"/>
                </a:solidFill>
                <a:latin typeface="DejaVu Serif"/>
                <a:ea typeface="DejaVu Serif"/>
                <a:cs typeface="DejaVu Serif"/>
                <a:sym typeface="DejaVu Serif"/>
              </a:rPr>
              <a:t>Thông qua Moodle Web Service API, backend có thể truy xuất dữ liệu khóa học, bài tập, bài nộp và thông tin người dùng, tạo nền tảng cho các chức năng gợi ý học tập, phân tích bài làm và hỗ trợ hội thoại theo ngữ cảnh.</a:t>
            </a:r>
          </a:p>
        </p:txBody>
      </p:sp>
      <p:sp>
        <p:nvSpPr>
          <p:cNvPr name="TextBox 10" id="10"/>
          <p:cNvSpPr txBox="true"/>
          <p:nvPr/>
        </p:nvSpPr>
        <p:spPr>
          <a:xfrm rot="0">
            <a:off x="11837977" y="649660"/>
            <a:ext cx="5144674" cy="340940"/>
          </a:xfrm>
          <a:prstGeom prst="rect">
            <a:avLst/>
          </a:prstGeom>
        </p:spPr>
        <p:txBody>
          <a:bodyPr anchor="t" rtlCol="false" tIns="0" lIns="0" bIns="0" rIns="0">
            <a:spAutoFit/>
          </a:bodyPr>
          <a:lstStyle/>
          <a:p>
            <a:pPr algn="ctr" marL="0" indent="0" lvl="0">
              <a:lnSpc>
                <a:spcPts val="2700"/>
              </a:lnSpc>
              <a:spcBef>
                <a:spcPct val="0"/>
              </a:spcBef>
            </a:pPr>
            <a:r>
              <a:rPr lang="en-US" sz="1800" strike="noStrike" u="none">
                <a:solidFill>
                  <a:srgbClr val="FFFFFF"/>
                </a:solidFill>
                <a:latin typeface="DejaVu Serif"/>
                <a:ea typeface="DejaVu Serif"/>
                <a:cs typeface="DejaVu Serif"/>
                <a:sym typeface="DejaVu Serif"/>
              </a:rPr>
              <a:t>Tạo dịch vụ ngoài cho Moodle</a:t>
            </a:r>
          </a:p>
        </p:txBody>
      </p:sp>
      <p:sp>
        <p:nvSpPr>
          <p:cNvPr name="TextBox 11" id="11"/>
          <p:cNvSpPr txBox="true"/>
          <p:nvPr/>
        </p:nvSpPr>
        <p:spPr>
          <a:xfrm rot="0">
            <a:off x="10891092" y="6583167"/>
            <a:ext cx="7051846" cy="340940"/>
          </a:xfrm>
          <a:prstGeom prst="rect">
            <a:avLst/>
          </a:prstGeom>
        </p:spPr>
        <p:txBody>
          <a:bodyPr anchor="t" rtlCol="false" tIns="0" lIns="0" bIns="0" rIns="0">
            <a:spAutoFit/>
          </a:bodyPr>
          <a:lstStyle/>
          <a:p>
            <a:pPr algn="ctr" marL="0" indent="0" lvl="0">
              <a:lnSpc>
                <a:spcPts val="2700"/>
              </a:lnSpc>
              <a:spcBef>
                <a:spcPct val="0"/>
              </a:spcBef>
            </a:pPr>
            <a:r>
              <a:rPr lang="en-US" sz="1800">
                <a:solidFill>
                  <a:srgbClr val="FFFFFF"/>
                </a:solidFill>
                <a:latin typeface="DejaVu Serif"/>
                <a:ea typeface="DejaVu Serif"/>
                <a:cs typeface="DejaVu Serif"/>
                <a:sym typeface="DejaVu Serif"/>
              </a:rPr>
              <a:t>Xác thực người dùng thử nghiệm cho dịch vụ </a:t>
            </a:r>
          </a:p>
        </p:txBody>
      </p:sp>
      <p:sp>
        <p:nvSpPr>
          <p:cNvPr name="TextBox 12" id="12"/>
          <p:cNvSpPr txBox="true"/>
          <p:nvPr/>
        </p:nvSpPr>
        <p:spPr>
          <a:xfrm rot="0">
            <a:off x="1801200" y="4565297"/>
            <a:ext cx="7051846" cy="340940"/>
          </a:xfrm>
          <a:prstGeom prst="rect">
            <a:avLst/>
          </a:prstGeom>
        </p:spPr>
        <p:txBody>
          <a:bodyPr anchor="t" rtlCol="false" tIns="0" lIns="0" bIns="0" rIns="0">
            <a:spAutoFit/>
          </a:bodyPr>
          <a:lstStyle/>
          <a:p>
            <a:pPr algn="ctr" marL="0" indent="0" lvl="0">
              <a:lnSpc>
                <a:spcPts val="2700"/>
              </a:lnSpc>
              <a:spcBef>
                <a:spcPct val="0"/>
              </a:spcBef>
            </a:pPr>
            <a:r>
              <a:rPr lang="en-US" sz="1800">
                <a:solidFill>
                  <a:srgbClr val="FFFFFF"/>
                </a:solidFill>
                <a:latin typeface="DejaVu Serif"/>
                <a:ea typeface="DejaVu Serif"/>
                <a:cs typeface="DejaVu Serif"/>
                <a:sym typeface="DejaVu Serif"/>
              </a:rPr>
              <a:t>Thêm các hàm cần thiết cho dịch vụ</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3293613" y="9970789"/>
            <a:ext cx="3815200" cy="3815200"/>
          </a:xfrm>
          <a:custGeom>
            <a:avLst/>
            <a:gdLst/>
            <a:ahLst/>
            <a:cxnLst/>
            <a:rect r="r" b="b" t="t" l="l"/>
            <a:pathLst>
              <a:path h="3815200" w="3815200">
                <a:moveTo>
                  <a:pt x="0" y="0"/>
                </a:moveTo>
                <a:lnTo>
                  <a:pt x="3815200" y="0"/>
                </a:lnTo>
                <a:lnTo>
                  <a:pt x="3815200" y="3815201"/>
                </a:lnTo>
                <a:lnTo>
                  <a:pt x="0" y="381520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8612553" y="2448411"/>
            <a:ext cx="9365619" cy="6809889"/>
          </a:xfrm>
          <a:custGeom>
            <a:avLst/>
            <a:gdLst/>
            <a:ahLst/>
            <a:cxnLst/>
            <a:rect r="r" b="b" t="t" l="l"/>
            <a:pathLst>
              <a:path h="6809889" w="9365619">
                <a:moveTo>
                  <a:pt x="0" y="0"/>
                </a:moveTo>
                <a:lnTo>
                  <a:pt x="9365619" y="0"/>
                </a:lnTo>
                <a:lnTo>
                  <a:pt x="9365619" y="6809889"/>
                </a:lnTo>
                <a:lnTo>
                  <a:pt x="0" y="6809889"/>
                </a:lnTo>
                <a:lnTo>
                  <a:pt x="0" y="0"/>
                </a:lnTo>
                <a:close/>
              </a:path>
            </a:pathLst>
          </a:custGeom>
          <a:blipFill>
            <a:blip r:embed="rId5"/>
            <a:stretch>
              <a:fillRect l="0" t="0" r="0" b="0"/>
            </a:stretch>
          </a:blipFill>
        </p:spPr>
      </p:sp>
      <p:sp>
        <p:nvSpPr>
          <p:cNvPr name="TextBox 6" id="6"/>
          <p:cNvSpPr txBox="true"/>
          <p:nvPr/>
        </p:nvSpPr>
        <p:spPr>
          <a:xfrm rot="0">
            <a:off x="446590" y="409521"/>
            <a:ext cx="9761066" cy="619179"/>
          </a:xfrm>
          <a:prstGeom prst="rect">
            <a:avLst/>
          </a:prstGeom>
        </p:spPr>
        <p:txBody>
          <a:bodyPr anchor="t" rtlCol="false" tIns="0" lIns="0" bIns="0" rIns="0">
            <a:spAutoFit/>
          </a:bodyPr>
          <a:lstStyle/>
          <a:p>
            <a:pPr algn="l" marL="0" indent="0" lvl="0">
              <a:lnSpc>
                <a:spcPts val="4800"/>
              </a:lnSpc>
              <a:spcBef>
                <a:spcPct val="0"/>
              </a:spcBef>
            </a:pPr>
            <a:r>
              <a:rPr lang="en-US" b="true" sz="4000">
                <a:solidFill>
                  <a:srgbClr val="FF9A00"/>
                </a:solidFill>
                <a:latin typeface="Muli Bold"/>
                <a:ea typeface="Muli Bold"/>
                <a:cs typeface="Muli Bold"/>
                <a:sym typeface="Muli Bold"/>
              </a:rPr>
              <a:t>KIẾN TRÚC TỔNG THỂ HỆ THỐNG</a:t>
            </a:r>
          </a:p>
        </p:txBody>
      </p:sp>
      <p:sp>
        <p:nvSpPr>
          <p:cNvPr name="TextBox 7" id="7"/>
          <p:cNvSpPr txBox="true"/>
          <p:nvPr/>
        </p:nvSpPr>
        <p:spPr>
          <a:xfrm rot="0">
            <a:off x="809731" y="1122230"/>
            <a:ext cx="16038717" cy="864761"/>
          </a:xfrm>
          <a:prstGeom prst="rect">
            <a:avLst/>
          </a:prstGeom>
        </p:spPr>
        <p:txBody>
          <a:bodyPr anchor="t" rtlCol="false" tIns="0" lIns="0" bIns="0" rIns="0">
            <a:spAutoFit/>
          </a:bodyPr>
          <a:lstStyle/>
          <a:p>
            <a:pPr algn="just" marL="0" indent="0" lvl="0">
              <a:lnSpc>
                <a:spcPts val="3450"/>
              </a:lnSpc>
              <a:spcBef>
                <a:spcPct val="0"/>
              </a:spcBef>
            </a:pPr>
            <a:r>
              <a:rPr lang="en-US" sz="2300" strike="noStrike" u="none">
                <a:solidFill>
                  <a:srgbClr val="FFFFFF"/>
                </a:solidFill>
                <a:latin typeface="DejaVu Serif"/>
                <a:ea typeface="DejaVu Serif"/>
                <a:cs typeface="DejaVu Serif"/>
                <a:sym typeface="DejaVu Serif"/>
              </a:rPr>
              <a:t>Hệ thống được xây dựng gồm các thành phần chính là: Frontend, Backend, Moodle, Database và ChatClient gọi đến mô hình ngôn ngữ lớn GPT-5.4 mini để sinh phản hồi</a:t>
            </a:r>
          </a:p>
        </p:txBody>
      </p:sp>
      <p:sp>
        <p:nvSpPr>
          <p:cNvPr name="TextBox 8" id="8"/>
          <p:cNvSpPr txBox="true"/>
          <p:nvPr/>
        </p:nvSpPr>
        <p:spPr>
          <a:xfrm rot="0">
            <a:off x="3713903" y="2381736"/>
            <a:ext cx="4540428" cy="1026631"/>
          </a:xfrm>
          <a:prstGeom prst="rect">
            <a:avLst/>
          </a:prstGeom>
        </p:spPr>
        <p:txBody>
          <a:bodyPr anchor="t" rtlCol="false" tIns="0" lIns="0" bIns="0" rIns="0">
            <a:spAutoFit/>
          </a:bodyPr>
          <a:lstStyle/>
          <a:p>
            <a:pPr algn="just" marL="0" indent="0" lvl="0">
              <a:lnSpc>
                <a:spcPts val="2700"/>
              </a:lnSpc>
              <a:spcBef>
                <a:spcPct val="0"/>
              </a:spcBef>
            </a:pPr>
            <a:r>
              <a:rPr lang="en-US" sz="1800" strike="noStrike" u="none">
                <a:solidFill>
                  <a:srgbClr val="FFFFFF"/>
                </a:solidFill>
                <a:latin typeface="DejaVu Serif"/>
                <a:ea typeface="DejaVu Serif"/>
                <a:cs typeface="DejaVu Serif"/>
                <a:sym typeface="DejaVu Serif"/>
              </a:rPr>
              <a:t>Cung cấp giao diện chatbot, tiếp nhận yêu cầu từ người dùng và giao tiếp với backend thông qua REST API.</a:t>
            </a:r>
          </a:p>
        </p:txBody>
      </p:sp>
      <p:sp>
        <p:nvSpPr>
          <p:cNvPr name="TextBox 9" id="9"/>
          <p:cNvSpPr txBox="true"/>
          <p:nvPr/>
        </p:nvSpPr>
        <p:spPr>
          <a:xfrm rot="0">
            <a:off x="3713903" y="3886176"/>
            <a:ext cx="4540428" cy="1026631"/>
          </a:xfrm>
          <a:prstGeom prst="rect">
            <a:avLst/>
          </a:prstGeom>
        </p:spPr>
        <p:txBody>
          <a:bodyPr anchor="t" rtlCol="false" tIns="0" lIns="0" bIns="0" rIns="0">
            <a:spAutoFit/>
          </a:bodyPr>
          <a:lstStyle/>
          <a:p>
            <a:pPr algn="just" marL="0" indent="0" lvl="0">
              <a:lnSpc>
                <a:spcPts val="2700"/>
              </a:lnSpc>
              <a:spcBef>
                <a:spcPct val="0"/>
              </a:spcBef>
            </a:pPr>
            <a:r>
              <a:rPr lang="en-US" sz="1800">
                <a:solidFill>
                  <a:srgbClr val="FFFFFF"/>
                </a:solidFill>
                <a:latin typeface="DejaVu Serif"/>
                <a:ea typeface="DejaVu Serif"/>
                <a:cs typeface="DejaVu Serif"/>
                <a:sym typeface="DejaVu Serif"/>
              </a:rPr>
              <a:t>Đ</a:t>
            </a:r>
            <a:r>
              <a:rPr lang="en-US" sz="1800" strike="noStrike" u="none">
                <a:solidFill>
                  <a:srgbClr val="FFFFFF"/>
                </a:solidFill>
                <a:latin typeface="DejaVu Serif"/>
                <a:ea typeface="DejaVu Serif"/>
                <a:cs typeface="DejaVu Serif"/>
                <a:sym typeface="DejaVu Serif"/>
              </a:rPr>
              <a:t>óng vai trò trung tâm, xử lý nghiệp vụ, xây dựng prompt, quản lý ngữ cảnh hội thoại và điều phối luồng dữ liệu.</a:t>
            </a:r>
          </a:p>
        </p:txBody>
      </p:sp>
      <p:sp>
        <p:nvSpPr>
          <p:cNvPr name="TextBox 10" id="10"/>
          <p:cNvSpPr txBox="true"/>
          <p:nvPr/>
        </p:nvSpPr>
        <p:spPr>
          <a:xfrm rot="0">
            <a:off x="3713903" y="5386189"/>
            <a:ext cx="4540428" cy="1026631"/>
          </a:xfrm>
          <a:prstGeom prst="rect">
            <a:avLst/>
          </a:prstGeom>
        </p:spPr>
        <p:txBody>
          <a:bodyPr anchor="t" rtlCol="false" tIns="0" lIns="0" bIns="0" rIns="0">
            <a:spAutoFit/>
          </a:bodyPr>
          <a:lstStyle/>
          <a:p>
            <a:pPr algn="just" marL="0" indent="0" lvl="0">
              <a:lnSpc>
                <a:spcPts val="2700"/>
              </a:lnSpc>
              <a:spcBef>
                <a:spcPct val="0"/>
              </a:spcBef>
            </a:pPr>
            <a:r>
              <a:rPr lang="en-US" sz="1800" strike="noStrike" u="none">
                <a:solidFill>
                  <a:srgbClr val="FFFFFF"/>
                </a:solidFill>
                <a:latin typeface="DejaVu Serif"/>
                <a:ea typeface="DejaVu Serif"/>
                <a:cs typeface="DejaVu Serif"/>
                <a:sym typeface="DejaVu Serif"/>
              </a:rPr>
              <a:t>Web Service API được sử dụng để khai thác dữ liệu khóa học, bài tập và bài nộp phục vụ quá trình hỗ trợ học tập.</a:t>
            </a:r>
          </a:p>
        </p:txBody>
      </p:sp>
      <p:sp>
        <p:nvSpPr>
          <p:cNvPr name="TextBox 11" id="11"/>
          <p:cNvSpPr txBox="true"/>
          <p:nvPr/>
        </p:nvSpPr>
        <p:spPr>
          <a:xfrm rot="0">
            <a:off x="3713903" y="6714780"/>
            <a:ext cx="4540428" cy="1369477"/>
          </a:xfrm>
          <a:prstGeom prst="rect">
            <a:avLst/>
          </a:prstGeom>
        </p:spPr>
        <p:txBody>
          <a:bodyPr anchor="t" rtlCol="false" tIns="0" lIns="0" bIns="0" rIns="0">
            <a:spAutoFit/>
          </a:bodyPr>
          <a:lstStyle/>
          <a:p>
            <a:pPr algn="just" marL="0" indent="0" lvl="0">
              <a:lnSpc>
                <a:spcPts val="2700"/>
              </a:lnSpc>
              <a:spcBef>
                <a:spcPct val="0"/>
              </a:spcBef>
            </a:pPr>
            <a:r>
              <a:rPr lang="en-US" sz="1800">
                <a:solidFill>
                  <a:srgbClr val="FFFFFF"/>
                </a:solidFill>
                <a:latin typeface="DejaVu Serif"/>
                <a:ea typeface="DejaVu Serif"/>
                <a:cs typeface="DejaVu Serif"/>
                <a:sym typeface="DejaVu Serif"/>
              </a:rPr>
              <a:t>Sử dụng ChatClient gợi đến mô hình</a:t>
            </a:r>
            <a:r>
              <a:rPr lang="en-US" sz="1800" strike="noStrike" u="none">
                <a:solidFill>
                  <a:srgbClr val="FFFFFF"/>
                </a:solidFill>
                <a:latin typeface="DejaVu Serif"/>
                <a:ea typeface="DejaVu Serif"/>
                <a:cs typeface="DejaVu Serif"/>
                <a:sym typeface="DejaVu Serif"/>
              </a:rPr>
              <a:t> GPT-5.4 mini tạo phản hồi thông minh như gợi ý thực hiện bài tập, phân tích mã nguồn và hỗ trợ hỏi đáp lập trình.</a:t>
            </a:r>
          </a:p>
        </p:txBody>
      </p:sp>
      <p:sp>
        <p:nvSpPr>
          <p:cNvPr name="TextBox 12" id="12"/>
          <p:cNvSpPr txBox="true"/>
          <p:nvPr/>
        </p:nvSpPr>
        <p:spPr>
          <a:xfrm rot="0">
            <a:off x="3713903" y="8386216"/>
            <a:ext cx="4540428" cy="1369477"/>
          </a:xfrm>
          <a:prstGeom prst="rect">
            <a:avLst/>
          </a:prstGeom>
        </p:spPr>
        <p:txBody>
          <a:bodyPr anchor="t" rtlCol="false" tIns="0" lIns="0" bIns="0" rIns="0">
            <a:spAutoFit/>
          </a:bodyPr>
          <a:lstStyle/>
          <a:p>
            <a:pPr algn="just" marL="0" indent="0" lvl="0">
              <a:lnSpc>
                <a:spcPts val="2700"/>
              </a:lnSpc>
              <a:spcBef>
                <a:spcPct val="0"/>
              </a:spcBef>
            </a:pPr>
            <a:r>
              <a:rPr lang="en-US" sz="1800" strike="noStrike" u="none">
                <a:solidFill>
                  <a:srgbClr val="FFFFFF"/>
                </a:solidFill>
                <a:latin typeface="DejaVu Serif"/>
                <a:ea typeface="DejaVu Serif"/>
                <a:cs typeface="DejaVu Serif"/>
                <a:sym typeface="DejaVu Serif"/>
              </a:rPr>
              <a:t>PostgreSQL đóng vai trò lưu trữ duy trì ngữ cảnh hội thoại (Chat Memory), trong khi MongoDB lưu kết quả phân tích và dữ liệu gợi ý.</a:t>
            </a:r>
          </a:p>
        </p:txBody>
      </p:sp>
      <p:grpSp>
        <p:nvGrpSpPr>
          <p:cNvPr name="Group 13" id="13"/>
          <p:cNvGrpSpPr/>
          <p:nvPr/>
        </p:nvGrpSpPr>
        <p:grpSpPr>
          <a:xfrm rot="0">
            <a:off x="195096" y="2609152"/>
            <a:ext cx="2988606" cy="647326"/>
            <a:chOff x="0" y="0"/>
            <a:chExt cx="3984809" cy="863102"/>
          </a:xfrm>
        </p:grpSpPr>
        <p:grpSp>
          <p:nvGrpSpPr>
            <p:cNvPr name="Group 14" id="14"/>
            <p:cNvGrpSpPr/>
            <p:nvPr/>
          </p:nvGrpSpPr>
          <p:grpSpPr>
            <a:xfrm rot="0">
              <a:off x="0" y="0"/>
              <a:ext cx="3984809" cy="863102"/>
              <a:chOff x="0" y="0"/>
              <a:chExt cx="544115" cy="117854"/>
            </a:xfrm>
          </p:grpSpPr>
          <p:sp>
            <p:nvSpPr>
              <p:cNvPr name="Freeform 15" id="15"/>
              <p:cNvSpPr/>
              <p:nvPr/>
            </p:nvSpPr>
            <p:spPr>
              <a:xfrm flipH="false" flipV="false" rot="0">
                <a:off x="0" y="0"/>
                <a:ext cx="544115" cy="117854"/>
              </a:xfrm>
              <a:custGeom>
                <a:avLst/>
                <a:gdLst/>
                <a:ahLst/>
                <a:cxnLst/>
                <a:rect r="r" b="b" t="t" l="l"/>
                <a:pathLst>
                  <a:path h="117854" w="544115">
                    <a:moveTo>
                      <a:pt x="272057" y="0"/>
                    </a:moveTo>
                    <a:cubicBezTo>
                      <a:pt x="121804" y="0"/>
                      <a:pt x="0" y="26383"/>
                      <a:pt x="0" y="58927"/>
                    </a:cubicBezTo>
                    <a:cubicBezTo>
                      <a:pt x="0" y="91472"/>
                      <a:pt x="121804" y="117854"/>
                      <a:pt x="272057" y="117854"/>
                    </a:cubicBezTo>
                    <a:cubicBezTo>
                      <a:pt x="422310" y="117854"/>
                      <a:pt x="544115" y="91472"/>
                      <a:pt x="544115" y="58927"/>
                    </a:cubicBezTo>
                    <a:cubicBezTo>
                      <a:pt x="544115" y="26383"/>
                      <a:pt x="422310" y="0"/>
                      <a:pt x="272057" y="0"/>
                    </a:cubicBezTo>
                    <a:close/>
                  </a:path>
                </a:pathLst>
              </a:custGeom>
              <a:blipFill>
                <a:blip r:embed="rId4"/>
                <a:stretch>
                  <a:fillRect l="0" t="-15501" r="0" b="-15501"/>
                </a:stretch>
              </a:blipFill>
            </p:spPr>
          </p:sp>
        </p:grpSp>
        <p:sp>
          <p:nvSpPr>
            <p:cNvPr name="TextBox 16" id="16"/>
            <p:cNvSpPr txBox="true"/>
            <p:nvPr/>
          </p:nvSpPr>
          <p:spPr>
            <a:xfrm rot="0">
              <a:off x="764888" y="121707"/>
              <a:ext cx="2455033" cy="543487"/>
            </a:xfrm>
            <a:prstGeom prst="rect">
              <a:avLst/>
            </a:prstGeom>
          </p:spPr>
          <p:txBody>
            <a:bodyPr anchor="t" rtlCol="false" tIns="0" lIns="0" bIns="0" rIns="0">
              <a:spAutoFit/>
            </a:bodyPr>
            <a:lstStyle/>
            <a:p>
              <a:pPr algn="ctr" marL="0" indent="0" lvl="0">
                <a:lnSpc>
                  <a:spcPts val="3450"/>
                </a:lnSpc>
                <a:spcBef>
                  <a:spcPct val="0"/>
                </a:spcBef>
              </a:pPr>
              <a:r>
                <a:rPr lang="en-US" sz="2300" strike="noStrike" u="none">
                  <a:solidFill>
                    <a:srgbClr val="17E3B2"/>
                  </a:solidFill>
                  <a:latin typeface="DejaVu Serif"/>
                  <a:ea typeface="DejaVu Serif"/>
                  <a:cs typeface="DejaVu Serif"/>
                  <a:sym typeface="DejaVu Serif"/>
                </a:rPr>
                <a:t>Frontend</a:t>
              </a:r>
            </a:p>
          </p:txBody>
        </p:sp>
      </p:grpSp>
      <p:grpSp>
        <p:nvGrpSpPr>
          <p:cNvPr name="Group 17" id="17"/>
          <p:cNvGrpSpPr/>
          <p:nvPr/>
        </p:nvGrpSpPr>
        <p:grpSpPr>
          <a:xfrm rot="0">
            <a:off x="195096" y="4109166"/>
            <a:ext cx="2988606" cy="647326"/>
            <a:chOff x="0" y="0"/>
            <a:chExt cx="3984809" cy="863102"/>
          </a:xfrm>
        </p:grpSpPr>
        <p:grpSp>
          <p:nvGrpSpPr>
            <p:cNvPr name="Group 18" id="18"/>
            <p:cNvGrpSpPr/>
            <p:nvPr/>
          </p:nvGrpSpPr>
          <p:grpSpPr>
            <a:xfrm rot="0">
              <a:off x="0" y="0"/>
              <a:ext cx="3984809" cy="863102"/>
              <a:chOff x="0" y="0"/>
              <a:chExt cx="544115" cy="117854"/>
            </a:xfrm>
          </p:grpSpPr>
          <p:sp>
            <p:nvSpPr>
              <p:cNvPr name="Freeform 19" id="19"/>
              <p:cNvSpPr/>
              <p:nvPr/>
            </p:nvSpPr>
            <p:spPr>
              <a:xfrm flipH="false" flipV="false" rot="0">
                <a:off x="0" y="0"/>
                <a:ext cx="544115" cy="117854"/>
              </a:xfrm>
              <a:custGeom>
                <a:avLst/>
                <a:gdLst/>
                <a:ahLst/>
                <a:cxnLst/>
                <a:rect r="r" b="b" t="t" l="l"/>
                <a:pathLst>
                  <a:path h="117854" w="544115">
                    <a:moveTo>
                      <a:pt x="272057" y="0"/>
                    </a:moveTo>
                    <a:cubicBezTo>
                      <a:pt x="121804" y="0"/>
                      <a:pt x="0" y="26383"/>
                      <a:pt x="0" y="58927"/>
                    </a:cubicBezTo>
                    <a:cubicBezTo>
                      <a:pt x="0" y="91472"/>
                      <a:pt x="121804" y="117854"/>
                      <a:pt x="272057" y="117854"/>
                    </a:cubicBezTo>
                    <a:cubicBezTo>
                      <a:pt x="422310" y="117854"/>
                      <a:pt x="544115" y="91472"/>
                      <a:pt x="544115" y="58927"/>
                    </a:cubicBezTo>
                    <a:cubicBezTo>
                      <a:pt x="544115" y="26383"/>
                      <a:pt x="422310" y="0"/>
                      <a:pt x="272057" y="0"/>
                    </a:cubicBezTo>
                    <a:close/>
                  </a:path>
                </a:pathLst>
              </a:custGeom>
              <a:blipFill>
                <a:blip r:embed="rId4"/>
                <a:stretch>
                  <a:fillRect l="0" t="-15501" r="0" b="-15501"/>
                </a:stretch>
              </a:blipFill>
            </p:spPr>
          </p:sp>
        </p:grpSp>
        <p:sp>
          <p:nvSpPr>
            <p:cNvPr name="TextBox 20" id="20"/>
            <p:cNvSpPr txBox="true"/>
            <p:nvPr/>
          </p:nvSpPr>
          <p:spPr>
            <a:xfrm rot="0">
              <a:off x="883995" y="121707"/>
              <a:ext cx="2216818" cy="543487"/>
            </a:xfrm>
            <a:prstGeom prst="rect">
              <a:avLst/>
            </a:prstGeom>
          </p:spPr>
          <p:txBody>
            <a:bodyPr anchor="t" rtlCol="false" tIns="0" lIns="0" bIns="0" rIns="0">
              <a:spAutoFit/>
            </a:bodyPr>
            <a:lstStyle/>
            <a:p>
              <a:pPr algn="ctr" marL="0" indent="0" lvl="0">
                <a:lnSpc>
                  <a:spcPts val="3450"/>
                </a:lnSpc>
                <a:spcBef>
                  <a:spcPct val="0"/>
                </a:spcBef>
              </a:pPr>
              <a:r>
                <a:rPr lang="en-US" sz="2300" strike="noStrike" u="none">
                  <a:solidFill>
                    <a:srgbClr val="17E3B2"/>
                  </a:solidFill>
                  <a:latin typeface="DejaVu Serif"/>
                  <a:ea typeface="DejaVu Serif"/>
                  <a:cs typeface="DejaVu Serif"/>
                  <a:sym typeface="DejaVu Serif"/>
                </a:rPr>
                <a:t>Backend</a:t>
              </a:r>
            </a:p>
          </p:txBody>
        </p:sp>
      </p:grpSp>
      <p:grpSp>
        <p:nvGrpSpPr>
          <p:cNvPr name="Group 21" id="21"/>
          <p:cNvGrpSpPr/>
          <p:nvPr/>
        </p:nvGrpSpPr>
        <p:grpSpPr>
          <a:xfrm rot="0">
            <a:off x="195096" y="5609179"/>
            <a:ext cx="2988606" cy="647326"/>
            <a:chOff x="0" y="0"/>
            <a:chExt cx="3984809" cy="863102"/>
          </a:xfrm>
        </p:grpSpPr>
        <p:grpSp>
          <p:nvGrpSpPr>
            <p:cNvPr name="Group 22" id="22"/>
            <p:cNvGrpSpPr/>
            <p:nvPr/>
          </p:nvGrpSpPr>
          <p:grpSpPr>
            <a:xfrm rot="0">
              <a:off x="0" y="0"/>
              <a:ext cx="3984809" cy="863102"/>
              <a:chOff x="0" y="0"/>
              <a:chExt cx="544115" cy="117854"/>
            </a:xfrm>
          </p:grpSpPr>
          <p:sp>
            <p:nvSpPr>
              <p:cNvPr name="Freeform 23" id="23"/>
              <p:cNvSpPr/>
              <p:nvPr/>
            </p:nvSpPr>
            <p:spPr>
              <a:xfrm flipH="false" flipV="false" rot="0">
                <a:off x="0" y="0"/>
                <a:ext cx="544115" cy="117854"/>
              </a:xfrm>
              <a:custGeom>
                <a:avLst/>
                <a:gdLst/>
                <a:ahLst/>
                <a:cxnLst/>
                <a:rect r="r" b="b" t="t" l="l"/>
                <a:pathLst>
                  <a:path h="117854" w="544115">
                    <a:moveTo>
                      <a:pt x="272057" y="0"/>
                    </a:moveTo>
                    <a:cubicBezTo>
                      <a:pt x="121804" y="0"/>
                      <a:pt x="0" y="26383"/>
                      <a:pt x="0" y="58927"/>
                    </a:cubicBezTo>
                    <a:cubicBezTo>
                      <a:pt x="0" y="91472"/>
                      <a:pt x="121804" y="117854"/>
                      <a:pt x="272057" y="117854"/>
                    </a:cubicBezTo>
                    <a:cubicBezTo>
                      <a:pt x="422310" y="117854"/>
                      <a:pt x="544115" y="91472"/>
                      <a:pt x="544115" y="58927"/>
                    </a:cubicBezTo>
                    <a:cubicBezTo>
                      <a:pt x="544115" y="26383"/>
                      <a:pt x="422310" y="0"/>
                      <a:pt x="272057" y="0"/>
                    </a:cubicBezTo>
                    <a:close/>
                  </a:path>
                </a:pathLst>
              </a:custGeom>
              <a:blipFill>
                <a:blip r:embed="rId4"/>
                <a:stretch>
                  <a:fillRect l="0" t="-15501" r="0" b="-15501"/>
                </a:stretch>
              </a:blipFill>
            </p:spPr>
          </p:sp>
        </p:grpSp>
        <p:sp>
          <p:nvSpPr>
            <p:cNvPr name="TextBox 24" id="24"/>
            <p:cNvSpPr txBox="true"/>
            <p:nvPr/>
          </p:nvSpPr>
          <p:spPr>
            <a:xfrm rot="0">
              <a:off x="1256382" y="121707"/>
              <a:ext cx="1472045" cy="543487"/>
            </a:xfrm>
            <a:prstGeom prst="rect">
              <a:avLst/>
            </a:prstGeom>
          </p:spPr>
          <p:txBody>
            <a:bodyPr anchor="t" rtlCol="false" tIns="0" lIns="0" bIns="0" rIns="0">
              <a:spAutoFit/>
            </a:bodyPr>
            <a:lstStyle/>
            <a:p>
              <a:pPr algn="just" marL="0" indent="0" lvl="0">
                <a:lnSpc>
                  <a:spcPts val="3450"/>
                </a:lnSpc>
                <a:spcBef>
                  <a:spcPct val="0"/>
                </a:spcBef>
              </a:pPr>
              <a:r>
                <a:rPr lang="en-US" sz="2300" strike="noStrike" u="none">
                  <a:solidFill>
                    <a:srgbClr val="17E3B2"/>
                  </a:solidFill>
                  <a:latin typeface="DejaVu Serif"/>
                  <a:ea typeface="DejaVu Serif"/>
                  <a:cs typeface="DejaVu Serif"/>
                  <a:sym typeface="DejaVu Serif"/>
                </a:rPr>
                <a:t>Moodle</a:t>
              </a:r>
            </a:p>
          </p:txBody>
        </p:sp>
      </p:grpSp>
      <p:grpSp>
        <p:nvGrpSpPr>
          <p:cNvPr name="Group 25" id="25"/>
          <p:cNvGrpSpPr/>
          <p:nvPr/>
        </p:nvGrpSpPr>
        <p:grpSpPr>
          <a:xfrm rot="0">
            <a:off x="195096" y="7109193"/>
            <a:ext cx="2988606" cy="647326"/>
            <a:chOff x="0" y="0"/>
            <a:chExt cx="3984809" cy="863102"/>
          </a:xfrm>
        </p:grpSpPr>
        <p:grpSp>
          <p:nvGrpSpPr>
            <p:cNvPr name="Group 26" id="26"/>
            <p:cNvGrpSpPr/>
            <p:nvPr/>
          </p:nvGrpSpPr>
          <p:grpSpPr>
            <a:xfrm rot="0">
              <a:off x="0" y="0"/>
              <a:ext cx="3984809" cy="863102"/>
              <a:chOff x="0" y="0"/>
              <a:chExt cx="544115" cy="117854"/>
            </a:xfrm>
          </p:grpSpPr>
          <p:sp>
            <p:nvSpPr>
              <p:cNvPr name="Freeform 27" id="27"/>
              <p:cNvSpPr/>
              <p:nvPr/>
            </p:nvSpPr>
            <p:spPr>
              <a:xfrm flipH="false" flipV="false" rot="0">
                <a:off x="0" y="0"/>
                <a:ext cx="544115" cy="117854"/>
              </a:xfrm>
              <a:custGeom>
                <a:avLst/>
                <a:gdLst/>
                <a:ahLst/>
                <a:cxnLst/>
                <a:rect r="r" b="b" t="t" l="l"/>
                <a:pathLst>
                  <a:path h="117854" w="544115">
                    <a:moveTo>
                      <a:pt x="272057" y="0"/>
                    </a:moveTo>
                    <a:cubicBezTo>
                      <a:pt x="121804" y="0"/>
                      <a:pt x="0" y="26383"/>
                      <a:pt x="0" y="58927"/>
                    </a:cubicBezTo>
                    <a:cubicBezTo>
                      <a:pt x="0" y="91472"/>
                      <a:pt x="121804" y="117854"/>
                      <a:pt x="272057" y="117854"/>
                    </a:cubicBezTo>
                    <a:cubicBezTo>
                      <a:pt x="422310" y="117854"/>
                      <a:pt x="544115" y="91472"/>
                      <a:pt x="544115" y="58927"/>
                    </a:cubicBezTo>
                    <a:cubicBezTo>
                      <a:pt x="544115" y="26383"/>
                      <a:pt x="422310" y="0"/>
                      <a:pt x="272057" y="0"/>
                    </a:cubicBezTo>
                    <a:close/>
                  </a:path>
                </a:pathLst>
              </a:custGeom>
              <a:blipFill>
                <a:blip r:embed="rId4"/>
                <a:stretch>
                  <a:fillRect l="0" t="-15501" r="0" b="-15501"/>
                </a:stretch>
              </a:blipFill>
            </p:spPr>
          </p:sp>
        </p:grpSp>
        <p:sp>
          <p:nvSpPr>
            <p:cNvPr name="TextBox 28" id="28"/>
            <p:cNvSpPr txBox="true"/>
            <p:nvPr/>
          </p:nvSpPr>
          <p:spPr>
            <a:xfrm rot="0">
              <a:off x="1049465" y="121707"/>
              <a:ext cx="1885878" cy="543487"/>
            </a:xfrm>
            <a:prstGeom prst="rect">
              <a:avLst/>
            </a:prstGeom>
          </p:spPr>
          <p:txBody>
            <a:bodyPr anchor="t" rtlCol="false" tIns="0" lIns="0" bIns="0" rIns="0">
              <a:spAutoFit/>
            </a:bodyPr>
            <a:lstStyle/>
            <a:p>
              <a:pPr algn="just" marL="0" indent="0" lvl="0">
                <a:lnSpc>
                  <a:spcPts val="3450"/>
                </a:lnSpc>
                <a:spcBef>
                  <a:spcPct val="0"/>
                </a:spcBef>
              </a:pPr>
              <a:r>
                <a:rPr lang="en-US" sz="2300" strike="noStrike" u="none">
                  <a:solidFill>
                    <a:srgbClr val="17E3B2"/>
                  </a:solidFill>
                  <a:latin typeface="DejaVu Serif"/>
                  <a:ea typeface="DejaVu Serif"/>
                  <a:cs typeface="DejaVu Serif"/>
                  <a:sym typeface="DejaVu Serif"/>
                </a:rPr>
                <a:t>Spring AI</a:t>
              </a:r>
            </a:p>
          </p:txBody>
        </p:sp>
      </p:grpSp>
      <p:grpSp>
        <p:nvGrpSpPr>
          <p:cNvPr name="Group 29" id="29"/>
          <p:cNvGrpSpPr/>
          <p:nvPr/>
        </p:nvGrpSpPr>
        <p:grpSpPr>
          <a:xfrm rot="0">
            <a:off x="195096" y="8609206"/>
            <a:ext cx="2988606" cy="647326"/>
            <a:chOff x="0" y="0"/>
            <a:chExt cx="3984809" cy="863102"/>
          </a:xfrm>
        </p:grpSpPr>
        <p:grpSp>
          <p:nvGrpSpPr>
            <p:cNvPr name="Group 30" id="30"/>
            <p:cNvGrpSpPr/>
            <p:nvPr/>
          </p:nvGrpSpPr>
          <p:grpSpPr>
            <a:xfrm rot="0">
              <a:off x="0" y="0"/>
              <a:ext cx="3984809" cy="863102"/>
              <a:chOff x="0" y="0"/>
              <a:chExt cx="544115" cy="117854"/>
            </a:xfrm>
          </p:grpSpPr>
          <p:sp>
            <p:nvSpPr>
              <p:cNvPr name="Freeform 31" id="31"/>
              <p:cNvSpPr/>
              <p:nvPr/>
            </p:nvSpPr>
            <p:spPr>
              <a:xfrm flipH="false" flipV="false" rot="0">
                <a:off x="0" y="0"/>
                <a:ext cx="544115" cy="117854"/>
              </a:xfrm>
              <a:custGeom>
                <a:avLst/>
                <a:gdLst/>
                <a:ahLst/>
                <a:cxnLst/>
                <a:rect r="r" b="b" t="t" l="l"/>
                <a:pathLst>
                  <a:path h="117854" w="544115">
                    <a:moveTo>
                      <a:pt x="272057" y="0"/>
                    </a:moveTo>
                    <a:cubicBezTo>
                      <a:pt x="121804" y="0"/>
                      <a:pt x="0" y="26383"/>
                      <a:pt x="0" y="58927"/>
                    </a:cubicBezTo>
                    <a:cubicBezTo>
                      <a:pt x="0" y="91472"/>
                      <a:pt x="121804" y="117854"/>
                      <a:pt x="272057" y="117854"/>
                    </a:cubicBezTo>
                    <a:cubicBezTo>
                      <a:pt x="422310" y="117854"/>
                      <a:pt x="544115" y="91472"/>
                      <a:pt x="544115" y="58927"/>
                    </a:cubicBezTo>
                    <a:cubicBezTo>
                      <a:pt x="544115" y="26383"/>
                      <a:pt x="422310" y="0"/>
                      <a:pt x="272057" y="0"/>
                    </a:cubicBezTo>
                    <a:close/>
                  </a:path>
                </a:pathLst>
              </a:custGeom>
              <a:blipFill>
                <a:blip r:embed="rId4"/>
                <a:stretch>
                  <a:fillRect l="0" t="-15501" r="0" b="-15501"/>
                </a:stretch>
              </a:blipFill>
            </p:spPr>
          </p:sp>
        </p:grpSp>
        <p:sp>
          <p:nvSpPr>
            <p:cNvPr name="TextBox 32" id="32"/>
            <p:cNvSpPr txBox="true"/>
            <p:nvPr/>
          </p:nvSpPr>
          <p:spPr>
            <a:xfrm rot="0">
              <a:off x="1069941" y="121707"/>
              <a:ext cx="1844928" cy="543487"/>
            </a:xfrm>
            <a:prstGeom prst="rect">
              <a:avLst/>
            </a:prstGeom>
          </p:spPr>
          <p:txBody>
            <a:bodyPr anchor="t" rtlCol="false" tIns="0" lIns="0" bIns="0" rIns="0">
              <a:spAutoFit/>
            </a:bodyPr>
            <a:lstStyle/>
            <a:p>
              <a:pPr algn="just" marL="0" indent="0" lvl="0">
                <a:lnSpc>
                  <a:spcPts val="3450"/>
                </a:lnSpc>
                <a:spcBef>
                  <a:spcPct val="0"/>
                </a:spcBef>
              </a:pPr>
              <a:r>
                <a:rPr lang="en-US" sz="2300">
                  <a:solidFill>
                    <a:srgbClr val="17E3B2"/>
                  </a:solidFill>
                  <a:latin typeface="DejaVu Serif"/>
                  <a:ea typeface="DejaVu Serif"/>
                  <a:cs typeface="DejaVu Serif"/>
                  <a:sym typeface="DejaVu Serif"/>
                </a:rPr>
                <a:t>Database</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6114705" y="1403298"/>
            <a:ext cx="7480405" cy="7480405"/>
          </a:xfrm>
          <a:custGeom>
            <a:avLst/>
            <a:gdLst/>
            <a:ahLst/>
            <a:cxnLst/>
            <a:rect r="r" b="b" t="t" l="l"/>
            <a:pathLst>
              <a:path h="7480405" w="7480405">
                <a:moveTo>
                  <a:pt x="0" y="0"/>
                </a:moveTo>
                <a:lnTo>
                  <a:pt x="7480404" y="0"/>
                </a:lnTo>
                <a:lnTo>
                  <a:pt x="7480404" y="7480404"/>
                </a:lnTo>
                <a:lnTo>
                  <a:pt x="0" y="7480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8619736" y="1403298"/>
            <a:ext cx="9178199" cy="8346566"/>
          </a:xfrm>
          <a:custGeom>
            <a:avLst/>
            <a:gdLst/>
            <a:ahLst/>
            <a:cxnLst/>
            <a:rect r="r" b="b" t="t" l="l"/>
            <a:pathLst>
              <a:path h="8346566" w="9178199">
                <a:moveTo>
                  <a:pt x="0" y="0"/>
                </a:moveTo>
                <a:lnTo>
                  <a:pt x="9178198" y="0"/>
                </a:lnTo>
                <a:lnTo>
                  <a:pt x="9178198" y="8346566"/>
                </a:lnTo>
                <a:lnTo>
                  <a:pt x="0" y="8346566"/>
                </a:lnTo>
                <a:lnTo>
                  <a:pt x="0" y="0"/>
                </a:lnTo>
                <a:close/>
              </a:path>
            </a:pathLst>
          </a:custGeom>
          <a:blipFill>
            <a:blip r:embed="rId5"/>
            <a:stretch>
              <a:fillRect l="0" t="0" r="0" b="0"/>
            </a:stretch>
          </a:blipFill>
        </p:spPr>
      </p:sp>
      <p:sp>
        <p:nvSpPr>
          <p:cNvPr name="TextBox 6" id="6"/>
          <p:cNvSpPr txBox="true"/>
          <p:nvPr/>
        </p:nvSpPr>
        <p:spPr>
          <a:xfrm rot="0">
            <a:off x="446590" y="409521"/>
            <a:ext cx="14375825" cy="619179"/>
          </a:xfrm>
          <a:prstGeom prst="rect">
            <a:avLst/>
          </a:prstGeom>
        </p:spPr>
        <p:txBody>
          <a:bodyPr anchor="t" rtlCol="false" tIns="0" lIns="0" bIns="0" rIns="0">
            <a:spAutoFit/>
          </a:bodyPr>
          <a:lstStyle/>
          <a:p>
            <a:pPr algn="l" marL="0" indent="0" lvl="0">
              <a:lnSpc>
                <a:spcPts val="4800"/>
              </a:lnSpc>
              <a:spcBef>
                <a:spcPct val="0"/>
              </a:spcBef>
            </a:pPr>
            <a:r>
              <a:rPr lang="en-US" b="true" sz="4000">
                <a:solidFill>
                  <a:srgbClr val="FF9A00"/>
                </a:solidFill>
                <a:latin typeface="Muli Bold"/>
                <a:ea typeface="Muli Bold"/>
                <a:cs typeface="Muli Bold"/>
                <a:sym typeface="Muli Bold"/>
              </a:rPr>
              <a:t>LUỒNG HOẠT ĐỘNG CHỨC NĂNG GỢI Ý BÀI TẬP</a:t>
            </a:r>
          </a:p>
        </p:txBody>
      </p:sp>
      <p:sp>
        <p:nvSpPr>
          <p:cNvPr name="TextBox 7" id="7"/>
          <p:cNvSpPr txBox="true"/>
          <p:nvPr/>
        </p:nvSpPr>
        <p:spPr>
          <a:xfrm rot="0">
            <a:off x="446590" y="1308048"/>
            <a:ext cx="7705539" cy="4076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1/ Sinh viên gửi yêu cầu gợi ý bài tập từ giao diện.</a:t>
            </a:r>
          </a:p>
        </p:txBody>
      </p:sp>
      <p:sp>
        <p:nvSpPr>
          <p:cNvPr name="TextBox 8" id="8"/>
          <p:cNvSpPr txBox="true"/>
          <p:nvPr/>
        </p:nvSpPr>
        <p:spPr>
          <a:xfrm rot="0">
            <a:off x="446590" y="1888716"/>
            <a:ext cx="7705539"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2/ Backend kiểm tra xem nội dung gợi ý bài tập đã được lưu trong MongoDB hay chưa.</a:t>
            </a:r>
          </a:p>
        </p:txBody>
      </p:sp>
      <p:sp>
        <p:nvSpPr>
          <p:cNvPr name="TextBox 9" id="9"/>
          <p:cNvSpPr txBox="true"/>
          <p:nvPr/>
        </p:nvSpPr>
        <p:spPr>
          <a:xfrm rot="0">
            <a:off x="446590" y="2888485"/>
            <a:ext cx="7705539"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3/ Nếu gợi ý đã tồn tại, hệ thống trả về kết quả ngay cho sinh viên.</a:t>
            </a:r>
          </a:p>
        </p:txBody>
      </p:sp>
      <p:sp>
        <p:nvSpPr>
          <p:cNvPr name="TextBox 10" id="10"/>
          <p:cNvSpPr txBox="true"/>
          <p:nvPr/>
        </p:nvSpPr>
        <p:spPr>
          <a:xfrm rot="0">
            <a:off x="446590" y="3888254"/>
            <a:ext cx="7705539"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4/ Nếu chưa có, backend lấy thông tin bài tập từ Moodle thông qua Web Service API.</a:t>
            </a:r>
          </a:p>
        </p:txBody>
      </p:sp>
      <p:sp>
        <p:nvSpPr>
          <p:cNvPr name="TextBox 11" id="11"/>
          <p:cNvSpPr txBox="true"/>
          <p:nvPr/>
        </p:nvSpPr>
        <p:spPr>
          <a:xfrm rot="0">
            <a:off x="446590" y="4888023"/>
            <a:ext cx="7705539"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5/ Backend xử lý và chuẩn hóa dữ liệu bài tập để làm đầu vào cho AI.</a:t>
            </a:r>
          </a:p>
        </p:txBody>
      </p:sp>
      <p:sp>
        <p:nvSpPr>
          <p:cNvPr name="TextBox 12" id="12"/>
          <p:cNvSpPr txBox="true"/>
          <p:nvPr/>
        </p:nvSpPr>
        <p:spPr>
          <a:xfrm rot="0">
            <a:off x="446590" y="5887791"/>
            <a:ext cx="7705539" cy="4076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6/ Backend xây dựng Prompt dựa trên đề bài.</a:t>
            </a:r>
          </a:p>
        </p:txBody>
      </p:sp>
      <p:sp>
        <p:nvSpPr>
          <p:cNvPr name="TextBox 13" id="13"/>
          <p:cNvSpPr txBox="true"/>
          <p:nvPr/>
        </p:nvSpPr>
        <p:spPr>
          <a:xfrm rot="0">
            <a:off x="446590" y="6468460"/>
            <a:ext cx="7705539" cy="4076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7/ ChatClient gửi prompt đến mô hình GPT-5.4 mini.</a:t>
            </a:r>
          </a:p>
        </p:txBody>
      </p:sp>
      <p:sp>
        <p:nvSpPr>
          <p:cNvPr name="TextBox 14" id="14"/>
          <p:cNvSpPr txBox="true"/>
          <p:nvPr/>
        </p:nvSpPr>
        <p:spPr>
          <a:xfrm rot="0">
            <a:off x="446590" y="7049129"/>
            <a:ext cx="7705539" cy="4076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8/ Mô hình AI sinh nội dung gợi ý.</a:t>
            </a:r>
          </a:p>
        </p:txBody>
      </p:sp>
      <p:sp>
        <p:nvSpPr>
          <p:cNvPr name="TextBox 15" id="15"/>
          <p:cNvSpPr txBox="true"/>
          <p:nvPr/>
        </p:nvSpPr>
        <p:spPr>
          <a:xfrm rot="0">
            <a:off x="446590" y="7629798"/>
            <a:ext cx="7705539"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9/ Kết quả gợi ý được lưu vào MongoDB để truy vấn tái sử dụng cho các chức năng sau.</a:t>
            </a:r>
          </a:p>
        </p:txBody>
      </p:sp>
      <p:sp>
        <p:nvSpPr>
          <p:cNvPr name="TextBox 16" id="16"/>
          <p:cNvSpPr txBox="true"/>
          <p:nvPr/>
        </p:nvSpPr>
        <p:spPr>
          <a:xfrm rot="0">
            <a:off x="446590" y="8629566"/>
            <a:ext cx="7705539"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10/ Backend trả kết quả về giao diện và hiển thị cho sinh viên.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3071049" y="5938190"/>
            <a:ext cx="7480405" cy="7480405"/>
          </a:xfrm>
          <a:custGeom>
            <a:avLst/>
            <a:gdLst/>
            <a:ahLst/>
            <a:cxnLst/>
            <a:rect r="r" b="b" t="t" l="l"/>
            <a:pathLst>
              <a:path h="7480405" w="7480405">
                <a:moveTo>
                  <a:pt x="0" y="0"/>
                </a:moveTo>
                <a:lnTo>
                  <a:pt x="7480405" y="0"/>
                </a:lnTo>
                <a:lnTo>
                  <a:pt x="7480405" y="7480404"/>
                </a:lnTo>
                <a:lnTo>
                  <a:pt x="0" y="7480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8199056" y="1162156"/>
            <a:ext cx="9537556" cy="8516236"/>
          </a:xfrm>
          <a:custGeom>
            <a:avLst/>
            <a:gdLst/>
            <a:ahLst/>
            <a:cxnLst/>
            <a:rect r="r" b="b" t="t" l="l"/>
            <a:pathLst>
              <a:path h="8516236" w="9537556">
                <a:moveTo>
                  <a:pt x="0" y="0"/>
                </a:moveTo>
                <a:lnTo>
                  <a:pt x="9537556" y="0"/>
                </a:lnTo>
                <a:lnTo>
                  <a:pt x="9537556" y="8516236"/>
                </a:lnTo>
                <a:lnTo>
                  <a:pt x="0" y="8516236"/>
                </a:lnTo>
                <a:lnTo>
                  <a:pt x="0" y="0"/>
                </a:lnTo>
                <a:close/>
              </a:path>
            </a:pathLst>
          </a:custGeom>
          <a:blipFill>
            <a:blip r:embed="rId5"/>
            <a:stretch>
              <a:fillRect l="0" t="0" r="0" b="0"/>
            </a:stretch>
          </a:blipFill>
        </p:spPr>
      </p:sp>
      <p:sp>
        <p:nvSpPr>
          <p:cNvPr name="TextBox 6" id="6"/>
          <p:cNvSpPr txBox="true"/>
          <p:nvPr/>
        </p:nvSpPr>
        <p:spPr>
          <a:xfrm rot="0">
            <a:off x="446590" y="291449"/>
            <a:ext cx="16438644" cy="533346"/>
          </a:xfrm>
          <a:prstGeom prst="rect">
            <a:avLst/>
          </a:prstGeom>
        </p:spPr>
        <p:txBody>
          <a:bodyPr anchor="t" rtlCol="false" tIns="0" lIns="0" bIns="0" rIns="0">
            <a:spAutoFit/>
          </a:bodyPr>
          <a:lstStyle/>
          <a:p>
            <a:pPr algn="l" marL="0" indent="0" lvl="0">
              <a:lnSpc>
                <a:spcPts val="4200"/>
              </a:lnSpc>
              <a:spcBef>
                <a:spcPct val="0"/>
              </a:spcBef>
            </a:pPr>
            <a:r>
              <a:rPr lang="en-US" b="true" sz="3500">
                <a:solidFill>
                  <a:srgbClr val="FF9A00"/>
                </a:solidFill>
                <a:latin typeface="Muli Bold"/>
                <a:ea typeface="Muli Bold"/>
                <a:cs typeface="Muli Bold"/>
                <a:sym typeface="Muli Bold"/>
              </a:rPr>
              <a:t>LUỒNG HOẠT ĐỘNG CHỨC NĂNG HỎI ĐÁP HƯỚNG DẪN THỰC HÀNH</a:t>
            </a:r>
          </a:p>
        </p:txBody>
      </p:sp>
      <p:sp>
        <p:nvSpPr>
          <p:cNvPr name="TextBox 7" id="7"/>
          <p:cNvSpPr txBox="true"/>
          <p:nvPr/>
        </p:nvSpPr>
        <p:spPr>
          <a:xfrm rot="0">
            <a:off x="446590" y="1106545"/>
            <a:ext cx="7545820"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1/ Sinh viên gửi câu hỏi hoặc yêu cầu hỗ trợ thông qua giao diện chatbot.</a:t>
            </a:r>
          </a:p>
        </p:txBody>
      </p:sp>
      <p:sp>
        <p:nvSpPr>
          <p:cNvPr name="TextBox 8" id="8"/>
          <p:cNvSpPr txBox="true"/>
          <p:nvPr/>
        </p:nvSpPr>
        <p:spPr>
          <a:xfrm rot="0">
            <a:off x="446590" y="2287681"/>
            <a:ext cx="7545820" cy="4076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2/ Backend truy xuất nội dung gợi ý bài tập đã lưu.</a:t>
            </a:r>
          </a:p>
        </p:txBody>
      </p:sp>
      <p:sp>
        <p:nvSpPr>
          <p:cNvPr name="TextBox 9" id="9"/>
          <p:cNvSpPr txBox="true"/>
          <p:nvPr/>
        </p:nvSpPr>
        <p:spPr>
          <a:xfrm rot="0">
            <a:off x="446590" y="3049718"/>
            <a:ext cx="7545820" cy="4076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3/ Backend chuẩn bị dữ liệu để làm đầu vào cho AI.</a:t>
            </a:r>
          </a:p>
        </p:txBody>
      </p:sp>
      <p:sp>
        <p:nvSpPr>
          <p:cNvPr name="TextBox 10" id="10"/>
          <p:cNvSpPr txBox="true"/>
          <p:nvPr/>
        </p:nvSpPr>
        <p:spPr>
          <a:xfrm rot="0">
            <a:off x="446590" y="3811754"/>
            <a:ext cx="7545820"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4/ Backend xây dựng Prompt dựa trên câu hỏi, nội dung gợi ý và System Prompt thiết kế sẳn.</a:t>
            </a:r>
          </a:p>
        </p:txBody>
      </p:sp>
      <p:sp>
        <p:nvSpPr>
          <p:cNvPr name="TextBox 11" id="11"/>
          <p:cNvSpPr txBox="true"/>
          <p:nvPr/>
        </p:nvSpPr>
        <p:spPr>
          <a:xfrm rot="0">
            <a:off x="446590" y="4992890"/>
            <a:ext cx="7545820"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5/ ChatClient gửi Prompt kèm Chat Memory(ngữ cảnh hội thoại) đến mô hình GPT-5.4 mini.</a:t>
            </a:r>
          </a:p>
        </p:txBody>
      </p:sp>
      <p:sp>
        <p:nvSpPr>
          <p:cNvPr name="TextBox 12" id="12"/>
          <p:cNvSpPr txBox="true"/>
          <p:nvPr/>
        </p:nvSpPr>
        <p:spPr>
          <a:xfrm rot="0">
            <a:off x="446590" y="6174027"/>
            <a:ext cx="7545820"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6/ Mô hình AI sinh phản hồi hướng dẫn hoặc giải đáp phù hợp với ngữ cảnh bài tập.</a:t>
            </a:r>
          </a:p>
        </p:txBody>
      </p:sp>
      <p:sp>
        <p:nvSpPr>
          <p:cNvPr name="TextBox 13" id="13"/>
          <p:cNvSpPr txBox="true"/>
          <p:nvPr/>
        </p:nvSpPr>
        <p:spPr>
          <a:xfrm rot="0">
            <a:off x="446590" y="7355163"/>
            <a:ext cx="7545820"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7/ Nội dung trao đổi được lưu vào cơ sở dữ liệu để duy trì lịch sử hội thoại.</a:t>
            </a:r>
          </a:p>
        </p:txBody>
      </p:sp>
      <p:sp>
        <p:nvSpPr>
          <p:cNvPr name="TextBox 14" id="14"/>
          <p:cNvSpPr txBox="true"/>
          <p:nvPr/>
        </p:nvSpPr>
        <p:spPr>
          <a:xfrm rot="0">
            <a:off x="446590" y="8536299"/>
            <a:ext cx="7545820" cy="826769"/>
          </a:xfrm>
          <a:prstGeom prst="rect">
            <a:avLst/>
          </a:prstGeom>
        </p:spPr>
        <p:txBody>
          <a:bodyPr anchor="t" rtlCol="false" tIns="0" lIns="0" bIns="0" rIns="0">
            <a:spAutoFit/>
          </a:bodyPr>
          <a:lstStyle/>
          <a:p>
            <a:pPr algn="l" marL="0" indent="0" lvl="0">
              <a:lnSpc>
                <a:spcPts val="3360"/>
              </a:lnSpc>
              <a:spcBef>
                <a:spcPct val="0"/>
              </a:spcBef>
            </a:pPr>
            <a:r>
              <a:rPr lang="en-US" sz="2100" strike="noStrike" u="none">
                <a:solidFill>
                  <a:srgbClr val="FFFFFF"/>
                </a:solidFill>
                <a:latin typeface="DejaVu Serif"/>
                <a:ea typeface="DejaVu Serif"/>
                <a:cs typeface="DejaVu Serif"/>
                <a:sym typeface="DejaVu Serif"/>
              </a:rPr>
              <a:t>8/ Backend trả kết quả về giao diện và hiển thị cho sinh viên.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2711502" y="5932842"/>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9805975" y="1190625"/>
            <a:ext cx="7980786" cy="8966880"/>
          </a:xfrm>
          <a:custGeom>
            <a:avLst/>
            <a:gdLst/>
            <a:ahLst/>
            <a:cxnLst/>
            <a:rect r="r" b="b" t="t" l="l"/>
            <a:pathLst>
              <a:path h="8966880" w="7980786">
                <a:moveTo>
                  <a:pt x="0" y="0"/>
                </a:moveTo>
                <a:lnTo>
                  <a:pt x="7980787" y="0"/>
                </a:lnTo>
                <a:lnTo>
                  <a:pt x="7980787" y="8966880"/>
                </a:lnTo>
                <a:lnTo>
                  <a:pt x="0" y="8966880"/>
                </a:lnTo>
                <a:lnTo>
                  <a:pt x="0" y="0"/>
                </a:lnTo>
                <a:close/>
              </a:path>
            </a:pathLst>
          </a:custGeom>
          <a:blipFill>
            <a:blip r:embed="rId5"/>
            <a:stretch>
              <a:fillRect l="0" t="0" r="0" b="0"/>
            </a:stretch>
          </a:blipFill>
        </p:spPr>
      </p:sp>
      <p:sp>
        <p:nvSpPr>
          <p:cNvPr name="TextBox 6" id="6"/>
          <p:cNvSpPr txBox="true"/>
          <p:nvPr/>
        </p:nvSpPr>
        <p:spPr>
          <a:xfrm rot="0">
            <a:off x="446590" y="291449"/>
            <a:ext cx="16438644" cy="533346"/>
          </a:xfrm>
          <a:prstGeom prst="rect">
            <a:avLst/>
          </a:prstGeom>
        </p:spPr>
        <p:txBody>
          <a:bodyPr anchor="t" rtlCol="false" tIns="0" lIns="0" bIns="0" rIns="0">
            <a:spAutoFit/>
          </a:bodyPr>
          <a:lstStyle/>
          <a:p>
            <a:pPr algn="l" marL="0" indent="0" lvl="0">
              <a:lnSpc>
                <a:spcPts val="4200"/>
              </a:lnSpc>
              <a:spcBef>
                <a:spcPct val="0"/>
              </a:spcBef>
            </a:pPr>
            <a:r>
              <a:rPr lang="en-US" b="true" sz="3500">
                <a:solidFill>
                  <a:srgbClr val="FF9A00"/>
                </a:solidFill>
                <a:latin typeface="Muli Bold"/>
                <a:ea typeface="Muli Bold"/>
                <a:cs typeface="Muli Bold"/>
                <a:sym typeface="Muli Bold"/>
              </a:rPr>
              <a:t>LUỒNG HOẠT ĐỘNG CHỨC NĂNG PHÂN TÍCH BÀI LÀM CỦA SINH VIÊN</a:t>
            </a:r>
          </a:p>
        </p:txBody>
      </p:sp>
      <p:sp>
        <p:nvSpPr>
          <p:cNvPr name="TextBox 7" id="7"/>
          <p:cNvSpPr txBox="true"/>
          <p:nvPr/>
        </p:nvSpPr>
        <p:spPr>
          <a:xfrm rot="0">
            <a:off x="303715" y="1076325"/>
            <a:ext cx="9200173" cy="407669"/>
          </a:xfrm>
          <a:prstGeom prst="rect">
            <a:avLst/>
          </a:prstGeom>
        </p:spPr>
        <p:txBody>
          <a:bodyPr anchor="t" rtlCol="false" tIns="0" lIns="0" bIns="0" rIns="0">
            <a:spAutoFit/>
          </a:bodyPr>
          <a:lstStyle/>
          <a:p>
            <a:pPr algn="l" marL="0" indent="0" lvl="0">
              <a:lnSpc>
                <a:spcPts val="3360"/>
              </a:lnSpc>
              <a:spcBef>
                <a:spcPct val="0"/>
              </a:spcBef>
            </a:pPr>
            <a:r>
              <a:rPr lang="en-US" sz="2100">
                <a:solidFill>
                  <a:srgbClr val="FFFFFF"/>
                </a:solidFill>
                <a:latin typeface="DejaVu Serif"/>
                <a:ea typeface="DejaVu Serif"/>
                <a:cs typeface="DejaVu Serif"/>
                <a:sym typeface="DejaVu Serif"/>
              </a:rPr>
              <a:t>1/ </a:t>
            </a:r>
            <a:r>
              <a:rPr lang="en-US" sz="2100" strike="noStrike" u="none">
                <a:solidFill>
                  <a:srgbClr val="FFFFFF"/>
                </a:solidFill>
                <a:latin typeface="DejaVu Serif"/>
                <a:ea typeface="DejaVu Serif"/>
                <a:cs typeface="DejaVu Serif"/>
                <a:sym typeface="DejaVu Serif"/>
              </a:rPr>
              <a:t>Sinh viên gửi yêu cầu phân tích bài làm từ giao diện.</a:t>
            </a:r>
          </a:p>
        </p:txBody>
      </p:sp>
      <p:sp>
        <p:nvSpPr>
          <p:cNvPr name="TextBox 8" id="8"/>
          <p:cNvSpPr txBox="true"/>
          <p:nvPr/>
        </p:nvSpPr>
        <p:spPr>
          <a:xfrm rot="0">
            <a:off x="303715" y="1678245"/>
            <a:ext cx="9200173"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2/ Backend kiểm tra xem kết quả phân tích đã được lưu trong MongoDB hay chưa.</a:t>
            </a:r>
          </a:p>
        </p:txBody>
      </p:sp>
      <p:sp>
        <p:nvSpPr>
          <p:cNvPr name="TextBox 9" id="9"/>
          <p:cNvSpPr txBox="true"/>
          <p:nvPr/>
        </p:nvSpPr>
        <p:spPr>
          <a:xfrm rot="0">
            <a:off x="303715" y="2699264"/>
            <a:ext cx="9200173"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3/ Nếu kết quả phân tích đã tồn tại và bài làm không thay đổi, hệ thống trả về kết quả ngay.</a:t>
            </a:r>
          </a:p>
        </p:txBody>
      </p:sp>
      <p:sp>
        <p:nvSpPr>
          <p:cNvPr name="TextBox 10" id="10"/>
          <p:cNvSpPr txBox="true"/>
          <p:nvPr/>
        </p:nvSpPr>
        <p:spPr>
          <a:xfrm rot="0">
            <a:off x="303715" y="3720284"/>
            <a:ext cx="9200173" cy="12458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4/ Nếu chưa có kết quả phân tích, hệ thống thu thập mã nguồn:</a:t>
            </a:r>
          </a:p>
          <a:p>
            <a:pPr algn="l">
              <a:lnSpc>
                <a:spcPts val="3360"/>
              </a:lnSpc>
              <a:spcBef>
                <a:spcPct val="0"/>
              </a:spcBef>
            </a:pPr>
            <a:r>
              <a:rPr lang="en-US" sz="2100">
                <a:solidFill>
                  <a:srgbClr val="FFFFFF"/>
                </a:solidFill>
                <a:latin typeface="DejaVu Serif"/>
                <a:ea typeface="DejaVu Serif"/>
                <a:cs typeface="DejaVu Serif"/>
                <a:sym typeface="DejaVu Serif"/>
              </a:rPr>
              <a:t>     Lấy bài nộp từ Moodle nếu sinh viên đã nộp bài.</a:t>
            </a:r>
          </a:p>
          <a:p>
            <a:pPr algn="l">
              <a:lnSpc>
                <a:spcPts val="3360"/>
              </a:lnSpc>
              <a:spcBef>
                <a:spcPct val="0"/>
              </a:spcBef>
            </a:pPr>
            <a:r>
              <a:rPr lang="en-US" sz="2100">
                <a:solidFill>
                  <a:srgbClr val="FFFFFF"/>
                </a:solidFill>
                <a:latin typeface="DejaVu Serif"/>
                <a:ea typeface="DejaVu Serif"/>
                <a:cs typeface="DejaVu Serif"/>
                <a:sym typeface="DejaVu Serif"/>
              </a:rPr>
              <a:t>     Hoặc nhận các tệp mã nguồn do sinh viên tải lên.</a:t>
            </a:r>
          </a:p>
        </p:txBody>
      </p:sp>
      <p:sp>
        <p:nvSpPr>
          <p:cNvPr name="TextBox 11" id="11"/>
          <p:cNvSpPr txBox="true"/>
          <p:nvPr/>
        </p:nvSpPr>
        <p:spPr>
          <a:xfrm rot="0">
            <a:off x="303715" y="5160403"/>
            <a:ext cx="9200173" cy="4076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5/ Backend lấy thông tin bài tập và nội dung gợi ý đã lưu.</a:t>
            </a:r>
          </a:p>
        </p:txBody>
      </p:sp>
      <p:sp>
        <p:nvSpPr>
          <p:cNvPr name="TextBox 12" id="12"/>
          <p:cNvSpPr txBox="true"/>
          <p:nvPr/>
        </p:nvSpPr>
        <p:spPr>
          <a:xfrm rot="0">
            <a:off x="303715" y="5762323"/>
            <a:ext cx="9200173"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6/ Backend chuẩn hóa dữ liệu và kết hợp đề bài, gợi ý cùng mã nguồn làm ngữ cảnh phân tích.</a:t>
            </a:r>
          </a:p>
        </p:txBody>
      </p:sp>
      <p:sp>
        <p:nvSpPr>
          <p:cNvPr name="TextBox 13" id="13"/>
          <p:cNvSpPr txBox="true"/>
          <p:nvPr/>
        </p:nvSpPr>
        <p:spPr>
          <a:xfrm rot="0">
            <a:off x="303715" y="6783342"/>
            <a:ext cx="9200173"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7/ Backend xây dựng Prompt và gửi đến GPT-5.4 mini thông qua Spring AI.</a:t>
            </a:r>
          </a:p>
        </p:txBody>
      </p:sp>
      <p:sp>
        <p:nvSpPr>
          <p:cNvPr name="TextBox 14" id="14"/>
          <p:cNvSpPr txBox="true"/>
          <p:nvPr/>
        </p:nvSpPr>
        <p:spPr>
          <a:xfrm rot="0">
            <a:off x="303715" y="7804362"/>
            <a:ext cx="9200173" cy="4076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8/ Mô hình AI phân tích mã nguồn và sinh nội dung phân tích.</a:t>
            </a:r>
          </a:p>
        </p:txBody>
      </p:sp>
      <p:sp>
        <p:nvSpPr>
          <p:cNvPr name="TextBox 15" id="15"/>
          <p:cNvSpPr txBox="true"/>
          <p:nvPr/>
        </p:nvSpPr>
        <p:spPr>
          <a:xfrm rot="0">
            <a:off x="303715" y="8406281"/>
            <a:ext cx="9200173" cy="4076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9/ Kết quả phân tích được lưu vào MongoDB.</a:t>
            </a:r>
          </a:p>
        </p:txBody>
      </p:sp>
      <p:sp>
        <p:nvSpPr>
          <p:cNvPr name="TextBox 16" id="16"/>
          <p:cNvSpPr txBox="true"/>
          <p:nvPr/>
        </p:nvSpPr>
        <p:spPr>
          <a:xfrm rot="0">
            <a:off x="303715" y="9008201"/>
            <a:ext cx="9200173"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10/ Backend trả kết quả phân tích về giao diện để hiển thị cho sinh viên.</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6947553" y="1191508"/>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9699512" y="1191508"/>
            <a:ext cx="7915926" cy="8698390"/>
          </a:xfrm>
          <a:custGeom>
            <a:avLst/>
            <a:gdLst/>
            <a:ahLst/>
            <a:cxnLst/>
            <a:rect r="r" b="b" t="t" l="l"/>
            <a:pathLst>
              <a:path h="8698390" w="7915926">
                <a:moveTo>
                  <a:pt x="0" y="0"/>
                </a:moveTo>
                <a:lnTo>
                  <a:pt x="7915927" y="0"/>
                </a:lnTo>
                <a:lnTo>
                  <a:pt x="7915927" y="8698390"/>
                </a:lnTo>
                <a:lnTo>
                  <a:pt x="0" y="8698390"/>
                </a:lnTo>
                <a:lnTo>
                  <a:pt x="0" y="0"/>
                </a:lnTo>
                <a:close/>
              </a:path>
            </a:pathLst>
          </a:custGeom>
          <a:blipFill>
            <a:blip r:embed="rId5"/>
            <a:stretch>
              <a:fillRect l="0" t="0" r="0" b="0"/>
            </a:stretch>
          </a:blipFill>
        </p:spPr>
      </p:sp>
      <p:sp>
        <p:nvSpPr>
          <p:cNvPr name="TextBox 6" id="6"/>
          <p:cNvSpPr txBox="true"/>
          <p:nvPr/>
        </p:nvSpPr>
        <p:spPr>
          <a:xfrm rot="0">
            <a:off x="446590" y="300974"/>
            <a:ext cx="16438644" cy="504879"/>
          </a:xfrm>
          <a:prstGeom prst="rect">
            <a:avLst/>
          </a:prstGeom>
        </p:spPr>
        <p:txBody>
          <a:bodyPr anchor="t" rtlCol="false" tIns="0" lIns="0" bIns="0" rIns="0">
            <a:spAutoFit/>
          </a:bodyPr>
          <a:lstStyle/>
          <a:p>
            <a:pPr algn="l" marL="0" indent="0" lvl="0">
              <a:lnSpc>
                <a:spcPts val="4080"/>
              </a:lnSpc>
              <a:spcBef>
                <a:spcPct val="0"/>
              </a:spcBef>
            </a:pPr>
            <a:r>
              <a:rPr lang="en-US" b="true" sz="3400">
                <a:solidFill>
                  <a:srgbClr val="FF9A00"/>
                </a:solidFill>
                <a:latin typeface="Muli Bold"/>
                <a:ea typeface="Muli Bold"/>
                <a:cs typeface="Muli Bold"/>
                <a:sym typeface="Muli Bold"/>
              </a:rPr>
              <a:t>LUỒNG HOẠT ĐỘNG CHỨC NĂNG HỎI ĐÁP VỀ KẾT QUẢ PHÂN TÍCH BÀI LÀM</a:t>
            </a:r>
          </a:p>
        </p:txBody>
      </p:sp>
      <p:sp>
        <p:nvSpPr>
          <p:cNvPr name="TextBox 7" id="7"/>
          <p:cNvSpPr txBox="true"/>
          <p:nvPr/>
        </p:nvSpPr>
        <p:spPr>
          <a:xfrm rot="0">
            <a:off x="441750" y="1096258"/>
            <a:ext cx="9037038" cy="407669"/>
          </a:xfrm>
          <a:prstGeom prst="rect">
            <a:avLst/>
          </a:prstGeom>
        </p:spPr>
        <p:txBody>
          <a:bodyPr anchor="t" rtlCol="false" tIns="0" lIns="0" bIns="0" rIns="0">
            <a:spAutoFit/>
          </a:bodyPr>
          <a:lstStyle/>
          <a:p>
            <a:pPr algn="l" marL="0" indent="0" lvl="0">
              <a:lnSpc>
                <a:spcPts val="3360"/>
              </a:lnSpc>
              <a:spcBef>
                <a:spcPct val="0"/>
              </a:spcBef>
            </a:pPr>
            <a:r>
              <a:rPr lang="en-US" sz="2100">
                <a:solidFill>
                  <a:srgbClr val="FFFFFF"/>
                </a:solidFill>
                <a:latin typeface="DejaVu Serif"/>
                <a:ea typeface="DejaVu Serif"/>
                <a:cs typeface="DejaVu Serif"/>
                <a:sym typeface="DejaVu Serif"/>
              </a:rPr>
              <a:t>1/ </a:t>
            </a:r>
            <a:r>
              <a:rPr lang="en-US" sz="2100" strike="noStrike" u="none">
                <a:solidFill>
                  <a:srgbClr val="FFFFFF"/>
                </a:solidFill>
                <a:latin typeface="DejaVu Serif"/>
                <a:ea typeface="DejaVu Serif"/>
                <a:cs typeface="DejaVu Serif"/>
                <a:sym typeface="DejaVu Serif"/>
              </a:rPr>
              <a:t>Sinh viên gửi câu hỏi hoặc yêu cầu.</a:t>
            </a:r>
          </a:p>
        </p:txBody>
      </p:sp>
      <p:sp>
        <p:nvSpPr>
          <p:cNvPr name="TextBox 8" id="8"/>
          <p:cNvSpPr txBox="true"/>
          <p:nvPr/>
        </p:nvSpPr>
        <p:spPr>
          <a:xfrm rot="0">
            <a:off x="441750" y="1725022"/>
            <a:ext cx="9037038" cy="4076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2/ </a:t>
            </a:r>
            <a:r>
              <a:rPr lang="en-US" sz="2100">
                <a:solidFill>
                  <a:srgbClr val="FFFFFF"/>
                </a:solidFill>
                <a:latin typeface="DejaVu Serif"/>
                <a:ea typeface="DejaVu Serif"/>
                <a:cs typeface="DejaVu Serif"/>
                <a:sym typeface="DejaVu Serif"/>
              </a:rPr>
              <a:t>Backend truy xuất kết quả phân tích bài làm đã được lưu.</a:t>
            </a:r>
          </a:p>
        </p:txBody>
      </p:sp>
      <p:sp>
        <p:nvSpPr>
          <p:cNvPr name="TextBox 9" id="9"/>
          <p:cNvSpPr txBox="true"/>
          <p:nvPr/>
        </p:nvSpPr>
        <p:spPr>
          <a:xfrm rot="0">
            <a:off x="441750" y="5078276"/>
            <a:ext cx="9037038"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5/ Backend xây dựng prompt với </a:t>
            </a:r>
            <a:r>
              <a:rPr lang="en-US" sz="2100">
                <a:solidFill>
                  <a:srgbClr val="FFFFFF"/>
                </a:solidFill>
                <a:latin typeface="DejaVu Serif"/>
                <a:ea typeface="DejaVu Serif"/>
                <a:cs typeface="DejaVu Serif"/>
                <a:sym typeface="DejaVu Serif"/>
              </a:rPr>
              <a:t>câu hỏi của sinh viên, kết quả phân tích, nội dung gợi ý, thông tin bài tập và System Prompt.</a:t>
            </a:r>
          </a:p>
        </p:txBody>
      </p:sp>
      <p:sp>
        <p:nvSpPr>
          <p:cNvPr name="TextBox 10" id="10"/>
          <p:cNvSpPr txBox="true"/>
          <p:nvPr/>
        </p:nvSpPr>
        <p:spPr>
          <a:xfrm rot="0">
            <a:off x="441750" y="2353785"/>
            <a:ext cx="9037038"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3</a:t>
            </a:r>
            <a:r>
              <a:rPr lang="en-US" sz="2100">
                <a:solidFill>
                  <a:srgbClr val="FFFFFF"/>
                </a:solidFill>
                <a:latin typeface="DejaVu Serif"/>
                <a:ea typeface="DejaVu Serif"/>
                <a:cs typeface="DejaVu Serif"/>
                <a:sym typeface="DejaVu Serif"/>
              </a:rPr>
              <a:t>/ AI đánh giá nội dung câu hỏi để xác định có cần sử dụng mã nguồn chi tiết bài làm hay không.</a:t>
            </a:r>
          </a:p>
        </p:txBody>
      </p:sp>
      <p:sp>
        <p:nvSpPr>
          <p:cNvPr name="TextBox 11" id="11"/>
          <p:cNvSpPr txBox="true"/>
          <p:nvPr/>
        </p:nvSpPr>
        <p:spPr>
          <a:xfrm rot="0">
            <a:off x="441750" y="3401649"/>
            <a:ext cx="9037038"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4</a:t>
            </a:r>
            <a:r>
              <a:rPr lang="en-US" sz="2100">
                <a:solidFill>
                  <a:srgbClr val="FFFFFF"/>
                </a:solidFill>
                <a:latin typeface="DejaVu Serif"/>
                <a:ea typeface="DejaVu Serif"/>
                <a:cs typeface="DejaVu Serif"/>
                <a:sym typeface="DejaVu Serif"/>
              </a:rPr>
              <a:t>/ Nếu cần phân tích chi tiết chương trình, hệ thống lấy thêm mã nguồn bài làm từ Moodle.</a:t>
            </a:r>
          </a:p>
        </p:txBody>
      </p:sp>
      <p:sp>
        <p:nvSpPr>
          <p:cNvPr name="TextBox 12" id="12"/>
          <p:cNvSpPr txBox="true"/>
          <p:nvPr/>
        </p:nvSpPr>
        <p:spPr>
          <a:xfrm rot="0">
            <a:off x="441750" y="4449513"/>
            <a:ext cx="9037038" cy="4076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6</a:t>
            </a:r>
            <a:r>
              <a:rPr lang="en-US" sz="2100">
                <a:solidFill>
                  <a:srgbClr val="FFFFFF"/>
                </a:solidFill>
                <a:latin typeface="DejaVu Serif"/>
                <a:ea typeface="DejaVu Serif"/>
                <a:cs typeface="DejaVu Serif"/>
                <a:sym typeface="DejaVu Serif"/>
              </a:rPr>
              <a:t>/ Backend lấy thông tin bài tập và nội dung gợi ý đã lưu.</a:t>
            </a:r>
          </a:p>
        </p:txBody>
      </p:sp>
      <p:sp>
        <p:nvSpPr>
          <p:cNvPr name="TextBox 13" id="13"/>
          <p:cNvSpPr txBox="true"/>
          <p:nvPr/>
        </p:nvSpPr>
        <p:spPr>
          <a:xfrm rot="0">
            <a:off x="441750" y="6126140"/>
            <a:ext cx="9037038" cy="826769"/>
          </a:xfrm>
          <a:prstGeom prst="rect">
            <a:avLst/>
          </a:prstGeom>
        </p:spPr>
        <p:txBody>
          <a:bodyPr anchor="t" rtlCol="false" tIns="0" lIns="0" bIns="0" rIns="0">
            <a:spAutoFit/>
          </a:bodyPr>
          <a:lstStyle/>
          <a:p>
            <a:pPr algn="l" marL="0" indent="0" lvl="0">
              <a:lnSpc>
                <a:spcPts val="3360"/>
              </a:lnSpc>
              <a:spcBef>
                <a:spcPct val="0"/>
              </a:spcBef>
            </a:pPr>
            <a:r>
              <a:rPr lang="en-US" sz="2100">
                <a:solidFill>
                  <a:srgbClr val="FFFFFF"/>
                </a:solidFill>
                <a:latin typeface="DejaVu Serif"/>
                <a:ea typeface="DejaVu Serif"/>
                <a:cs typeface="DejaVu Serif"/>
                <a:sym typeface="DejaVu Serif"/>
              </a:rPr>
              <a:t>6</a:t>
            </a:r>
            <a:r>
              <a:rPr lang="en-US" sz="2100" strike="noStrike" u="none">
                <a:solidFill>
                  <a:srgbClr val="FFFFFF"/>
                </a:solidFill>
                <a:latin typeface="DejaVu Serif"/>
                <a:ea typeface="DejaVu Serif"/>
                <a:cs typeface="DejaVu Serif"/>
                <a:sym typeface="DejaVu Serif"/>
              </a:rPr>
              <a:t>/ ChatClient gửi Prompt kèm Chat Memory(ngữ cảnh hội thoại) đến mô hình GPT-5.4 mini.</a:t>
            </a:r>
          </a:p>
        </p:txBody>
      </p:sp>
      <p:sp>
        <p:nvSpPr>
          <p:cNvPr name="TextBox 14" id="14"/>
          <p:cNvSpPr txBox="true"/>
          <p:nvPr/>
        </p:nvSpPr>
        <p:spPr>
          <a:xfrm rot="0">
            <a:off x="441750" y="7174004"/>
            <a:ext cx="9032198" cy="4076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7/ </a:t>
            </a:r>
            <a:r>
              <a:rPr lang="en-US" sz="2100">
                <a:solidFill>
                  <a:srgbClr val="FFFFFF"/>
                </a:solidFill>
                <a:latin typeface="DejaVu Serif"/>
                <a:ea typeface="DejaVu Serif"/>
                <a:cs typeface="DejaVu Serif"/>
                <a:sym typeface="DejaVu Serif"/>
              </a:rPr>
              <a:t>Mô hình AI sinh phản hồi liên quan đến kết quả phân tích</a:t>
            </a:r>
          </a:p>
        </p:txBody>
      </p:sp>
      <p:sp>
        <p:nvSpPr>
          <p:cNvPr name="TextBox 15" id="15"/>
          <p:cNvSpPr txBox="true"/>
          <p:nvPr/>
        </p:nvSpPr>
        <p:spPr>
          <a:xfrm rot="0">
            <a:off x="441750" y="7802767"/>
            <a:ext cx="9010972" cy="826769"/>
          </a:xfrm>
          <a:prstGeom prst="rect">
            <a:avLst/>
          </a:prstGeom>
        </p:spPr>
        <p:txBody>
          <a:bodyPr anchor="t" rtlCol="false" tIns="0" lIns="0" bIns="0" rIns="0">
            <a:spAutoFit/>
          </a:bodyPr>
          <a:lstStyle/>
          <a:p>
            <a:pPr algn="l" marL="0" indent="0" lvl="0">
              <a:lnSpc>
                <a:spcPts val="3360"/>
              </a:lnSpc>
              <a:spcBef>
                <a:spcPct val="0"/>
              </a:spcBef>
            </a:pPr>
            <a:r>
              <a:rPr lang="en-US" sz="2100">
                <a:solidFill>
                  <a:srgbClr val="FFFFFF"/>
                </a:solidFill>
                <a:latin typeface="DejaVu Serif"/>
                <a:ea typeface="DejaVu Serif"/>
                <a:cs typeface="DejaVu Serif"/>
                <a:sym typeface="DejaVu Serif"/>
              </a:rPr>
              <a:t>8</a:t>
            </a:r>
            <a:r>
              <a:rPr lang="en-US" sz="2100" strike="noStrike" u="none">
                <a:solidFill>
                  <a:srgbClr val="FFFFFF"/>
                </a:solidFill>
                <a:latin typeface="DejaVu Serif"/>
                <a:ea typeface="DejaVu Serif"/>
                <a:cs typeface="DejaVu Serif"/>
                <a:sym typeface="DejaVu Serif"/>
              </a:rPr>
              <a:t>/ Nội dung trao đổi được lưu vào cơ sở dữ liệu để duy trì lịch sử hội thoại.</a:t>
            </a:r>
          </a:p>
        </p:txBody>
      </p:sp>
      <p:sp>
        <p:nvSpPr>
          <p:cNvPr name="TextBox 16" id="16"/>
          <p:cNvSpPr txBox="true"/>
          <p:nvPr/>
        </p:nvSpPr>
        <p:spPr>
          <a:xfrm rot="0">
            <a:off x="441750" y="8850631"/>
            <a:ext cx="9010972" cy="826769"/>
          </a:xfrm>
          <a:prstGeom prst="rect">
            <a:avLst/>
          </a:prstGeom>
        </p:spPr>
        <p:txBody>
          <a:bodyPr anchor="t" rtlCol="false" tIns="0" lIns="0" bIns="0" rIns="0">
            <a:spAutoFit/>
          </a:bodyPr>
          <a:lstStyle/>
          <a:p>
            <a:pPr algn="l">
              <a:lnSpc>
                <a:spcPts val="3360"/>
              </a:lnSpc>
              <a:spcBef>
                <a:spcPct val="0"/>
              </a:spcBef>
            </a:pPr>
            <a:r>
              <a:rPr lang="en-US" sz="2100">
                <a:solidFill>
                  <a:srgbClr val="FFFFFF"/>
                </a:solidFill>
                <a:latin typeface="DejaVu Serif"/>
                <a:ea typeface="DejaVu Serif"/>
                <a:cs typeface="DejaVu Serif"/>
                <a:sym typeface="DejaVu Serif"/>
              </a:rPr>
              <a:t>9/ </a:t>
            </a:r>
            <a:r>
              <a:rPr lang="en-US" sz="2100">
                <a:solidFill>
                  <a:srgbClr val="FFFFFF"/>
                </a:solidFill>
                <a:latin typeface="DejaVu Serif"/>
                <a:ea typeface="DejaVu Serif"/>
                <a:cs typeface="DejaVu Serif"/>
                <a:sym typeface="DejaVu Serif"/>
              </a:rPr>
              <a:t>Backend trả kết nội dung phản hồi về giao diện và hiển thị cho sinh viên.</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028026" y="6703772"/>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9571708" y="291449"/>
            <a:ext cx="8475083" cy="6359838"/>
          </a:xfrm>
          <a:custGeom>
            <a:avLst/>
            <a:gdLst/>
            <a:ahLst/>
            <a:cxnLst/>
            <a:rect r="r" b="b" t="t" l="l"/>
            <a:pathLst>
              <a:path h="6359838" w="8475083">
                <a:moveTo>
                  <a:pt x="0" y="0"/>
                </a:moveTo>
                <a:lnTo>
                  <a:pt x="8475084" y="0"/>
                </a:lnTo>
                <a:lnTo>
                  <a:pt x="8475084" y="6359838"/>
                </a:lnTo>
                <a:lnTo>
                  <a:pt x="0" y="6359838"/>
                </a:lnTo>
                <a:lnTo>
                  <a:pt x="0" y="0"/>
                </a:lnTo>
                <a:close/>
              </a:path>
            </a:pathLst>
          </a:custGeom>
          <a:blipFill>
            <a:blip r:embed="rId5"/>
            <a:stretch>
              <a:fillRect l="0" t="0" r="0" b="0"/>
            </a:stretch>
          </a:blipFill>
        </p:spPr>
      </p:sp>
      <p:sp>
        <p:nvSpPr>
          <p:cNvPr name="Freeform 6" id="6"/>
          <p:cNvSpPr/>
          <p:nvPr/>
        </p:nvSpPr>
        <p:spPr>
          <a:xfrm flipH="false" flipV="false" rot="0">
            <a:off x="4684095" y="4951043"/>
            <a:ext cx="4459905" cy="5206256"/>
          </a:xfrm>
          <a:custGeom>
            <a:avLst/>
            <a:gdLst/>
            <a:ahLst/>
            <a:cxnLst/>
            <a:rect r="r" b="b" t="t" l="l"/>
            <a:pathLst>
              <a:path h="5206256" w="4459905">
                <a:moveTo>
                  <a:pt x="0" y="0"/>
                </a:moveTo>
                <a:lnTo>
                  <a:pt x="4459905" y="0"/>
                </a:lnTo>
                <a:lnTo>
                  <a:pt x="4459905" y="5206256"/>
                </a:lnTo>
                <a:lnTo>
                  <a:pt x="0" y="5206256"/>
                </a:lnTo>
                <a:lnTo>
                  <a:pt x="0" y="0"/>
                </a:lnTo>
                <a:close/>
              </a:path>
            </a:pathLst>
          </a:custGeom>
          <a:blipFill>
            <a:blip r:embed="rId6"/>
            <a:stretch>
              <a:fillRect l="0" t="0" r="0" b="0"/>
            </a:stretch>
          </a:blipFill>
        </p:spPr>
      </p:sp>
      <p:sp>
        <p:nvSpPr>
          <p:cNvPr name="Freeform 7" id="7"/>
          <p:cNvSpPr/>
          <p:nvPr/>
        </p:nvSpPr>
        <p:spPr>
          <a:xfrm flipH="false" flipV="false" rot="0">
            <a:off x="9571708" y="7001831"/>
            <a:ext cx="8475083" cy="3155468"/>
          </a:xfrm>
          <a:custGeom>
            <a:avLst/>
            <a:gdLst/>
            <a:ahLst/>
            <a:cxnLst/>
            <a:rect r="r" b="b" t="t" l="l"/>
            <a:pathLst>
              <a:path h="3155468" w="8475083">
                <a:moveTo>
                  <a:pt x="0" y="0"/>
                </a:moveTo>
                <a:lnTo>
                  <a:pt x="8475084" y="0"/>
                </a:lnTo>
                <a:lnTo>
                  <a:pt x="8475084" y="3155468"/>
                </a:lnTo>
                <a:lnTo>
                  <a:pt x="0" y="3155468"/>
                </a:lnTo>
                <a:lnTo>
                  <a:pt x="0" y="0"/>
                </a:lnTo>
                <a:close/>
              </a:path>
            </a:pathLst>
          </a:custGeom>
          <a:blipFill>
            <a:blip r:embed="rId7"/>
            <a:stretch>
              <a:fillRect l="0" t="0" r="0" b="0"/>
            </a:stretch>
          </a:blipFill>
        </p:spPr>
      </p:sp>
      <p:sp>
        <p:nvSpPr>
          <p:cNvPr name="TextBox 8" id="8"/>
          <p:cNvSpPr txBox="true"/>
          <p:nvPr/>
        </p:nvSpPr>
        <p:spPr>
          <a:xfrm rot="0">
            <a:off x="446590" y="281924"/>
            <a:ext cx="16438644" cy="619179"/>
          </a:xfrm>
          <a:prstGeom prst="rect">
            <a:avLst/>
          </a:prstGeom>
        </p:spPr>
        <p:txBody>
          <a:bodyPr anchor="t" rtlCol="false" tIns="0" lIns="0" bIns="0" rIns="0">
            <a:spAutoFit/>
          </a:bodyPr>
          <a:lstStyle/>
          <a:p>
            <a:pPr algn="l" marL="0" indent="0" lvl="0">
              <a:lnSpc>
                <a:spcPts val="4800"/>
              </a:lnSpc>
              <a:spcBef>
                <a:spcPct val="0"/>
              </a:spcBef>
            </a:pPr>
            <a:r>
              <a:rPr lang="en-US" b="true" sz="4000">
                <a:solidFill>
                  <a:srgbClr val="FF9A00"/>
                </a:solidFill>
                <a:latin typeface="Muli Bold"/>
                <a:ea typeface="Muli Bold"/>
                <a:cs typeface="Muli Bold"/>
                <a:sym typeface="Muli Bold"/>
              </a:rPr>
              <a:t>CƠ SỞ DỮ LIỆU</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028026" y="6703772"/>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9144000" y="1313607"/>
            <a:ext cx="8636201" cy="8229600"/>
          </a:xfrm>
          <a:custGeom>
            <a:avLst/>
            <a:gdLst/>
            <a:ahLst/>
            <a:cxnLst/>
            <a:rect r="r" b="b" t="t" l="l"/>
            <a:pathLst>
              <a:path h="8229600" w="8636201">
                <a:moveTo>
                  <a:pt x="0" y="0"/>
                </a:moveTo>
                <a:lnTo>
                  <a:pt x="8636201" y="0"/>
                </a:lnTo>
                <a:lnTo>
                  <a:pt x="8636201" y="8229600"/>
                </a:lnTo>
                <a:lnTo>
                  <a:pt x="0" y="8229600"/>
                </a:lnTo>
                <a:lnTo>
                  <a:pt x="0" y="0"/>
                </a:lnTo>
                <a:close/>
              </a:path>
            </a:pathLst>
          </a:custGeom>
          <a:blipFill>
            <a:blip r:embed="rId5"/>
            <a:stretch>
              <a:fillRect l="0" t="0" r="0" b="0"/>
            </a:stretch>
          </a:blipFill>
        </p:spPr>
      </p:sp>
      <p:sp>
        <p:nvSpPr>
          <p:cNvPr name="TextBox 6" id="6"/>
          <p:cNvSpPr txBox="true"/>
          <p:nvPr/>
        </p:nvSpPr>
        <p:spPr>
          <a:xfrm rot="0">
            <a:off x="446590" y="300974"/>
            <a:ext cx="16438644" cy="504825"/>
          </a:xfrm>
          <a:prstGeom prst="rect">
            <a:avLst/>
          </a:prstGeom>
        </p:spPr>
        <p:txBody>
          <a:bodyPr anchor="t" rtlCol="false" tIns="0" lIns="0" bIns="0" rIns="0">
            <a:spAutoFit/>
          </a:bodyPr>
          <a:lstStyle/>
          <a:p>
            <a:pPr algn="l" marL="0" indent="0" lvl="0">
              <a:lnSpc>
                <a:spcPts val="4080"/>
              </a:lnSpc>
              <a:spcBef>
                <a:spcPct val="0"/>
              </a:spcBef>
            </a:pPr>
            <a:r>
              <a:rPr lang="en-US" b="true" sz="3400">
                <a:solidFill>
                  <a:srgbClr val="FF9A00"/>
                </a:solidFill>
                <a:latin typeface="Muli Bold"/>
                <a:ea typeface="Muli Bold"/>
                <a:cs typeface="Muli Bold"/>
                <a:sym typeface="Muli Bold"/>
              </a:rPr>
              <a:t>XÂY DỰNG PROMPT CHỨC NĂNG GỢI Ý BÀI TẬP</a:t>
            </a:r>
          </a:p>
        </p:txBody>
      </p:sp>
      <p:sp>
        <p:nvSpPr>
          <p:cNvPr name="TextBox 7" id="7"/>
          <p:cNvSpPr txBox="true"/>
          <p:nvPr/>
        </p:nvSpPr>
        <p:spPr>
          <a:xfrm rot="0">
            <a:off x="446590" y="1764411"/>
            <a:ext cx="8345209" cy="381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1/ </a:t>
            </a:r>
            <a:r>
              <a:rPr lang="en-US" sz="2000" strike="noStrike" u="none">
                <a:solidFill>
                  <a:srgbClr val="FFFFFF"/>
                </a:solidFill>
                <a:latin typeface="DejaVu Serif"/>
                <a:ea typeface="DejaVu Serif"/>
                <a:cs typeface="DejaVu Serif"/>
                <a:sym typeface="DejaVu Serif"/>
              </a:rPr>
              <a:t>Thu thập thông tin bài tập từ Moodle Web Service API.</a:t>
            </a:r>
          </a:p>
        </p:txBody>
      </p:sp>
      <p:sp>
        <p:nvSpPr>
          <p:cNvPr name="TextBox 8" id="8"/>
          <p:cNvSpPr txBox="true"/>
          <p:nvPr/>
        </p:nvSpPr>
        <p:spPr>
          <a:xfrm rot="0">
            <a:off x="446590" y="2665400"/>
            <a:ext cx="8345209" cy="381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2/ </a:t>
            </a:r>
            <a:r>
              <a:rPr lang="en-US" sz="2000" strike="noStrike" u="none">
                <a:solidFill>
                  <a:srgbClr val="FFFFFF"/>
                </a:solidFill>
                <a:latin typeface="DejaVu Serif"/>
                <a:ea typeface="DejaVu Serif"/>
                <a:cs typeface="DejaVu Serif"/>
                <a:sym typeface="DejaVu Serif"/>
              </a:rPr>
              <a:t>Lọc và chuẩn hóa dữ liệu cần thiết.</a:t>
            </a:r>
          </a:p>
        </p:txBody>
      </p:sp>
      <p:sp>
        <p:nvSpPr>
          <p:cNvPr name="TextBox 9" id="9"/>
          <p:cNvSpPr txBox="true"/>
          <p:nvPr/>
        </p:nvSpPr>
        <p:spPr>
          <a:xfrm rot="0">
            <a:off x="446590" y="3547339"/>
            <a:ext cx="8345209"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3/ Có được ngữ cảnh bài tập kết hợp với System Prompt được thiết kế sẳn.</a:t>
            </a:r>
          </a:p>
        </p:txBody>
      </p:sp>
      <p:sp>
        <p:nvSpPr>
          <p:cNvPr name="TextBox 10" id="10"/>
          <p:cNvSpPr txBox="true"/>
          <p:nvPr/>
        </p:nvSpPr>
        <p:spPr>
          <a:xfrm rot="0">
            <a:off x="446590" y="4842083"/>
            <a:ext cx="8345209"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4/ Prompt hoàn chỉnh gửi đến mô hình GPT-5.4 mini thông qua ChatClient</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028026" y="6703772"/>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9341025" y="1281109"/>
            <a:ext cx="8434142" cy="7492330"/>
          </a:xfrm>
          <a:custGeom>
            <a:avLst/>
            <a:gdLst/>
            <a:ahLst/>
            <a:cxnLst/>
            <a:rect r="r" b="b" t="t" l="l"/>
            <a:pathLst>
              <a:path h="7492330" w="8434142">
                <a:moveTo>
                  <a:pt x="0" y="0"/>
                </a:moveTo>
                <a:lnTo>
                  <a:pt x="8434143" y="0"/>
                </a:lnTo>
                <a:lnTo>
                  <a:pt x="8434143" y="7492329"/>
                </a:lnTo>
                <a:lnTo>
                  <a:pt x="0" y="7492329"/>
                </a:lnTo>
                <a:lnTo>
                  <a:pt x="0" y="0"/>
                </a:lnTo>
                <a:close/>
              </a:path>
            </a:pathLst>
          </a:custGeom>
          <a:blipFill>
            <a:blip r:embed="rId5"/>
            <a:stretch>
              <a:fillRect l="0" t="0" r="0" b="0"/>
            </a:stretch>
          </a:blipFill>
        </p:spPr>
      </p:sp>
      <p:sp>
        <p:nvSpPr>
          <p:cNvPr name="TextBox 6" id="6"/>
          <p:cNvSpPr txBox="true"/>
          <p:nvPr/>
        </p:nvSpPr>
        <p:spPr>
          <a:xfrm rot="0">
            <a:off x="446590" y="300974"/>
            <a:ext cx="16438644" cy="504879"/>
          </a:xfrm>
          <a:prstGeom prst="rect">
            <a:avLst/>
          </a:prstGeom>
        </p:spPr>
        <p:txBody>
          <a:bodyPr anchor="t" rtlCol="false" tIns="0" lIns="0" bIns="0" rIns="0">
            <a:spAutoFit/>
          </a:bodyPr>
          <a:lstStyle/>
          <a:p>
            <a:pPr algn="l" marL="0" indent="0" lvl="0">
              <a:lnSpc>
                <a:spcPts val="4080"/>
              </a:lnSpc>
              <a:spcBef>
                <a:spcPct val="0"/>
              </a:spcBef>
            </a:pPr>
            <a:r>
              <a:rPr lang="en-US" b="true" sz="3400">
                <a:solidFill>
                  <a:srgbClr val="FF9A00"/>
                </a:solidFill>
                <a:latin typeface="Muli Bold"/>
                <a:ea typeface="Muli Bold"/>
                <a:cs typeface="Muli Bold"/>
                <a:sym typeface="Muli Bold"/>
              </a:rPr>
              <a:t>XÂY DỰNG PROMPT CHỨC NĂNG HỎI ĐÁP HƯỚNG DẪN THỰC HÀNH</a:t>
            </a:r>
          </a:p>
        </p:txBody>
      </p:sp>
      <p:sp>
        <p:nvSpPr>
          <p:cNvPr name="TextBox 7" id="7"/>
          <p:cNvSpPr txBox="true"/>
          <p:nvPr/>
        </p:nvSpPr>
        <p:spPr>
          <a:xfrm rot="0">
            <a:off x="446590" y="1764411"/>
            <a:ext cx="8345209" cy="762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1/ </a:t>
            </a:r>
            <a:r>
              <a:rPr lang="en-US" sz="2000" strike="noStrike" u="none">
                <a:solidFill>
                  <a:srgbClr val="FFFFFF"/>
                </a:solidFill>
                <a:latin typeface="DejaVu Serif"/>
                <a:ea typeface="DejaVu Serif"/>
                <a:cs typeface="DejaVu Serif"/>
                <a:sym typeface="DejaVu Serif"/>
              </a:rPr>
              <a:t>Truy xuất từ MongoDB để lấy gợi ý bài tập trước đó làm ngữ cảnh</a:t>
            </a:r>
          </a:p>
        </p:txBody>
      </p:sp>
      <p:sp>
        <p:nvSpPr>
          <p:cNvPr name="TextBox 8" id="8"/>
          <p:cNvSpPr txBox="true"/>
          <p:nvPr/>
        </p:nvSpPr>
        <p:spPr>
          <a:xfrm rot="0">
            <a:off x="446590" y="2919400"/>
            <a:ext cx="8345209" cy="381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2/ Kết hợp ngữ cảnh với System Prompt được thiết kế sẳn</a:t>
            </a:r>
            <a:r>
              <a:rPr lang="en-US" sz="2000" strike="noStrike" u="none">
                <a:solidFill>
                  <a:srgbClr val="FFFFFF"/>
                </a:solidFill>
                <a:latin typeface="DejaVu Serif"/>
                <a:ea typeface="DejaVu Serif"/>
                <a:cs typeface="DejaVu Serif"/>
                <a:sym typeface="DejaVu Serif"/>
              </a:rPr>
              <a:t>.</a:t>
            </a:r>
          </a:p>
        </p:txBody>
      </p:sp>
      <p:sp>
        <p:nvSpPr>
          <p:cNvPr name="TextBox 9" id="9"/>
          <p:cNvSpPr txBox="true"/>
          <p:nvPr/>
        </p:nvSpPr>
        <p:spPr>
          <a:xfrm rot="0">
            <a:off x="446590" y="3674339"/>
            <a:ext cx="8345209"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3/ Kết hợp System Prompt và tin nhắn sinh viên để tạo Prompt hoàn chỉnh</a:t>
            </a:r>
          </a:p>
        </p:txBody>
      </p:sp>
      <p:sp>
        <p:nvSpPr>
          <p:cNvPr name="TextBox 10" id="10"/>
          <p:cNvSpPr txBox="true"/>
          <p:nvPr/>
        </p:nvSpPr>
        <p:spPr>
          <a:xfrm rot="0">
            <a:off x="446590" y="4842083"/>
            <a:ext cx="8345209"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4/ ChatClient gửi Prompt cùng với Chat Memory (lịch sử hội thoại gần nhất) đến mô hình GPT-5.4 mini.</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028026" y="6703772"/>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9144000" y="1712100"/>
            <a:ext cx="8835543" cy="6535682"/>
          </a:xfrm>
          <a:custGeom>
            <a:avLst/>
            <a:gdLst/>
            <a:ahLst/>
            <a:cxnLst/>
            <a:rect r="r" b="b" t="t" l="l"/>
            <a:pathLst>
              <a:path h="6535682" w="8835543">
                <a:moveTo>
                  <a:pt x="0" y="0"/>
                </a:moveTo>
                <a:lnTo>
                  <a:pt x="8835543" y="0"/>
                </a:lnTo>
                <a:lnTo>
                  <a:pt x="8835543" y="6535681"/>
                </a:lnTo>
                <a:lnTo>
                  <a:pt x="0" y="6535681"/>
                </a:lnTo>
                <a:lnTo>
                  <a:pt x="0" y="0"/>
                </a:lnTo>
                <a:close/>
              </a:path>
            </a:pathLst>
          </a:custGeom>
          <a:blipFill>
            <a:blip r:embed="rId5"/>
            <a:stretch>
              <a:fillRect l="0" t="0" r="0" b="0"/>
            </a:stretch>
          </a:blipFill>
        </p:spPr>
      </p:sp>
      <p:sp>
        <p:nvSpPr>
          <p:cNvPr name="TextBox 6" id="6"/>
          <p:cNvSpPr txBox="true"/>
          <p:nvPr/>
        </p:nvSpPr>
        <p:spPr>
          <a:xfrm rot="0">
            <a:off x="446590" y="300974"/>
            <a:ext cx="16438644" cy="504879"/>
          </a:xfrm>
          <a:prstGeom prst="rect">
            <a:avLst/>
          </a:prstGeom>
        </p:spPr>
        <p:txBody>
          <a:bodyPr anchor="t" rtlCol="false" tIns="0" lIns="0" bIns="0" rIns="0">
            <a:spAutoFit/>
          </a:bodyPr>
          <a:lstStyle/>
          <a:p>
            <a:pPr algn="l" marL="0" indent="0" lvl="0">
              <a:lnSpc>
                <a:spcPts val="4080"/>
              </a:lnSpc>
              <a:spcBef>
                <a:spcPct val="0"/>
              </a:spcBef>
            </a:pPr>
            <a:r>
              <a:rPr lang="en-US" b="true" sz="3400">
                <a:solidFill>
                  <a:srgbClr val="FF9A00"/>
                </a:solidFill>
                <a:latin typeface="Muli Bold"/>
                <a:ea typeface="Muli Bold"/>
                <a:cs typeface="Muli Bold"/>
                <a:sym typeface="Muli Bold"/>
              </a:rPr>
              <a:t>XÂY DỰNG PROMPT CHỨC NĂNG PHÂN TÍCH BÀI LÀM</a:t>
            </a:r>
          </a:p>
        </p:txBody>
      </p:sp>
      <p:sp>
        <p:nvSpPr>
          <p:cNvPr name="TextBox 7" id="7"/>
          <p:cNvSpPr txBox="true"/>
          <p:nvPr/>
        </p:nvSpPr>
        <p:spPr>
          <a:xfrm rot="0">
            <a:off x="446590" y="1764411"/>
            <a:ext cx="8345209" cy="762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1/ </a:t>
            </a:r>
            <a:r>
              <a:rPr lang="en-US" sz="2000" strike="noStrike" u="none">
                <a:solidFill>
                  <a:srgbClr val="FFFFFF"/>
                </a:solidFill>
                <a:latin typeface="DejaVu Serif"/>
                <a:ea typeface="DejaVu Serif"/>
                <a:cs typeface="DejaVu Serif"/>
                <a:sym typeface="DejaVu Serif"/>
              </a:rPr>
              <a:t>Thu thập thông tin bài tập và mã nguồn bài làm của sinh viên từ Moodle Web Service API.</a:t>
            </a:r>
          </a:p>
        </p:txBody>
      </p:sp>
      <p:sp>
        <p:nvSpPr>
          <p:cNvPr name="TextBox 8" id="8"/>
          <p:cNvSpPr txBox="true"/>
          <p:nvPr/>
        </p:nvSpPr>
        <p:spPr>
          <a:xfrm rot="0">
            <a:off x="446590" y="2750227"/>
            <a:ext cx="8345209" cy="381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2/ </a:t>
            </a:r>
            <a:r>
              <a:rPr lang="en-US" sz="2000" strike="noStrike" u="none">
                <a:solidFill>
                  <a:srgbClr val="FFFFFF"/>
                </a:solidFill>
                <a:latin typeface="DejaVu Serif"/>
                <a:ea typeface="DejaVu Serif"/>
                <a:cs typeface="DejaVu Serif"/>
                <a:sym typeface="DejaVu Serif"/>
              </a:rPr>
              <a:t>Lọc và chuẩn hóa dữ liệu cần thiết.</a:t>
            </a:r>
          </a:p>
        </p:txBody>
      </p:sp>
      <p:sp>
        <p:nvSpPr>
          <p:cNvPr name="TextBox 9" id="9"/>
          <p:cNvSpPr txBox="true"/>
          <p:nvPr/>
        </p:nvSpPr>
        <p:spPr>
          <a:xfrm rot="0">
            <a:off x="446590" y="4321810"/>
            <a:ext cx="8345209"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4/ Có được ngữ cảnh bài tập, gợi ý và mã nguồn kết hợp với System Prompt được thiết kế sẳn.</a:t>
            </a:r>
          </a:p>
        </p:txBody>
      </p:sp>
      <p:sp>
        <p:nvSpPr>
          <p:cNvPr name="TextBox 10" id="10"/>
          <p:cNvSpPr txBox="true"/>
          <p:nvPr/>
        </p:nvSpPr>
        <p:spPr>
          <a:xfrm rot="0">
            <a:off x="446590" y="5320380"/>
            <a:ext cx="8345209"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5/ Prompt hoàn chỉnh gửi đến mô hình GPT-5.4 mini thông qua ChatClient</a:t>
            </a:r>
          </a:p>
        </p:txBody>
      </p:sp>
      <p:sp>
        <p:nvSpPr>
          <p:cNvPr name="TextBox 11" id="11"/>
          <p:cNvSpPr txBox="true"/>
          <p:nvPr/>
        </p:nvSpPr>
        <p:spPr>
          <a:xfrm rot="0">
            <a:off x="446590" y="3355043"/>
            <a:ext cx="8345209" cy="762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3/ </a:t>
            </a:r>
            <a:r>
              <a:rPr lang="en-US" sz="2000" strike="noStrike" u="none">
                <a:solidFill>
                  <a:srgbClr val="FFFFFF"/>
                </a:solidFill>
                <a:latin typeface="DejaVu Serif"/>
                <a:ea typeface="DejaVu Serif"/>
                <a:cs typeface="DejaVu Serif"/>
                <a:sym typeface="DejaVu Serif"/>
              </a:rPr>
              <a:t>Truy xuất từ MongoDB để lấy gợi ý bài tập trước đó làm ngữ cảnh</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028026" y="6703772"/>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Freeform 5" id="5"/>
          <p:cNvSpPr/>
          <p:nvPr/>
        </p:nvSpPr>
        <p:spPr>
          <a:xfrm flipH="false" flipV="false" rot="0">
            <a:off x="6448205" y="1481521"/>
            <a:ext cx="11475199" cy="7675339"/>
          </a:xfrm>
          <a:custGeom>
            <a:avLst/>
            <a:gdLst/>
            <a:ahLst/>
            <a:cxnLst/>
            <a:rect r="r" b="b" t="t" l="l"/>
            <a:pathLst>
              <a:path h="7675339" w="11475199">
                <a:moveTo>
                  <a:pt x="0" y="0"/>
                </a:moveTo>
                <a:lnTo>
                  <a:pt x="11475199" y="0"/>
                </a:lnTo>
                <a:lnTo>
                  <a:pt x="11475199" y="7675339"/>
                </a:lnTo>
                <a:lnTo>
                  <a:pt x="0" y="7675339"/>
                </a:lnTo>
                <a:lnTo>
                  <a:pt x="0" y="0"/>
                </a:lnTo>
                <a:close/>
              </a:path>
            </a:pathLst>
          </a:custGeom>
          <a:blipFill>
            <a:blip r:embed="rId5"/>
            <a:stretch>
              <a:fillRect l="0" t="0" r="0" b="0"/>
            </a:stretch>
          </a:blipFill>
        </p:spPr>
      </p:sp>
      <p:sp>
        <p:nvSpPr>
          <p:cNvPr name="TextBox 6" id="6"/>
          <p:cNvSpPr txBox="true"/>
          <p:nvPr/>
        </p:nvSpPr>
        <p:spPr>
          <a:xfrm rot="0">
            <a:off x="446590" y="300974"/>
            <a:ext cx="16438644" cy="504879"/>
          </a:xfrm>
          <a:prstGeom prst="rect">
            <a:avLst/>
          </a:prstGeom>
        </p:spPr>
        <p:txBody>
          <a:bodyPr anchor="t" rtlCol="false" tIns="0" lIns="0" bIns="0" rIns="0">
            <a:spAutoFit/>
          </a:bodyPr>
          <a:lstStyle/>
          <a:p>
            <a:pPr algn="l" marL="0" indent="0" lvl="0">
              <a:lnSpc>
                <a:spcPts val="4080"/>
              </a:lnSpc>
              <a:spcBef>
                <a:spcPct val="0"/>
              </a:spcBef>
            </a:pPr>
            <a:r>
              <a:rPr lang="en-US" b="true" sz="3400">
                <a:solidFill>
                  <a:srgbClr val="FF9A00"/>
                </a:solidFill>
                <a:latin typeface="Muli Bold"/>
                <a:ea typeface="Muli Bold"/>
                <a:cs typeface="Muli Bold"/>
                <a:sym typeface="Muli Bold"/>
              </a:rPr>
              <a:t>XÂY DỰNG PROMPT CHỨC NĂNG HỎI ĐÁP VỀ KẾT QUẢ PHÂN TÍCH BÀI LÀM</a:t>
            </a:r>
          </a:p>
        </p:txBody>
      </p:sp>
      <p:sp>
        <p:nvSpPr>
          <p:cNvPr name="TextBox 7" id="7"/>
          <p:cNvSpPr txBox="true"/>
          <p:nvPr/>
        </p:nvSpPr>
        <p:spPr>
          <a:xfrm rot="0">
            <a:off x="446590" y="1405321"/>
            <a:ext cx="5582078" cy="762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1/ </a:t>
            </a:r>
            <a:r>
              <a:rPr lang="en-US" sz="2000" strike="noStrike" u="none">
                <a:solidFill>
                  <a:srgbClr val="FFFFFF"/>
                </a:solidFill>
                <a:latin typeface="DejaVu Serif"/>
                <a:ea typeface="DejaVu Serif"/>
                <a:cs typeface="DejaVu Serif"/>
                <a:sym typeface="DejaVu Serif"/>
              </a:rPr>
              <a:t>Thu thập thông tin bài tập từ Moodle Web Service API.</a:t>
            </a:r>
          </a:p>
        </p:txBody>
      </p:sp>
      <p:sp>
        <p:nvSpPr>
          <p:cNvPr name="TextBox 8" id="8"/>
          <p:cNvSpPr txBox="true"/>
          <p:nvPr/>
        </p:nvSpPr>
        <p:spPr>
          <a:xfrm rot="0">
            <a:off x="446590" y="2334868"/>
            <a:ext cx="5582078" cy="762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2/ </a:t>
            </a:r>
            <a:r>
              <a:rPr lang="en-US" sz="2000" strike="noStrike" u="none">
                <a:solidFill>
                  <a:srgbClr val="FFFFFF"/>
                </a:solidFill>
                <a:latin typeface="DejaVu Serif"/>
                <a:ea typeface="DejaVu Serif"/>
                <a:cs typeface="DejaVu Serif"/>
                <a:sym typeface="DejaVu Serif"/>
              </a:rPr>
              <a:t>Lọc và chuẩn hóa dữ liệu cần thiết, để có được ngữ cảnh bài tập.</a:t>
            </a:r>
          </a:p>
        </p:txBody>
      </p:sp>
      <p:sp>
        <p:nvSpPr>
          <p:cNvPr name="TextBox 9" id="9"/>
          <p:cNvSpPr txBox="true"/>
          <p:nvPr/>
        </p:nvSpPr>
        <p:spPr>
          <a:xfrm rot="0">
            <a:off x="446590" y="7177007"/>
            <a:ext cx="5582078"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6/ Có được các ngữ cảnh cần thiết kết hợp với System Prompt được thiết kế sẳn.</a:t>
            </a:r>
          </a:p>
        </p:txBody>
      </p:sp>
      <p:sp>
        <p:nvSpPr>
          <p:cNvPr name="TextBox 10" id="10"/>
          <p:cNvSpPr txBox="true"/>
          <p:nvPr/>
        </p:nvSpPr>
        <p:spPr>
          <a:xfrm rot="0">
            <a:off x="446590" y="9061610"/>
            <a:ext cx="5582078"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8/ ChatClient gửi Prompt cùng với Chat Memory đến mô hình GPT-5.4 mini.</a:t>
            </a:r>
          </a:p>
        </p:txBody>
      </p:sp>
      <p:sp>
        <p:nvSpPr>
          <p:cNvPr name="TextBox 11" id="11"/>
          <p:cNvSpPr txBox="true"/>
          <p:nvPr/>
        </p:nvSpPr>
        <p:spPr>
          <a:xfrm rot="0">
            <a:off x="446590" y="3264416"/>
            <a:ext cx="5582078" cy="1143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3/ </a:t>
            </a:r>
            <a:r>
              <a:rPr lang="en-US" sz="2000" strike="noStrike" u="none">
                <a:solidFill>
                  <a:srgbClr val="FFFFFF"/>
                </a:solidFill>
                <a:latin typeface="DejaVu Serif"/>
                <a:ea typeface="DejaVu Serif"/>
                <a:cs typeface="DejaVu Serif"/>
                <a:sym typeface="DejaVu Serif"/>
              </a:rPr>
              <a:t>Truy xuất từ MongoDB để lấy nội dung gợi ý bài tập và kết quả phân tích bài làm trước đó làm ngữ cảnh.</a:t>
            </a:r>
          </a:p>
        </p:txBody>
      </p:sp>
      <p:sp>
        <p:nvSpPr>
          <p:cNvPr name="TextBox 12" id="12"/>
          <p:cNvSpPr txBox="true"/>
          <p:nvPr/>
        </p:nvSpPr>
        <p:spPr>
          <a:xfrm rot="0">
            <a:off x="446590" y="4574963"/>
            <a:ext cx="5582078" cy="1143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4/ </a:t>
            </a:r>
            <a:r>
              <a:rPr lang="en-US" sz="2000" strike="noStrike" u="none">
                <a:solidFill>
                  <a:srgbClr val="FFFFFF"/>
                </a:solidFill>
                <a:latin typeface="DejaVu Serif"/>
                <a:ea typeface="DejaVu Serif"/>
                <a:cs typeface="DejaVu Serif"/>
                <a:sym typeface="DejaVu Serif"/>
              </a:rPr>
              <a:t>Đánh giá câu hỏi của sinh viên để xác định có cần sử dụng mã nguồn bài nộp hay không.</a:t>
            </a:r>
          </a:p>
        </p:txBody>
      </p:sp>
      <p:sp>
        <p:nvSpPr>
          <p:cNvPr name="TextBox 13" id="13"/>
          <p:cNvSpPr txBox="true"/>
          <p:nvPr/>
        </p:nvSpPr>
        <p:spPr>
          <a:xfrm rot="0">
            <a:off x="446590" y="5885510"/>
            <a:ext cx="5582078" cy="1143000"/>
          </a:xfrm>
          <a:prstGeom prst="rect">
            <a:avLst/>
          </a:prstGeom>
        </p:spPr>
        <p:txBody>
          <a:bodyPr anchor="t" rtlCol="false" tIns="0" lIns="0" bIns="0" rIns="0">
            <a:spAutoFit/>
          </a:bodyPr>
          <a:lstStyle/>
          <a:p>
            <a:pPr algn="l" marL="0" indent="0" lvl="0">
              <a:lnSpc>
                <a:spcPts val="3000"/>
              </a:lnSpc>
              <a:spcBef>
                <a:spcPct val="0"/>
              </a:spcBef>
            </a:pPr>
            <a:r>
              <a:rPr lang="en-US" sz="2000">
                <a:solidFill>
                  <a:srgbClr val="FFFFFF"/>
                </a:solidFill>
                <a:latin typeface="DejaVu Serif"/>
                <a:ea typeface="DejaVu Serif"/>
                <a:cs typeface="DejaVu Serif"/>
                <a:sym typeface="DejaVu Serif"/>
              </a:rPr>
              <a:t>5/ </a:t>
            </a:r>
            <a:r>
              <a:rPr lang="en-US" sz="2000" strike="noStrike" u="none">
                <a:solidFill>
                  <a:srgbClr val="FFFFFF"/>
                </a:solidFill>
                <a:latin typeface="DejaVu Serif"/>
                <a:ea typeface="DejaVu Serif"/>
                <a:cs typeface="DejaVu Serif"/>
                <a:sym typeface="DejaVu Serif"/>
              </a:rPr>
              <a:t>Nếu cần, hệ thống lấy bài làm từ Moodle, đọc nội dung mã nguồn để làm ngữ cảnh.</a:t>
            </a:r>
          </a:p>
        </p:txBody>
      </p:sp>
      <p:sp>
        <p:nvSpPr>
          <p:cNvPr name="TextBox 14" id="14"/>
          <p:cNvSpPr txBox="true"/>
          <p:nvPr/>
        </p:nvSpPr>
        <p:spPr>
          <a:xfrm rot="0">
            <a:off x="446590" y="8119309"/>
            <a:ext cx="5582078" cy="793804"/>
          </a:xfrm>
          <a:prstGeom prst="rect">
            <a:avLst/>
          </a:prstGeom>
        </p:spPr>
        <p:txBody>
          <a:bodyPr anchor="t" rtlCol="false" tIns="0" lIns="0" bIns="0" rIns="0">
            <a:spAutoFit/>
          </a:bodyPr>
          <a:lstStyle/>
          <a:p>
            <a:pPr algn="l">
              <a:lnSpc>
                <a:spcPts val="3200"/>
              </a:lnSpc>
              <a:spcBef>
                <a:spcPct val="0"/>
              </a:spcBef>
            </a:pPr>
            <a:r>
              <a:rPr lang="en-US" sz="2000">
                <a:solidFill>
                  <a:srgbClr val="FFFFFF"/>
                </a:solidFill>
                <a:latin typeface="DejaVu Serif"/>
                <a:ea typeface="DejaVu Serif"/>
                <a:cs typeface="DejaVu Serif"/>
                <a:sym typeface="DejaVu Serif"/>
              </a:rPr>
              <a:t>7/ Kết hợp System Prompt và tin nhắn sinh viên để tạo Prompt hoàn chỉnh</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005439" y="6546798"/>
            <a:ext cx="7480405" cy="7480405"/>
          </a:xfrm>
          <a:custGeom>
            <a:avLst/>
            <a:gdLst/>
            <a:ahLst/>
            <a:cxnLst/>
            <a:rect r="r" b="b" t="t" l="l"/>
            <a:pathLst>
              <a:path h="7480405" w="7480405">
                <a:moveTo>
                  <a:pt x="0" y="0"/>
                </a:moveTo>
                <a:lnTo>
                  <a:pt x="7480405" y="0"/>
                </a:lnTo>
                <a:lnTo>
                  <a:pt x="7480405" y="7480404"/>
                </a:lnTo>
                <a:lnTo>
                  <a:pt x="0" y="7480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TextBox 5" id="5"/>
          <p:cNvSpPr txBox="true"/>
          <p:nvPr/>
        </p:nvSpPr>
        <p:spPr>
          <a:xfrm rot="0">
            <a:off x="446590" y="300974"/>
            <a:ext cx="16305687" cy="504879"/>
          </a:xfrm>
          <a:prstGeom prst="rect">
            <a:avLst/>
          </a:prstGeom>
        </p:spPr>
        <p:txBody>
          <a:bodyPr anchor="t" rtlCol="false" tIns="0" lIns="0" bIns="0" rIns="0">
            <a:spAutoFit/>
          </a:bodyPr>
          <a:lstStyle/>
          <a:p>
            <a:pPr algn="l" marL="0" indent="0" lvl="0">
              <a:lnSpc>
                <a:spcPts val="4080"/>
              </a:lnSpc>
              <a:spcBef>
                <a:spcPct val="0"/>
              </a:spcBef>
            </a:pPr>
            <a:r>
              <a:rPr lang="en-US" b="true" sz="3400">
                <a:solidFill>
                  <a:srgbClr val="FF9A00"/>
                </a:solidFill>
                <a:latin typeface="Muli Bold"/>
                <a:ea typeface="Muli Bold"/>
                <a:cs typeface="Muli Bold"/>
                <a:sym typeface="Muli Bold"/>
              </a:rPr>
              <a:t>TÓM TẮT DỮ LIỆU CẦN THIẾT ĐỂ XÂY DỰNG CÁC PROMPT CHỨC NĂNG</a:t>
            </a:r>
          </a:p>
        </p:txBody>
      </p:sp>
      <p:graphicFrame>
        <p:nvGraphicFramePr>
          <p:cNvPr name="Table 6" id="6"/>
          <p:cNvGraphicFramePr>
            <a:graphicFrameLocks noGrp="true"/>
          </p:cNvGraphicFramePr>
          <p:nvPr/>
        </p:nvGraphicFramePr>
        <p:xfrm>
          <a:off x="1454209" y="1822785"/>
          <a:ext cx="15379581" cy="6766008"/>
        </p:xfrm>
        <a:graphic>
          <a:graphicData uri="http://schemas.openxmlformats.org/drawingml/2006/table">
            <a:tbl>
              <a:tblPr/>
              <a:tblGrid>
                <a:gridCol w="3075916"/>
                <a:gridCol w="3075916"/>
                <a:gridCol w="3075916"/>
                <a:gridCol w="3075916"/>
                <a:gridCol w="3075916"/>
              </a:tblGrid>
              <a:tr h="863984">
                <a:tc>
                  <a:txBody>
                    <a:bodyPr anchor="t" rtlCol="false"/>
                    <a:lstStyle/>
                    <a:p>
                      <a:pPr algn="ctr">
                        <a:lnSpc>
                          <a:spcPts val="3500"/>
                        </a:lnSpc>
                        <a:defRPr/>
                      </a:pPr>
                      <a:r>
                        <a:rPr lang="en-US" b="true" sz="2500">
                          <a:solidFill>
                            <a:srgbClr val="FFFFFF"/>
                          </a:solidFill>
                          <a:latin typeface="DejaVu Serif Bold"/>
                          <a:ea typeface="DejaVu Serif Bold"/>
                          <a:cs typeface="DejaVu Serif Bold"/>
                          <a:sym typeface="DejaVu Serif Bold"/>
                        </a:rPr>
                        <a:t>Chức năng</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500"/>
                        </a:lnSpc>
                        <a:defRPr/>
                      </a:pPr>
                      <a:r>
                        <a:rPr lang="en-US" b="true" sz="2500">
                          <a:solidFill>
                            <a:srgbClr val="FFFFFF"/>
                          </a:solidFill>
                          <a:latin typeface="DejaVu Serif Bold"/>
                          <a:ea typeface="DejaVu Serif Bold"/>
                          <a:cs typeface="DejaVu Serif Bold"/>
                          <a:sym typeface="DejaVu Serif Bold"/>
                        </a:rPr>
                        <a:t>Moodle</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500"/>
                        </a:lnSpc>
                        <a:defRPr/>
                      </a:pPr>
                      <a:r>
                        <a:rPr lang="en-US" b="true" sz="2500">
                          <a:solidFill>
                            <a:srgbClr val="FFFFFF"/>
                          </a:solidFill>
                          <a:latin typeface="DejaVu Serif Bold"/>
                          <a:ea typeface="DejaVu Serif Bold"/>
                          <a:cs typeface="DejaVu Serif Bold"/>
                          <a:sym typeface="DejaVu Serif Bold"/>
                        </a:rPr>
                        <a:t>MongoDB</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500"/>
                        </a:lnSpc>
                        <a:defRPr/>
                      </a:pPr>
                      <a:r>
                        <a:rPr lang="en-US" b="true" sz="2500">
                          <a:solidFill>
                            <a:srgbClr val="FFFFFF"/>
                          </a:solidFill>
                          <a:latin typeface="DejaVu Serif Bold"/>
                          <a:ea typeface="DejaVu Serif Bold"/>
                          <a:cs typeface="DejaVu Serif Bold"/>
                          <a:sym typeface="DejaVu Serif Bold"/>
                        </a:rPr>
                        <a:t>Chat Memory</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500"/>
                        </a:lnSpc>
                        <a:defRPr/>
                      </a:pPr>
                      <a:r>
                        <a:rPr lang="en-US" b="true" sz="2500">
                          <a:solidFill>
                            <a:srgbClr val="FFFFFF"/>
                          </a:solidFill>
                          <a:latin typeface="DejaVu Serif Bold"/>
                          <a:ea typeface="DejaVu Serif Bold"/>
                          <a:cs typeface="DejaVu Serif Bold"/>
                          <a:sym typeface="DejaVu Serif Bold"/>
                        </a:rPr>
                        <a:t>Người dùng</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r>
              <a:tr h="1475506">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Gợi ý bài tập</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Thông tin bài tập</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080"/>
                        </a:lnSpc>
                        <a:defRPr/>
                      </a:pPr>
                      <a:r>
                        <a:rPr lang="en-US" sz="2200">
                          <a:solidFill>
                            <a:srgbClr val="FFFFFF"/>
                          </a:solidFill>
                          <a:latin typeface="DejaVu Serif"/>
                          <a:ea typeface="DejaVu Serif"/>
                          <a:cs typeface="DejaVu Serif"/>
                          <a:sym typeface="DejaVu Serif"/>
                        </a:rPr>
                        <a:t>-</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080"/>
                        </a:lnSpc>
                        <a:defRPr/>
                      </a:pPr>
                      <a:r>
                        <a:rPr lang="en-US" sz="2200">
                          <a:solidFill>
                            <a:srgbClr val="FFFFFF"/>
                          </a:solidFill>
                          <a:latin typeface="DejaVu Serif"/>
                          <a:ea typeface="DejaVu Serif"/>
                          <a:cs typeface="DejaVu Serif"/>
                          <a:sym typeface="DejaVu Serif"/>
                        </a:rPr>
                        <a:t>-</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080"/>
                        </a:lnSpc>
                        <a:defRPr/>
                      </a:pPr>
                      <a:r>
                        <a:rPr lang="en-US" sz="2200">
                          <a:solidFill>
                            <a:srgbClr val="FFFFFF"/>
                          </a:solidFill>
                          <a:latin typeface="DejaVu Serif"/>
                          <a:ea typeface="DejaVu Serif"/>
                          <a:cs typeface="DejaVu Serif"/>
                          <a:sym typeface="DejaVu Serif"/>
                        </a:rPr>
                        <a:t>-</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r>
              <a:tr h="1475506">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Hỏi đáp về hướng dẫn thực hành</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080"/>
                        </a:lnSpc>
                        <a:defRPr/>
                      </a:pPr>
                      <a:r>
                        <a:rPr lang="en-US" sz="2200">
                          <a:solidFill>
                            <a:srgbClr val="FFFFFF"/>
                          </a:solidFill>
                          <a:latin typeface="DejaVu Serif"/>
                          <a:ea typeface="DejaVu Serif"/>
                          <a:cs typeface="DejaVu Serif"/>
                          <a:sym typeface="DejaVu Serif"/>
                        </a:rPr>
                        <a:t>-</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Nội dung gợi ý đã lưu</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Lịch sử hội thoại</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Câu hỏi/yêu cầu hiện tại</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r>
              <a:tr h="1475506">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Phân tích bài làm</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Thông tin bài tập, bài nộp</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Nội dung gợi ý đã lưu</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ctr">
                        <a:lnSpc>
                          <a:spcPts val="3080"/>
                        </a:lnSpc>
                        <a:defRPr/>
                      </a:pPr>
                      <a:r>
                        <a:rPr lang="en-US" sz="2200">
                          <a:solidFill>
                            <a:srgbClr val="FFFFFF"/>
                          </a:solidFill>
                          <a:latin typeface="DejaVu Serif"/>
                          <a:ea typeface="DejaVu Serif"/>
                          <a:cs typeface="DejaVu Serif"/>
                          <a:sym typeface="DejaVu Serif"/>
                        </a:rPr>
                        <a:t>-</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Tệp mã nguồn tải lên (khi chưa có bài nộp)</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r>
              <a:tr h="1475506">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Hỏi đáp về phân tích bài làm</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Thông tin bài tập, bài nộp (nếu cần)</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Nội dung gợi ý, kết quả phân tích</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Lịch sử hội thoại</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c>
                  <a:txBody>
                    <a:bodyPr anchor="t" rtlCol="false"/>
                    <a:lstStyle/>
                    <a:p>
                      <a:pPr algn="l">
                        <a:lnSpc>
                          <a:spcPts val="3080"/>
                        </a:lnSpc>
                        <a:defRPr/>
                      </a:pPr>
                      <a:r>
                        <a:rPr lang="en-US" sz="2200">
                          <a:solidFill>
                            <a:srgbClr val="FFFFFF"/>
                          </a:solidFill>
                          <a:latin typeface="DejaVu Serif"/>
                          <a:ea typeface="DejaVu Serif"/>
                          <a:cs typeface="DejaVu Serif"/>
                          <a:sym typeface="DejaVu Serif"/>
                        </a:rPr>
                        <a:t>Câu hỏi/yêu cầu hiện tại</a:t>
                      </a:r>
                      <a:endParaRPr lang="en-US" sz="1100"/>
                    </a:p>
                  </a:txBody>
                  <a:tcPr marL="76200" marR="76200" marT="76200" marB="76200" anchor="ctr">
                    <a:lnL cmpd="sng" algn="ctr" cap="flat" w="28575">
                      <a:solidFill>
                        <a:srgbClr val="FFFFFF"/>
                      </a:solidFill>
                      <a:prstDash val="solid"/>
                      <a:round/>
                      <a:headEnd type="none" w="med" len="med"/>
                      <a:tailEnd type="none" w="med" len="med"/>
                    </a:lnL>
                    <a:lnR cmpd="sng" algn="ctr" cap="flat" w="28575">
                      <a:solidFill>
                        <a:srgbClr val="FFFFFF"/>
                      </a:solidFill>
                      <a:prstDash val="solid"/>
                      <a:round/>
                      <a:headEnd type="none" w="med" len="med"/>
                      <a:tailEnd type="none" w="med" len="med"/>
                    </a:lnR>
                    <a:lnT cmpd="sng" algn="ctr" cap="flat" w="28575">
                      <a:solidFill>
                        <a:srgbClr val="FFFFFF"/>
                      </a:solidFill>
                      <a:prstDash val="solid"/>
                      <a:round/>
                      <a:headEnd type="none" w="med" len="med"/>
                      <a:tailEnd type="none" w="med" len="med"/>
                    </a:lnT>
                    <a:lnB cmpd="sng" algn="ctr" cap="flat" w="28575">
                      <a:solidFill>
                        <a:srgbClr val="FFFFFF"/>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051D40"/>
        </a:solidFill>
      </p:bgPr>
    </p:bg>
    <p:spTree>
      <p:nvGrpSpPr>
        <p:cNvPr id="1" name=""/>
        <p:cNvGrpSpPr/>
        <p:nvPr/>
      </p:nvGrpSpPr>
      <p:grpSpPr>
        <a:xfrm>
          <a:off x="0" y="0"/>
          <a:ext cx="0" cy="0"/>
          <a:chOff x="0" y="0"/>
          <a:chExt cx="0" cy="0"/>
        </a:xfrm>
      </p:grpSpPr>
      <p:sp>
        <p:nvSpPr>
          <p:cNvPr name="Freeform 2" id="2"/>
          <p:cNvSpPr/>
          <p:nvPr/>
        </p:nvSpPr>
        <p:spPr>
          <a:xfrm flipH="false" flipV="false" rot="0">
            <a:off x="-4028026" y="6703772"/>
            <a:ext cx="7480405" cy="7480405"/>
          </a:xfrm>
          <a:custGeom>
            <a:avLst/>
            <a:gdLst/>
            <a:ahLst/>
            <a:cxnLst/>
            <a:rect r="r" b="b" t="t" l="l"/>
            <a:pathLst>
              <a:path h="7480405" w="7480405">
                <a:moveTo>
                  <a:pt x="0" y="0"/>
                </a:moveTo>
                <a:lnTo>
                  <a:pt x="7480404" y="0"/>
                </a:lnTo>
                <a:lnTo>
                  <a:pt x="7480404" y="7480405"/>
                </a:lnTo>
                <a:lnTo>
                  <a:pt x="0" y="748040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7259300" y="-2287272"/>
            <a:ext cx="5754080" cy="8220114"/>
            <a:chOff x="0" y="0"/>
            <a:chExt cx="4445000" cy="6350000"/>
          </a:xfrm>
        </p:grpSpPr>
        <p:sp>
          <p:nvSpPr>
            <p:cNvPr name="Freeform 4" id="4"/>
            <p:cNvSpPr/>
            <p:nvPr/>
          </p:nvSpPr>
          <p:spPr>
            <a:xfrm flipH="false" flipV="false" rot="0">
              <a:off x="0" y="0"/>
              <a:ext cx="4445000" cy="6350000"/>
            </a:xfrm>
            <a:custGeom>
              <a:avLst/>
              <a:gdLst/>
              <a:ahLst/>
              <a:cxnLst/>
              <a:rect r="r" b="b" t="t" l="l"/>
              <a:pathLst>
                <a:path h="6350000" w="4445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alphaModFix amt="74000"/>
              </a:blip>
              <a:stretch>
                <a:fillRect l="-201730" t="0" r="-201730" b="0"/>
              </a:stretch>
            </a:blipFill>
          </p:spPr>
        </p:sp>
      </p:grpSp>
      <p:sp>
        <p:nvSpPr>
          <p:cNvPr name="TextBox 5" id="5"/>
          <p:cNvSpPr txBox="true"/>
          <p:nvPr/>
        </p:nvSpPr>
        <p:spPr>
          <a:xfrm rot="0">
            <a:off x="446590" y="300974"/>
            <a:ext cx="16438644" cy="504879"/>
          </a:xfrm>
          <a:prstGeom prst="rect">
            <a:avLst/>
          </a:prstGeom>
        </p:spPr>
        <p:txBody>
          <a:bodyPr anchor="t" rtlCol="false" tIns="0" lIns="0" bIns="0" rIns="0">
            <a:spAutoFit/>
          </a:bodyPr>
          <a:lstStyle/>
          <a:p>
            <a:pPr algn="l" marL="0" indent="0" lvl="0">
              <a:lnSpc>
                <a:spcPts val="4080"/>
              </a:lnSpc>
              <a:spcBef>
                <a:spcPct val="0"/>
              </a:spcBef>
            </a:pPr>
            <a:r>
              <a:rPr lang="en-US" b="true" sz="3400">
                <a:solidFill>
                  <a:srgbClr val="FF9A00"/>
                </a:solidFill>
                <a:latin typeface="Muli Bold"/>
                <a:ea typeface="Muli Bold"/>
                <a:cs typeface="Muli Bold"/>
                <a:sym typeface="Muli Bold"/>
              </a:rPr>
              <a:t>THIẾT KẾ SYSTEM PROMPT CHO CÁC CHỨC NĂNG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DAHNyAI_OiY</dc:identifier>
  <dcterms:modified xsi:type="dcterms:W3CDTF">2011-08-01T06:04:30Z</dcterms:modified>
  <cp:revision>1</cp:revision>
  <dc:title>Slide KLTN</dc:title>
</cp:coreProperties>
</file>