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DejaVu Serif Bold" panose="020B0604020202020204" charset="0"/>
      <p:regular r:id="rId23"/>
    </p:embeddedFont>
    <p:embeddedFont>
      <p:font typeface="DejaVu Serif" panose="020B0604020202020204" charset="0"/>
      <p:regular r:id="rId24"/>
    </p:embeddedFont>
    <p:embeddedFont>
      <p:font typeface="Calibri" panose="020F0502020204030204" pitchFamily="34" charset="0"/>
      <p:regular r:id="rId25"/>
      <p:bold r:id="rId26"/>
      <p:italic r:id="rId27"/>
      <p:boldItalic r:id="rId28"/>
    </p:embeddedFont>
    <p:embeddedFont>
      <p:font typeface="Muli Bold" panose="020B0604020202020204" charset="0"/>
      <p:regular r:id="rId29"/>
    </p:embeddedFont>
    <p:embeddedFont>
      <p:font typeface="Muli" panose="020B0604020202020204" charset="0"/>
      <p:regular r:id="rId30"/>
    </p:embeddedFont>
    <p:embeddedFont>
      <p:font typeface="Muli Ultra-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422" y="23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sv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2.sv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3.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E40"/>
        </a:solidFill>
        <a:effectLst/>
      </p:bgPr>
    </p:bg>
    <p:spTree>
      <p:nvGrpSpPr>
        <p:cNvPr id="1" name=""/>
        <p:cNvGrpSpPr/>
        <p:nvPr/>
      </p:nvGrpSpPr>
      <p:grpSpPr>
        <a:xfrm>
          <a:off x="0" y="0"/>
          <a:ext cx="0" cy="0"/>
          <a:chOff x="0" y="0"/>
          <a:chExt cx="0" cy="0"/>
        </a:xfrm>
      </p:grpSpPr>
      <p:sp>
        <p:nvSpPr>
          <p:cNvPr id="2" name="Freeform 2"/>
          <p:cNvSpPr/>
          <p:nvPr/>
        </p:nvSpPr>
        <p:spPr>
          <a:xfrm>
            <a:off x="-1717367" y="-2432569"/>
            <a:ext cx="6550227" cy="6550227"/>
          </a:xfrm>
          <a:custGeom>
            <a:avLst/>
            <a:gdLst/>
            <a:ahLst/>
            <a:cxnLst/>
            <a:rect l="l" t="t" r="r" b="b"/>
            <a:pathLst>
              <a:path w="6550227" h="6550227">
                <a:moveTo>
                  <a:pt x="0" y="0"/>
                </a:moveTo>
                <a:lnTo>
                  <a:pt x="6550227" y="0"/>
                </a:lnTo>
                <a:lnTo>
                  <a:pt x="6550227" y="6550227"/>
                </a:lnTo>
                <a:lnTo>
                  <a:pt x="0" y="6550227"/>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0" y="503363"/>
            <a:ext cx="18288000" cy="1137466"/>
            <a:chOff x="0" y="0"/>
            <a:chExt cx="4816593" cy="299580"/>
          </a:xfrm>
        </p:grpSpPr>
        <p:sp>
          <p:nvSpPr>
            <p:cNvPr id="4" name="Freeform 4"/>
            <p:cNvSpPr/>
            <p:nvPr/>
          </p:nvSpPr>
          <p:spPr>
            <a:xfrm>
              <a:off x="0" y="0"/>
              <a:ext cx="4816592" cy="299580"/>
            </a:xfrm>
            <a:custGeom>
              <a:avLst/>
              <a:gdLst/>
              <a:ahLst/>
              <a:cxnLst/>
              <a:rect l="l" t="t" r="r" b="b"/>
              <a:pathLst>
                <a:path w="4816592" h="299580">
                  <a:moveTo>
                    <a:pt x="0" y="0"/>
                  </a:moveTo>
                  <a:lnTo>
                    <a:pt x="4816592" y="0"/>
                  </a:lnTo>
                  <a:lnTo>
                    <a:pt x="4816592" y="299580"/>
                  </a:lnTo>
                  <a:lnTo>
                    <a:pt x="0" y="299580"/>
                  </a:lnTo>
                  <a:close/>
                </a:path>
              </a:pathLst>
            </a:custGeom>
            <a:solidFill>
              <a:srgbClr val="354EAB"/>
            </a:solidFill>
          </p:spPr>
        </p:sp>
        <p:sp>
          <p:nvSpPr>
            <p:cNvPr id="5" name="TextBox 5"/>
            <p:cNvSpPr txBox="1"/>
            <p:nvPr/>
          </p:nvSpPr>
          <p:spPr>
            <a:xfrm>
              <a:off x="0" y="-66675"/>
              <a:ext cx="4816593" cy="366255"/>
            </a:xfrm>
            <a:prstGeom prst="rect">
              <a:avLst/>
            </a:prstGeom>
          </p:spPr>
          <p:txBody>
            <a:bodyPr lIns="50800" tIns="50800" rIns="50800" bIns="50800" rtlCol="0" anchor="ctr"/>
            <a:lstStyle/>
            <a:p>
              <a:pPr algn="ctr">
                <a:lnSpc>
                  <a:spcPts val="3300"/>
                </a:lnSpc>
              </a:pPr>
              <a:endParaRPr/>
            </a:p>
          </p:txBody>
        </p:sp>
      </p:grpSp>
      <p:grpSp>
        <p:nvGrpSpPr>
          <p:cNvPr id="6" name="Group 6"/>
          <p:cNvGrpSpPr/>
          <p:nvPr/>
        </p:nvGrpSpPr>
        <p:grpSpPr>
          <a:xfrm>
            <a:off x="485650" y="0"/>
            <a:ext cx="2144193" cy="214419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5FFF5"/>
            </a:solidFill>
          </p:spPr>
        </p:sp>
        <p:sp>
          <p:nvSpPr>
            <p:cNvPr id="8" name="TextBox 8"/>
            <p:cNvSpPr txBox="1"/>
            <p:nvPr/>
          </p:nvSpPr>
          <p:spPr>
            <a:xfrm>
              <a:off x="76200" y="9525"/>
              <a:ext cx="660400" cy="727075"/>
            </a:xfrm>
            <a:prstGeom prst="rect">
              <a:avLst/>
            </a:prstGeom>
          </p:spPr>
          <p:txBody>
            <a:bodyPr lIns="50800" tIns="50800" rIns="50800" bIns="50800" rtlCol="0" anchor="ctr"/>
            <a:lstStyle/>
            <a:p>
              <a:pPr algn="ctr">
                <a:lnSpc>
                  <a:spcPts val="3300"/>
                </a:lnSpc>
              </a:pPr>
              <a:endParaRPr/>
            </a:p>
          </p:txBody>
        </p:sp>
      </p:grpSp>
      <p:sp>
        <p:nvSpPr>
          <p:cNvPr id="9" name="Freeform 9"/>
          <p:cNvSpPr/>
          <p:nvPr/>
        </p:nvSpPr>
        <p:spPr>
          <a:xfrm>
            <a:off x="721601" y="235951"/>
            <a:ext cx="1672291" cy="1672291"/>
          </a:xfrm>
          <a:custGeom>
            <a:avLst/>
            <a:gdLst/>
            <a:ahLst/>
            <a:cxnLst/>
            <a:rect l="l" t="t" r="r" b="b"/>
            <a:pathLst>
              <a:path w="1672291" h="1672291">
                <a:moveTo>
                  <a:pt x="0" y="0"/>
                </a:moveTo>
                <a:lnTo>
                  <a:pt x="1672290" y="0"/>
                </a:lnTo>
                <a:lnTo>
                  <a:pt x="1672290" y="1672291"/>
                </a:lnTo>
                <a:lnTo>
                  <a:pt x="0" y="1672291"/>
                </a:lnTo>
                <a:lnTo>
                  <a:pt x="0" y="0"/>
                </a:lnTo>
                <a:close/>
              </a:path>
            </a:pathLst>
          </a:custGeom>
          <a:blipFill>
            <a:blip r:embed="rId4"/>
            <a:stretch>
              <a:fillRect/>
            </a:stretch>
          </a:blipFill>
        </p:spPr>
      </p:sp>
      <p:sp>
        <p:nvSpPr>
          <p:cNvPr id="10" name="Freeform 10"/>
          <p:cNvSpPr/>
          <p:nvPr/>
        </p:nvSpPr>
        <p:spPr>
          <a:xfrm>
            <a:off x="4766701" y="503701"/>
            <a:ext cx="8754599" cy="8754599"/>
          </a:xfrm>
          <a:custGeom>
            <a:avLst/>
            <a:gdLst/>
            <a:ahLst/>
            <a:cxnLst/>
            <a:rect l="l" t="t" r="r" b="b"/>
            <a:pathLst>
              <a:path w="8754599" h="8754599">
                <a:moveTo>
                  <a:pt x="0" y="0"/>
                </a:moveTo>
                <a:lnTo>
                  <a:pt x="8754598" y="0"/>
                </a:lnTo>
                <a:lnTo>
                  <a:pt x="8754598" y="8754599"/>
                </a:lnTo>
                <a:lnTo>
                  <a:pt x="0" y="8754599"/>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11" name="AutoShape 11"/>
          <p:cNvSpPr/>
          <p:nvPr/>
        </p:nvSpPr>
        <p:spPr>
          <a:xfrm>
            <a:off x="2153606" y="8883160"/>
            <a:ext cx="2347464" cy="0"/>
          </a:xfrm>
          <a:prstGeom prst="line">
            <a:avLst/>
          </a:prstGeom>
          <a:ln w="38100" cap="flat">
            <a:solidFill>
              <a:srgbClr val="FFFFFF"/>
            </a:solidFill>
            <a:prstDash val="solid"/>
            <a:headEnd type="none" w="sm" len="sm"/>
            <a:tailEnd type="none" w="sm" len="sm"/>
          </a:ln>
        </p:spPr>
      </p:sp>
      <p:sp>
        <p:nvSpPr>
          <p:cNvPr id="12" name="AutoShape 12"/>
          <p:cNvSpPr/>
          <p:nvPr/>
        </p:nvSpPr>
        <p:spPr>
          <a:xfrm flipV="1">
            <a:off x="12615386" y="8863734"/>
            <a:ext cx="2347464" cy="0"/>
          </a:xfrm>
          <a:prstGeom prst="line">
            <a:avLst/>
          </a:prstGeom>
          <a:ln w="38100" cap="flat">
            <a:solidFill>
              <a:srgbClr val="FFFFFF"/>
            </a:solidFill>
            <a:prstDash val="solid"/>
            <a:headEnd type="none" w="sm" len="sm"/>
            <a:tailEnd type="none" w="sm" len="sm"/>
          </a:ln>
        </p:spPr>
      </p:sp>
      <p:sp>
        <p:nvSpPr>
          <p:cNvPr id="13" name="TextBox 13"/>
          <p:cNvSpPr txBox="1"/>
          <p:nvPr/>
        </p:nvSpPr>
        <p:spPr>
          <a:xfrm>
            <a:off x="602391" y="8211818"/>
            <a:ext cx="5449894" cy="579950"/>
          </a:xfrm>
          <a:prstGeom prst="rect">
            <a:avLst/>
          </a:prstGeom>
        </p:spPr>
        <p:txBody>
          <a:bodyPr lIns="0" tIns="0" rIns="0" bIns="0" rtlCol="0" anchor="t">
            <a:spAutoFit/>
          </a:bodyPr>
          <a:lstStyle/>
          <a:p>
            <a:pPr algn="ctr">
              <a:lnSpc>
                <a:spcPts val="4616"/>
              </a:lnSpc>
            </a:pPr>
            <a:r>
              <a:rPr lang="en-US" sz="3297" b="1">
                <a:solidFill>
                  <a:srgbClr val="FFFFFF"/>
                </a:solidFill>
                <a:latin typeface="DejaVu Serif Bold"/>
                <a:ea typeface="DejaVu Serif Bold"/>
                <a:cs typeface="DejaVu Serif Bold"/>
                <a:sym typeface="DejaVu Serif Bold"/>
              </a:rPr>
              <a:t>Giảng viên hướng dẫn: </a:t>
            </a:r>
          </a:p>
        </p:txBody>
      </p:sp>
      <p:sp>
        <p:nvSpPr>
          <p:cNvPr id="14" name="TextBox 14"/>
          <p:cNvSpPr txBox="1"/>
          <p:nvPr/>
        </p:nvSpPr>
        <p:spPr>
          <a:xfrm>
            <a:off x="11350975" y="8211818"/>
            <a:ext cx="4876286" cy="573351"/>
          </a:xfrm>
          <a:prstGeom prst="rect">
            <a:avLst/>
          </a:prstGeom>
        </p:spPr>
        <p:txBody>
          <a:bodyPr lIns="0" tIns="0" rIns="0" bIns="0" rtlCol="0" anchor="t">
            <a:spAutoFit/>
          </a:bodyPr>
          <a:lstStyle/>
          <a:p>
            <a:pPr algn="ctr">
              <a:lnSpc>
                <a:spcPts val="4619"/>
              </a:lnSpc>
            </a:pPr>
            <a:r>
              <a:rPr lang="en-US" sz="3299" b="1">
                <a:solidFill>
                  <a:srgbClr val="FFFFFF"/>
                </a:solidFill>
                <a:latin typeface="DejaVu Serif Bold"/>
                <a:ea typeface="DejaVu Serif Bold"/>
                <a:cs typeface="DejaVu Serif Bold"/>
                <a:sym typeface="DejaVu Serif Bold"/>
              </a:rPr>
              <a:t>Sinh viên thực hiện: </a:t>
            </a:r>
          </a:p>
        </p:txBody>
      </p:sp>
      <p:sp>
        <p:nvSpPr>
          <p:cNvPr id="15" name="TextBox 15"/>
          <p:cNvSpPr txBox="1"/>
          <p:nvPr/>
        </p:nvSpPr>
        <p:spPr>
          <a:xfrm>
            <a:off x="8877954" y="8982574"/>
            <a:ext cx="9822329" cy="573351"/>
          </a:xfrm>
          <a:prstGeom prst="rect">
            <a:avLst/>
          </a:prstGeom>
        </p:spPr>
        <p:txBody>
          <a:bodyPr lIns="0" tIns="0" rIns="0" bIns="0" rtlCol="0" anchor="t">
            <a:spAutoFit/>
          </a:bodyPr>
          <a:lstStyle/>
          <a:p>
            <a:pPr algn="ctr">
              <a:lnSpc>
                <a:spcPts val="4619"/>
              </a:lnSpc>
            </a:pPr>
            <a:r>
              <a:rPr lang="en-US" sz="3299">
                <a:solidFill>
                  <a:srgbClr val="FFFFFF"/>
                </a:solidFill>
                <a:latin typeface="DejaVu Serif"/>
                <a:ea typeface="DejaVu Serif"/>
                <a:cs typeface="DejaVu Serif"/>
                <a:sym typeface="DejaVu Serif"/>
              </a:rPr>
              <a:t>Nguyễn Huỳnh Chí - 110122001</a:t>
            </a:r>
          </a:p>
        </p:txBody>
      </p:sp>
      <p:sp>
        <p:nvSpPr>
          <p:cNvPr id="16" name="TextBox 16"/>
          <p:cNvSpPr txBox="1"/>
          <p:nvPr/>
        </p:nvSpPr>
        <p:spPr>
          <a:xfrm>
            <a:off x="1087272" y="8982574"/>
            <a:ext cx="4480132" cy="573351"/>
          </a:xfrm>
          <a:prstGeom prst="rect">
            <a:avLst/>
          </a:prstGeom>
        </p:spPr>
        <p:txBody>
          <a:bodyPr lIns="0" tIns="0" rIns="0" bIns="0" rtlCol="0" anchor="t">
            <a:spAutoFit/>
          </a:bodyPr>
          <a:lstStyle/>
          <a:p>
            <a:pPr algn="ctr">
              <a:lnSpc>
                <a:spcPts val="4619"/>
              </a:lnSpc>
            </a:pPr>
            <a:r>
              <a:rPr lang="en-US" sz="3299">
                <a:solidFill>
                  <a:srgbClr val="FFFFFF"/>
                </a:solidFill>
                <a:latin typeface="DejaVu Serif"/>
                <a:ea typeface="DejaVu Serif"/>
                <a:cs typeface="DejaVu Serif"/>
                <a:sym typeface="DejaVu Serif"/>
              </a:rPr>
              <a:t>ThS. Trịnh Quốc Việt</a:t>
            </a:r>
          </a:p>
        </p:txBody>
      </p:sp>
      <p:sp>
        <p:nvSpPr>
          <p:cNvPr id="17" name="TextBox 17"/>
          <p:cNvSpPr txBox="1"/>
          <p:nvPr/>
        </p:nvSpPr>
        <p:spPr>
          <a:xfrm>
            <a:off x="2806763" y="787617"/>
            <a:ext cx="6761724" cy="549910"/>
          </a:xfrm>
          <a:prstGeom prst="rect">
            <a:avLst/>
          </a:prstGeom>
        </p:spPr>
        <p:txBody>
          <a:bodyPr lIns="0" tIns="0" rIns="0" bIns="0" rtlCol="0" anchor="t">
            <a:spAutoFit/>
          </a:bodyPr>
          <a:lstStyle/>
          <a:p>
            <a:pPr algn="l">
              <a:lnSpc>
                <a:spcPts val="4445"/>
              </a:lnSpc>
            </a:pPr>
            <a:r>
              <a:rPr lang="en-US" sz="3500" b="1" spc="105">
                <a:solidFill>
                  <a:srgbClr val="FFFFFF"/>
                </a:solidFill>
                <a:latin typeface="Muli Bold"/>
                <a:ea typeface="Muli Bold"/>
                <a:cs typeface="Muli Bold"/>
                <a:sym typeface="Muli Bold"/>
              </a:rPr>
              <a:t>ĐẠI HỌC TRÀ VINH</a:t>
            </a:r>
          </a:p>
        </p:txBody>
      </p:sp>
      <p:sp>
        <p:nvSpPr>
          <p:cNvPr id="18" name="TextBox 18"/>
          <p:cNvSpPr txBox="1"/>
          <p:nvPr/>
        </p:nvSpPr>
        <p:spPr>
          <a:xfrm>
            <a:off x="3681030" y="4127183"/>
            <a:ext cx="10925941" cy="2827336"/>
          </a:xfrm>
          <a:prstGeom prst="rect">
            <a:avLst/>
          </a:prstGeom>
        </p:spPr>
        <p:txBody>
          <a:bodyPr lIns="0" tIns="0" rIns="0" bIns="0" rtlCol="0" anchor="t">
            <a:spAutoFit/>
          </a:bodyPr>
          <a:lstStyle/>
          <a:p>
            <a:pPr algn="ctr">
              <a:lnSpc>
                <a:spcPts val="5596"/>
              </a:lnSpc>
              <a:spcBef>
                <a:spcPct val="0"/>
              </a:spcBef>
            </a:pPr>
            <a:r>
              <a:rPr lang="en-US" sz="3997" b="1" spc="227" err="1">
                <a:solidFill>
                  <a:srgbClr val="FFBD59"/>
                </a:solidFill>
                <a:latin typeface="DejaVu Serif Bold"/>
                <a:ea typeface="DejaVu Serif Bold"/>
                <a:cs typeface="DejaVu Serif Bold"/>
                <a:sym typeface="DejaVu Serif Bold"/>
              </a:rPr>
              <a:t>XÂY</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DỰNG</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CHATBOT</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HỖ</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TRỢ</a:t>
            </a:r>
            <a:r>
              <a:rPr lang="en-US" sz="3997" b="1" spc="227">
                <a:solidFill>
                  <a:srgbClr val="FFBD59"/>
                </a:solidFill>
                <a:latin typeface="DejaVu Serif Bold"/>
                <a:ea typeface="DejaVu Serif Bold"/>
                <a:cs typeface="DejaVu Serif Bold"/>
                <a:sym typeface="DejaVu Serif Bold"/>
              </a:rPr>
              <a:t> </a:t>
            </a:r>
          </a:p>
          <a:p>
            <a:pPr algn="ctr">
              <a:lnSpc>
                <a:spcPts val="5596"/>
              </a:lnSpc>
              <a:spcBef>
                <a:spcPct val="0"/>
              </a:spcBef>
            </a:pPr>
            <a:r>
              <a:rPr lang="en-US" sz="3997" b="1" spc="227" err="1">
                <a:solidFill>
                  <a:srgbClr val="FFBD59"/>
                </a:solidFill>
                <a:latin typeface="DejaVu Serif Bold"/>
                <a:ea typeface="DejaVu Serif Bold"/>
                <a:cs typeface="DejaVu Serif Bold"/>
                <a:sym typeface="DejaVu Serif Bold"/>
              </a:rPr>
              <a:t>GIẢI</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BÀI</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TẬP</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LẬP</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TRÌNH</a:t>
            </a:r>
            <a:endParaRPr lang="en-US" sz="3997" b="1" spc="227">
              <a:solidFill>
                <a:srgbClr val="FFBD59"/>
              </a:solidFill>
              <a:latin typeface="DejaVu Serif Bold"/>
              <a:ea typeface="DejaVu Serif Bold"/>
              <a:cs typeface="DejaVu Serif Bold"/>
              <a:sym typeface="DejaVu Serif Bold"/>
            </a:endParaRPr>
          </a:p>
          <a:p>
            <a:pPr algn="ctr">
              <a:lnSpc>
                <a:spcPts val="5596"/>
              </a:lnSpc>
              <a:spcBef>
                <a:spcPct val="0"/>
              </a:spcBef>
            </a:pPr>
            <a:r>
              <a:rPr lang="en-US" sz="3997" b="1" spc="227" err="1">
                <a:solidFill>
                  <a:srgbClr val="FFBD59"/>
                </a:solidFill>
                <a:latin typeface="DejaVu Serif Bold"/>
                <a:ea typeface="DejaVu Serif Bold"/>
                <a:cs typeface="DejaVu Serif Bold"/>
                <a:sym typeface="DejaVu Serif Bold"/>
              </a:rPr>
              <a:t>VÀ</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GỢI</a:t>
            </a:r>
            <a:r>
              <a:rPr lang="en-US" sz="3997" b="1" spc="227">
                <a:solidFill>
                  <a:srgbClr val="FFBD59"/>
                </a:solidFill>
                <a:latin typeface="DejaVu Serif Bold"/>
                <a:ea typeface="DejaVu Serif Bold"/>
                <a:cs typeface="DejaVu Serif Bold"/>
                <a:sym typeface="DejaVu Serif Bold"/>
              </a:rPr>
              <a:t> Ý </a:t>
            </a:r>
            <a:r>
              <a:rPr lang="en-US" sz="3997" b="1" spc="227" err="1">
                <a:solidFill>
                  <a:srgbClr val="FFBD59"/>
                </a:solidFill>
                <a:latin typeface="DejaVu Serif Bold"/>
                <a:ea typeface="DejaVu Serif Bold"/>
                <a:cs typeface="DejaVu Serif Bold"/>
                <a:sym typeface="DejaVu Serif Bold"/>
              </a:rPr>
              <a:t>LỖI</a:t>
            </a:r>
            <a:r>
              <a:rPr lang="en-US" sz="3997" b="1" spc="227">
                <a:solidFill>
                  <a:srgbClr val="FFBD59"/>
                </a:solidFill>
                <a:latin typeface="DejaVu Serif Bold"/>
                <a:ea typeface="DejaVu Serif Bold"/>
                <a:cs typeface="DejaVu Serif Bold"/>
                <a:sym typeface="DejaVu Serif Bold"/>
              </a:rPr>
              <a:t> SAI CHO </a:t>
            </a:r>
            <a:r>
              <a:rPr lang="en-US" sz="3997" b="1" spc="227" err="1">
                <a:solidFill>
                  <a:srgbClr val="FFBD59"/>
                </a:solidFill>
                <a:latin typeface="DejaVu Serif Bold"/>
                <a:ea typeface="DejaVu Serif Bold"/>
                <a:cs typeface="DejaVu Serif Bold"/>
                <a:sym typeface="DejaVu Serif Bold"/>
              </a:rPr>
              <a:t>SINH</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VIÊN</a:t>
            </a:r>
            <a:r>
              <a:rPr lang="en-US" sz="3997" b="1" spc="227">
                <a:solidFill>
                  <a:srgbClr val="FFBD59"/>
                </a:solidFill>
                <a:latin typeface="DejaVu Serif Bold"/>
                <a:ea typeface="DejaVu Serif Bold"/>
                <a:cs typeface="DejaVu Serif Bold"/>
                <a:sym typeface="DejaVu Serif Bold"/>
              </a:rPr>
              <a:t> </a:t>
            </a:r>
          </a:p>
          <a:p>
            <a:pPr algn="ctr">
              <a:lnSpc>
                <a:spcPts val="5596"/>
              </a:lnSpc>
              <a:spcBef>
                <a:spcPct val="0"/>
              </a:spcBef>
            </a:pPr>
            <a:r>
              <a:rPr lang="en-US" sz="3997" b="1" spc="227" err="1">
                <a:solidFill>
                  <a:srgbClr val="FFBD59"/>
                </a:solidFill>
                <a:latin typeface="DejaVu Serif Bold"/>
                <a:ea typeface="DejaVu Serif Bold"/>
                <a:cs typeface="DejaVu Serif Bold"/>
                <a:sym typeface="DejaVu Serif Bold"/>
              </a:rPr>
              <a:t>NGÀNH</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CÔNG</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NGHỆ</a:t>
            </a:r>
            <a:r>
              <a:rPr lang="en-US" sz="3997" b="1" spc="227">
                <a:solidFill>
                  <a:srgbClr val="FFBD59"/>
                </a:solidFill>
                <a:latin typeface="DejaVu Serif Bold"/>
                <a:ea typeface="DejaVu Serif Bold"/>
                <a:cs typeface="DejaVu Serif Bold"/>
                <a:sym typeface="DejaVu Serif Bold"/>
              </a:rPr>
              <a:t> </a:t>
            </a:r>
            <a:r>
              <a:rPr lang="en-US" sz="3997" b="1" spc="227" err="1">
                <a:solidFill>
                  <a:srgbClr val="FFBD59"/>
                </a:solidFill>
                <a:latin typeface="DejaVu Serif Bold"/>
                <a:ea typeface="DejaVu Serif Bold"/>
                <a:cs typeface="DejaVu Serif Bold"/>
                <a:sym typeface="DejaVu Serif Bold"/>
              </a:rPr>
              <a:t>THÔNG</a:t>
            </a:r>
            <a:r>
              <a:rPr lang="en-US" sz="3997" b="1" spc="227">
                <a:solidFill>
                  <a:srgbClr val="FFBD59"/>
                </a:solidFill>
                <a:latin typeface="DejaVu Serif Bold"/>
                <a:ea typeface="DejaVu Serif Bold"/>
                <a:cs typeface="DejaVu Serif Bold"/>
                <a:sym typeface="DejaVu Serif Bold"/>
              </a:rPr>
              <a:t> TIN</a:t>
            </a:r>
          </a:p>
        </p:txBody>
      </p:sp>
      <p:sp>
        <p:nvSpPr>
          <p:cNvPr id="19" name="TextBox 19"/>
          <p:cNvSpPr txBox="1"/>
          <p:nvPr/>
        </p:nvSpPr>
        <p:spPr>
          <a:xfrm>
            <a:off x="9433147" y="787617"/>
            <a:ext cx="10841101" cy="549910"/>
          </a:xfrm>
          <a:prstGeom prst="rect">
            <a:avLst/>
          </a:prstGeom>
        </p:spPr>
        <p:txBody>
          <a:bodyPr lIns="0" tIns="0" rIns="0" bIns="0" rtlCol="0" anchor="t">
            <a:spAutoFit/>
          </a:bodyPr>
          <a:lstStyle/>
          <a:p>
            <a:pPr algn="l">
              <a:lnSpc>
                <a:spcPts val="4445"/>
              </a:lnSpc>
            </a:pPr>
            <a:r>
              <a:rPr lang="en-US" sz="3500" b="1" spc="105">
                <a:solidFill>
                  <a:srgbClr val="FFFFFF"/>
                </a:solidFill>
                <a:latin typeface="Muli Bold"/>
                <a:ea typeface="Muli Bold"/>
                <a:cs typeface="Muli Bold"/>
                <a:sym typeface="Muli Bold"/>
              </a:rPr>
              <a:t>TRƯỜNG KỸ THUẬT VÀ CÔNG NGHỆ</a:t>
            </a:r>
          </a:p>
        </p:txBody>
      </p:sp>
      <p:sp>
        <p:nvSpPr>
          <p:cNvPr id="20" name="TextBox 20"/>
          <p:cNvSpPr txBox="1"/>
          <p:nvPr/>
        </p:nvSpPr>
        <p:spPr>
          <a:xfrm>
            <a:off x="6312969" y="2577959"/>
            <a:ext cx="5129970" cy="589022"/>
          </a:xfrm>
          <a:prstGeom prst="rect">
            <a:avLst/>
          </a:prstGeom>
        </p:spPr>
        <p:txBody>
          <a:bodyPr lIns="0" tIns="0" rIns="0" bIns="0" rtlCol="0" anchor="t">
            <a:spAutoFit/>
          </a:bodyPr>
          <a:lstStyle/>
          <a:p>
            <a:pPr algn="ctr">
              <a:lnSpc>
                <a:spcPts val="4759"/>
              </a:lnSpc>
              <a:spcBef>
                <a:spcPct val="0"/>
              </a:spcBef>
            </a:pPr>
            <a:r>
              <a:rPr lang="en-US" sz="3399" b="1">
                <a:solidFill>
                  <a:srgbClr val="FFFFFF"/>
                </a:solidFill>
                <a:latin typeface="DejaVu Serif Bold"/>
                <a:ea typeface="DejaVu Serif Bold"/>
                <a:cs typeface="DejaVu Serif Bold"/>
                <a:sym typeface="DejaVu Serif Bold"/>
              </a:rPr>
              <a:t>ĐỒ ÁN TỐT NGHIỆP </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1247958" y="125758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grpSp>
        <p:nvGrpSpPr>
          <p:cNvPr id="5" name="Group 5"/>
          <p:cNvGrpSpPr/>
          <p:nvPr/>
        </p:nvGrpSpPr>
        <p:grpSpPr>
          <a:xfrm rot="-5400000">
            <a:off x="5380242" y="-54726"/>
            <a:ext cx="921462" cy="2405689"/>
            <a:chOff x="0" y="0"/>
            <a:chExt cx="2432268" cy="6350000"/>
          </a:xfrm>
        </p:grpSpPr>
        <p:sp>
          <p:nvSpPr>
            <p:cNvPr id="6" name="Freeform 6"/>
            <p:cNvSpPr/>
            <p:nvPr/>
          </p:nvSpPr>
          <p:spPr>
            <a:xfrm flipV="1">
              <a:off x="0" y="0"/>
              <a:ext cx="2432268" cy="6350000"/>
            </a:xfrm>
            <a:custGeom>
              <a:avLst/>
              <a:gdLst/>
              <a:ahLst/>
              <a:cxnLst/>
              <a:rect l="l" t="t" r="r" b="b"/>
              <a:pathLst>
                <a:path w="2432268" h="6350000">
                  <a:moveTo>
                    <a:pt x="1216134" y="0"/>
                  </a:moveTo>
                  <a:cubicBezTo>
                    <a:pt x="544828" y="0"/>
                    <a:pt x="0" y="995680"/>
                    <a:pt x="0" y="2222500"/>
                  </a:cubicBezTo>
                  <a:lnTo>
                    <a:pt x="0" y="4127500"/>
                  </a:lnTo>
                  <a:cubicBezTo>
                    <a:pt x="0" y="5354320"/>
                    <a:pt x="544828" y="6350000"/>
                    <a:pt x="1216134" y="6350000"/>
                  </a:cubicBezTo>
                  <a:cubicBezTo>
                    <a:pt x="1887440" y="6350000"/>
                    <a:pt x="2432268" y="5354320"/>
                    <a:pt x="2432268" y="4127500"/>
                  </a:cubicBezTo>
                  <a:lnTo>
                    <a:pt x="2432268" y="2222500"/>
                  </a:lnTo>
                  <a:cubicBezTo>
                    <a:pt x="2432268" y="995680"/>
                    <a:pt x="1887440" y="0"/>
                    <a:pt x="1216134" y="0"/>
                  </a:cubicBezTo>
                  <a:close/>
                </a:path>
              </a:pathLst>
            </a:custGeom>
            <a:blipFill>
              <a:blip r:embed="rId4">
                <a:alphaModFix amt="51000"/>
              </a:blip>
              <a:stretch>
                <a:fillRect l="-410040" r="-410040"/>
              </a:stretch>
            </a:blipFill>
          </p:spPr>
        </p:sp>
      </p:grpSp>
      <p:sp>
        <p:nvSpPr>
          <p:cNvPr id="7" name="TextBox 7"/>
          <p:cNvSpPr txBox="1"/>
          <p:nvPr/>
        </p:nvSpPr>
        <p:spPr>
          <a:xfrm>
            <a:off x="5145809" y="3180681"/>
            <a:ext cx="8331939" cy="487313"/>
          </a:xfrm>
          <a:prstGeom prst="rect">
            <a:avLst/>
          </a:prstGeom>
        </p:spPr>
        <p:txBody>
          <a:bodyPr wrap="square" lIns="0" tIns="0" rIns="0" bIns="0" rtlCol="0" anchor="t">
            <a:spAutoFit/>
          </a:bodyPr>
          <a:lstStyle/>
          <a:p>
            <a:pPr marL="0" lvl="0" indent="0" algn="l">
              <a:lnSpc>
                <a:spcPts val="3840"/>
              </a:lnSpc>
              <a:spcBef>
                <a:spcPct val="0"/>
              </a:spcBef>
            </a:pPr>
            <a:r>
              <a:rPr lang="en-US" sz="3200" b="1" u="none" strike="noStrike" spc="96" err="1">
                <a:solidFill>
                  <a:srgbClr val="17E3B2"/>
                </a:solidFill>
                <a:latin typeface="Muli Ultra-Bold"/>
                <a:ea typeface="Muli Ultra-Bold"/>
                <a:cs typeface="Muli Ultra-Bold"/>
                <a:sym typeface="Muli Ultra-Bold"/>
              </a:rPr>
              <a:t>Sự</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phát</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triển</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mạnh</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mẽ</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của</a:t>
            </a:r>
            <a:r>
              <a:rPr lang="en-US" sz="3200" b="1" u="none" strike="noStrike" spc="96">
                <a:solidFill>
                  <a:srgbClr val="17E3B2"/>
                </a:solidFill>
                <a:latin typeface="Muli Ultra-Bold"/>
                <a:ea typeface="Muli Ultra-Bold"/>
                <a:cs typeface="Muli Ultra-Bold"/>
                <a:sym typeface="Muli Ultra-Bold"/>
              </a:rPr>
              <a:t> AI</a:t>
            </a:r>
          </a:p>
        </p:txBody>
      </p:sp>
      <p:sp>
        <p:nvSpPr>
          <p:cNvPr id="8" name="TextBox 8"/>
          <p:cNvSpPr txBox="1"/>
          <p:nvPr/>
        </p:nvSpPr>
        <p:spPr>
          <a:xfrm>
            <a:off x="5145809" y="5446579"/>
            <a:ext cx="9038676" cy="487313"/>
          </a:xfrm>
          <a:prstGeom prst="rect">
            <a:avLst/>
          </a:prstGeom>
        </p:spPr>
        <p:txBody>
          <a:bodyPr wrap="square" lIns="0" tIns="0" rIns="0" bIns="0" rtlCol="0" anchor="t">
            <a:spAutoFit/>
          </a:bodyPr>
          <a:lstStyle/>
          <a:p>
            <a:pPr marL="0" lvl="0" indent="0" algn="l">
              <a:lnSpc>
                <a:spcPts val="3840"/>
              </a:lnSpc>
              <a:spcBef>
                <a:spcPct val="0"/>
              </a:spcBef>
            </a:pPr>
            <a:r>
              <a:rPr lang="en-US" sz="3200" b="1" u="none" strike="noStrike" spc="96" err="1">
                <a:solidFill>
                  <a:srgbClr val="17E3B2"/>
                </a:solidFill>
                <a:latin typeface="Muli Ultra-Bold"/>
                <a:ea typeface="Muli Ultra-Bold"/>
                <a:cs typeface="Muli Ultra-Bold"/>
                <a:sym typeface="Muli Ultra-Bold"/>
              </a:rPr>
              <a:t>Ứng</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dụng</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công</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nghệ</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theo</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xu</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hướng</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mới</a:t>
            </a:r>
            <a:endParaRPr lang="en-US" sz="3200" b="1" u="none" strike="noStrike" spc="96">
              <a:solidFill>
                <a:srgbClr val="17E3B2"/>
              </a:solidFill>
              <a:latin typeface="Muli Ultra-Bold"/>
              <a:ea typeface="Muli Ultra-Bold"/>
              <a:cs typeface="Muli Ultra-Bold"/>
              <a:sym typeface="Muli Ultra-Bold"/>
            </a:endParaRPr>
          </a:p>
        </p:txBody>
      </p:sp>
      <p:sp>
        <p:nvSpPr>
          <p:cNvPr id="9" name="TextBox 9"/>
          <p:cNvSpPr txBox="1"/>
          <p:nvPr/>
        </p:nvSpPr>
        <p:spPr>
          <a:xfrm>
            <a:off x="5145809" y="7712477"/>
            <a:ext cx="8646391" cy="487313"/>
          </a:xfrm>
          <a:prstGeom prst="rect">
            <a:avLst/>
          </a:prstGeom>
        </p:spPr>
        <p:txBody>
          <a:bodyPr wrap="square" lIns="0" tIns="0" rIns="0" bIns="0" rtlCol="0" anchor="t">
            <a:spAutoFit/>
          </a:bodyPr>
          <a:lstStyle/>
          <a:p>
            <a:pPr marL="0" lvl="0" indent="0" algn="l">
              <a:lnSpc>
                <a:spcPts val="3840"/>
              </a:lnSpc>
              <a:spcBef>
                <a:spcPct val="0"/>
              </a:spcBef>
            </a:pPr>
            <a:r>
              <a:rPr lang="en-US" sz="3200" b="1" u="none" strike="noStrike" spc="96" err="1">
                <a:solidFill>
                  <a:srgbClr val="17E3B2"/>
                </a:solidFill>
                <a:latin typeface="Muli Ultra-Bold"/>
                <a:ea typeface="Muli Ultra-Bold"/>
                <a:cs typeface="Muli Ultra-Bold"/>
                <a:sym typeface="Muli Ultra-Bold"/>
              </a:rPr>
              <a:t>Sinh</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viên</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đang</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sử</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dụng</a:t>
            </a:r>
            <a:r>
              <a:rPr lang="en-US" sz="3200" b="1" u="none" strike="noStrike" spc="96">
                <a:solidFill>
                  <a:srgbClr val="17E3B2"/>
                </a:solidFill>
                <a:latin typeface="Muli Ultra-Bold"/>
                <a:ea typeface="Muli Ultra-Bold"/>
                <a:cs typeface="Muli Ultra-Bold"/>
                <a:sym typeface="Muli Ultra-Bold"/>
              </a:rPr>
              <a:t> AI </a:t>
            </a:r>
            <a:r>
              <a:rPr lang="en-US" sz="3200" b="1" u="none" strike="noStrike" spc="96" err="1">
                <a:solidFill>
                  <a:srgbClr val="17E3B2"/>
                </a:solidFill>
                <a:latin typeface="Muli Ultra-Bold"/>
                <a:ea typeface="Muli Ultra-Bold"/>
                <a:cs typeface="Muli Ultra-Bold"/>
                <a:sym typeface="Muli Ultra-Bold"/>
              </a:rPr>
              <a:t>sai</a:t>
            </a:r>
            <a:r>
              <a:rPr lang="en-US" sz="3200" b="1" u="none" strike="noStrike" spc="96">
                <a:solidFill>
                  <a:srgbClr val="17E3B2"/>
                </a:solidFill>
                <a:latin typeface="Muli Ultra-Bold"/>
                <a:ea typeface="Muli Ultra-Bold"/>
                <a:cs typeface="Muli Ultra-Bold"/>
                <a:sym typeface="Muli Ultra-Bold"/>
              </a:rPr>
              <a:t> </a:t>
            </a:r>
            <a:r>
              <a:rPr lang="en-US" sz="3200" b="1" u="none" strike="noStrike" spc="96" err="1">
                <a:solidFill>
                  <a:srgbClr val="17E3B2"/>
                </a:solidFill>
                <a:latin typeface="Muli Ultra-Bold"/>
                <a:ea typeface="Muli Ultra-Bold"/>
                <a:cs typeface="Muli Ultra-Bold"/>
                <a:sym typeface="Muli Ultra-Bold"/>
              </a:rPr>
              <a:t>cách</a:t>
            </a:r>
            <a:endParaRPr lang="en-US" sz="3200" b="1" u="none" strike="noStrike" spc="96">
              <a:solidFill>
                <a:srgbClr val="17E3B2"/>
              </a:solidFill>
              <a:latin typeface="Muli Ultra-Bold"/>
              <a:ea typeface="Muli Ultra-Bold"/>
              <a:cs typeface="Muli Ultra-Bold"/>
              <a:sym typeface="Muli Ultra-Bold"/>
            </a:endParaRPr>
          </a:p>
        </p:txBody>
      </p:sp>
      <p:grpSp>
        <p:nvGrpSpPr>
          <p:cNvPr id="10" name="Group 10"/>
          <p:cNvGrpSpPr/>
          <p:nvPr/>
        </p:nvGrpSpPr>
        <p:grpSpPr>
          <a:xfrm rot="-5400000">
            <a:off x="5380242" y="2210770"/>
            <a:ext cx="921462" cy="2405689"/>
            <a:chOff x="0" y="0"/>
            <a:chExt cx="2432268" cy="6350000"/>
          </a:xfrm>
        </p:grpSpPr>
        <p:sp>
          <p:nvSpPr>
            <p:cNvPr id="11" name="Freeform 11"/>
            <p:cNvSpPr/>
            <p:nvPr/>
          </p:nvSpPr>
          <p:spPr>
            <a:xfrm flipV="1">
              <a:off x="0" y="0"/>
              <a:ext cx="2432268" cy="6350000"/>
            </a:xfrm>
            <a:custGeom>
              <a:avLst/>
              <a:gdLst/>
              <a:ahLst/>
              <a:cxnLst/>
              <a:rect l="l" t="t" r="r" b="b"/>
              <a:pathLst>
                <a:path w="2432268" h="6350000">
                  <a:moveTo>
                    <a:pt x="1216134" y="0"/>
                  </a:moveTo>
                  <a:cubicBezTo>
                    <a:pt x="544828" y="0"/>
                    <a:pt x="0" y="995680"/>
                    <a:pt x="0" y="2222500"/>
                  </a:cubicBezTo>
                  <a:lnTo>
                    <a:pt x="0" y="4127500"/>
                  </a:lnTo>
                  <a:cubicBezTo>
                    <a:pt x="0" y="5354320"/>
                    <a:pt x="544828" y="6350000"/>
                    <a:pt x="1216134" y="6350000"/>
                  </a:cubicBezTo>
                  <a:cubicBezTo>
                    <a:pt x="1887440" y="6350000"/>
                    <a:pt x="2432268" y="5354320"/>
                    <a:pt x="2432268" y="4127500"/>
                  </a:cubicBezTo>
                  <a:lnTo>
                    <a:pt x="2432268" y="2222500"/>
                  </a:lnTo>
                  <a:cubicBezTo>
                    <a:pt x="2432268" y="995680"/>
                    <a:pt x="1887440" y="0"/>
                    <a:pt x="1216134" y="0"/>
                  </a:cubicBezTo>
                  <a:close/>
                </a:path>
              </a:pathLst>
            </a:custGeom>
            <a:blipFill>
              <a:blip r:embed="rId4">
                <a:alphaModFix amt="51000"/>
              </a:blip>
              <a:stretch>
                <a:fillRect l="-410040" r="-410040"/>
              </a:stretch>
            </a:blipFill>
          </p:spPr>
        </p:sp>
      </p:grpSp>
      <p:grpSp>
        <p:nvGrpSpPr>
          <p:cNvPr id="12" name="Group 12"/>
          <p:cNvGrpSpPr/>
          <p:nvPr/>
        </p:nvGrpSpPr>
        <p:grpSpPr>
          <a:xfrm rot="-5400000">
            <a:off x="5380242" y="4476266"/>
            <a:ext cx="921462" cy="2405689"/>
            <a:chOff x="0" y="0"/>
            <a:chExt cx="2432268" cy="6350000"/>
          </a:xfrm>
        </p:grpSpPr>
        <p:sp>
          <p:nvSpPr>
            <p:cNvPr id="13" name="Freeform 13"/>
            <p:cNvSpPr/>
            <p:nvPr/>
          </p:nvSpPr>
          <p:spPr>
            <a:xfrm flipV="1">
              <a:off x="0" y="0"/>
              <a:ext cx="2432268" cy="6350000"/>
            </a:xfrm>
            <a:custGeom>
              <a:avLst/>
              <a:gdLst/>
              <a:ahLst/>
              <a:cxnLst/>
              <a:rect l="l" t="t" r="r" b="b"/>
              <a:pathLst>
                <a:path w="2432268" h="6350000">
                  <a:moveTo>
                    <a:pt x="1216134" y="0"/>
                  </a:moveTo>
                  <a:cubicBezTo>
                    <a:pt x="544828" y="0"/>
                    <a:pt x="0" y="995680"/>
                    <a:pt x="0" y="2222500"/>
                  </a:cubicBezTo>
                  <a:lnTo>
                    <a:pt x="0" y="4127500"/>
                  </a:lnTo>
                  <a:cubicBezTo>
                    <a:pt x="0" y="5354320"/>
                    <a:pt x="544828" y="6350000"/>
                    <a:pt x="1216134" y="6350000"/>
                  </a:cubicBezTo>
                  <a:cubicBezTo>
                    <a:pt x="1887440" y="6350000"/>
                    <a:pt x="2432268" y="5354320"/>
                    <a:pt x="2432268" y="4127500"/>
                  </a:cubicBezTo>
                  <a:lnTo>
                    <a:pt x="2432268" y="2222500"/>
                  </a:lnTo>
                  <a:cubicBezTo>
                    <a:pt x="2432268" y="995680"/>
                    <a:pt x="1887440" y="0"/>
                    <a:pt x="1216134" y="0"/>
                  </a:cubicBezTo>
                  <a:close/>
                </a:path>
              </a:pathLst>
            </a:custGeom>
            <a:blipFill>
              <a:blip r:embed="rId4">
                <a:alphaModFix amt="51000"/>
              </a:blip>
              <a:stretch>
                <a:fillRect l="-410040" r="-410040"/>
              </a:stretch>
            </a:blipFill>
          </p:spPr>
        </p:sp>
      </p:grpSp>
      <p:grpSp>
        <p:nvGrpSpPr>
          <p:cNvPr id="14" name="Group 14"/>
          <p:cNvGrpSpPr/>
          <p:nvPr/>
        </p:nvGrpSpPr>
        <p:grpSpPr>
          <a:xfrm rot="-5400000">
            <a:off x="5380242" y="6741763"/>
            <a:ext cx="921462" cy="2405689"/>
            <a:chOff x="0" y="0"/>
            <a:chExt cx="2432268" cy="6350000"/>
          </a:xfrm>
        </p:grpSpPr>
        <p:sp>
          <p:nvSpPr>
            <p:cNvPr id="15" name="Freeform 15"/>
            <p:cNvSpPr/>
            <p:nvPr/>
          </p:nvSpPr>
          <p:spPr>
            <a:xfrm flipV="1">
              <a:off x="0" y="0"/>
              <a:ext cx="2432268" cy="6350000"/>
            </a:xfrm>
            <a:custGeom>
              <a:avLst/>
              <a:gdLst/>
              <a:ahLst/>
              <a:cxnLst/>
              <a:rect l="l" t="t" r="r" b="b"/>
              <a:pathLst>
                <a:path w="2432268" h="6350000">
                  <a:moveTo>
                    <a:pt x="1216134" y="0"/>
                  </a:moveTo>
                  <a:cubicBezTo>
                    <a:pt x="544828" y="0"/>
                    <a:pt x="0" y="995680"/>
                    <a:pt x="0" y="2222500"/>
                  </a:cubicBezTo>
                  <a:lnTo>
                    <a:pt x="0" y="4127500"/>
                  </a:lnTo>
                  <a:cubicBezTo>
                    <a:pt x="0" y="5354320"/>
                    <a:pt x="544828" y="6350000"/>
                    <a:pt x="1216134" y="6350000"/>
                  </a:cubicBezTo>
                  <a:cubicBezTo>
                    <a:pt x="1887440" y="6350000"/>
                    <a:pt x="2432268" y="5354320"/>
                    <a:pt x="2432268" y="4127500"/>
                  </a:cubicBezTo>
                  <a:lnTo>
                    <a:pt x="2432268" y="2222500"/>
                  </a:lnTo>
                  <a:cubicBezTo>
                    <a:pt x="2432268" y="995680"/>
                    <a:pt x="1887440" y="0"/>
                    <a:pt x="1216134" y="0"/>
                  </a:cubicBezTo>
                  <a:close/>
                </a:path>
              </a:pathLst>
            </a:custGeom>
            <a:blipFill>
              <a:blip r:embed="rId4">
                <a:alphaModFix amt="51000"/>
              </a:blip>
              <a:stretch>
                <a:fillRect l="-410040" r="-410040"/>
              </a:stretch>
            </a:blipFill>
          </p:spPr>
        </p:sp>
      </p:grpSp>
      <p:grpSp>
        <p:nvGrpSpPr>
          <p:cNvPr id="16" name="Group 16"/>
          <p:cNvGrpSpPr/>
          <p:nvPr/>
        </p:nvGrpSpPr>
        <p:grpSpPr>
          <a:xfrm>
            <a:off x="496426" y="2091037"/>
            <a:ext cx="3472577" cy="5611915"/>
            <a:chOff x="0" y="0"/>
            <a:chExt cx="4445000" cy="7183415"/>
          </a:xfrm>
        </p:grpSpPr>
        <p:sp>
          <p:nvSpPr>
            <p:cNvPr id="17" name="Freeform 17"/>
            <p:cNvSpPr/>
            <p:nvPr/>
          </p:nvSpPr>
          <p:spPr>
            <a:xfrm>
              <a:off x="0" y="0"/>
              <a:ext cx="4445000" cy="7183416"/>
            </a:xfrm>
            <a:custGeom>
              <a:avLst/>
              <a:gdLst/>
              <a:ahLst/>
              <a:cxnLst/>
              <a:rect l="l" t="t" r="r" b="b"/>
              <a:pathLst>
                <a:path w="4445000" h="7183416">
                  <a:moveTo>
                    <a:pt x="2222500" y="7183416"/>
                  </a:moveTo>
                  <a:cubicBezTo>
                    <a:pt x="995680" y="7183416"/>
                    <a:pt x="0" y="6057056"/>
                    <a:pt x="0" y="4669220"/>
                  </a:cubicBezTo>
                  <a:lnTo>
                    <a:pt x="0" y="2514195"/>
                  </a:lnTo>
                  <a:cubicBezTo>
                    <a:pt x="0" y="1126360"/>
                    <a:pt x="995680" y="0"/>
                    <a:pt x="2222500" y="0"/>
                  </a:cubicBezTo>
                  <a:cubicBezTo>
                    <a:pt x="3449320" y="0"/>
                    <a:pt x="4445000" y="1126360"/>
                    <a:pt x="4445000" y="2514195"/>
                  </a:cubicBezTo>
                  <a:lnTo>
                    <a:pt x="4445000" y="4669220"/>
                  </a:lnTo>
                  <a:cubicBezTo>
                    <a:pt x="4445000" y="6057056"/>
                    <a:pt x="3449320" y="7183416"/>
                    <a:pt x="2222500" y="7183416"/>
                  </a:cubicBezTo>
                  <a:close/>
                </a:path>
              </a:pathLst>
            </a:custGeom>
            <a:blipFill>
              <a:blip r:embed="rId5">
                <a:alphaModFix amt="28000"/>
              </a:blip>
              <a:stretch>
                <a:fillRect l="-31154" r="-31154"/>
              </a:stretch>
            </a:blipFill>
          </p:spPr>
        </p:sp>
      </p:grpSp>
      <p:sp>
        <p:nvSpPr>
          <p:cNvPr id="18" name="TextBox 18"/>
          <p:cNvSpPr txBox="1"/>
          <p:nvPr/>
        </p:nvSpPr>
        <p:spPr>
          <a:xfrm>
            <a:off x="496426" y="4533900"/>
            <a:ext cx="3674204" cy="1143000"/>
          </a:xfrm>
          <a:prstGeom prst="rect">
            <a:avLst/>
          </a:prstGeom>
        </p:spPr>
        <p:txBody>
          <a:bodyPr lIns="0" tIns="0" rIns="0" bIns="0" rtlCol="0" anchor="t">
            <a:spAutoFit/>
          </a:bodyPr>
          <a:lstStyle/>
          <a:p>
            <a:pPr algn="ctr">
              <a:lnSpc>
                <a:spcPts val="4560"/>
              </a:lnSpc>
            </a:pPr>
            <a:r>
              <a:rPr lang="en-US" sz="3800" b="1">
                <a:solidFill>
                  <a:srgbClr val="FF9A00"/>
                </a:solidFill>
                <a:latin typeface="Muli Bold"/>
                <a:ea typeface="Muli Bold"/>
                <a:cs typeface="Muli Bold"/>
                <a:sym typeface="Muli Bold"/>
              </a:rPr>
              <a:t>LÝ DO CHỌN </a:t>
            </a:r>
          </a:p>
          <a:p>
            <a:pPr marL="0" lvl="0" indent="0" algn="ctr">
              <a:lnSpc>
                <a:spcPts val="4560"/>
              </a:lnSpc>
              <a:spcBef>
                <a:spcPct val="0"/>
              </a:spcBef>
            </a:pPr>
            <a:r>
              <a:rPr lang="en-US" sz="3800" b="1">
                <a:solidFill>
                  <a:srgbClr val="FF9A00"/>
                </a:solidFill>
                <a:latin typeface="Muli Bold"/>
                <a:ea typeface="Muli Bold"/>
                <a:cs typeface="Muli Bold"/>
                <a:sym typeface="Muli Bold"/>
              </a:rPr>
              <a:t>ĐỀ TÀI</a:t>
            </a:r>
          </a:p>
        </p:txBody>
      </p:sp>
      <p:sp>
        <p:nvSpPr>
          <p:cNvPr id="19" name="TextBox 19"/>
          <p:cNvSpPr txBox="1"/>
          <p:nvPr/>
        </p:nvSpPr>
        <p:spPr>
          <a:xfrm>
            <a:off x="5145809" y="914783"/>
            <a:ext cx="11420392" cy="476196"/>
          </a:xfrm>
          <a:prstGeom prst="rect">
            <a:avLst/>
          </a:prstGeom>
        </p:spPr>
        <p:txBody>
          <a:bodyPr lIns="0" tIns="0" rIns="0" bIns="0" rtlCol="0" anchor="t">
            <a:spAutoFit/>
          </a:bodyPr>
          <a:lstStyle/>
          <a:p>
            <a:pPr marL="0" lvl="0" indent="0" algn="l">
              <a:lnSpc>
                <a:spcPts val="3840"/>
              </a:lnSpc>
              <a:spcBef>
                <a:spcPct val="0"/>
              </a:spcBef>
            </a:pPr>
            <a:r>
              <a:rPr lang="en-US" sz="3200" b="1" spc="96">
                <a:solidFill>
                  <a:srgbClr val="17E3B2"/>
                </a:solidFill>
                <a:latin typeface="Muli Ultra-Bold"/>
                <a:ea typeface="Muli Ultra-Bold"/>
                <a:cs typeface="Muli Ultra-Bold"/>
                <a:sym typeface="Muli Ultra-Bold"/>
              </a:rPr>
              <a:t>Bối cảnh chuyển đổi số mạnh mẽ </a:t>
            </a:r>
          </a:p>
        </p:txBody>
      </p:sp>
      <p:sp>
        <p:nvSpPr>
          <p:cNvPr id="20" name="TextBox 20"/>
          <p:cNvSpPr txBox="1"/>
          <p:nvPr/>
        </p:nvSpPr>
        <p:spPr>
          <a:xfrm>
            <a:off x="6274763" y="1823177"/>
            <a:ext cx="10291438" cy="441325"/>
          </a:xfrm>
          <a:prstGeom prst="rect">
            <a:avLst/>
          </a:prstGeom>
        </p:spPr>
        <p:txBody>
          <a:bodyPr lIns="0" tIns="0" rIns="0" bIns="0" rtlCol="0" anchor="t">
            <a:spAutoFit/>
          </a:bodyPr>
          <a:lstStyle/>
          <a:p>
            <a:pPr algn="l">
              <a:lnSpc>
                <a:spcPts val="3500"/>
              </a:lnSpc>
              <a:spcBef>
                <a:spcPct val="0"/>
              </a:spcBef>
            </a:pPr>
            <a:r>
              <a:rPr lang="en-US" sz="2500">
                <a:solidFill>
                  <a:srgbClr val="FFFFFF"/>
                </a:solidFill>
                <a:latin typeface="DejaVu Serif"/>
                <a:ea typeface="DejaVu Serif"/>
                <a:cs typeface="DejaVu Serif"/>
                <a:sym typeface="DejaVu Serif"/>
              </a:rPr>
              <a:t>Khuyến khích ứng dụng công nghệ vào dạy và học.</a:t>
            </a:r>
          </a:p>
        </p:txBody>
      </p:sp>
      <p:sp>
        <p:nvSpPr>
          <p:cNvPr id="21" name="TextBox 21"/>
          <p:cNvSpPr txBox="1"/>
          <p:nvPr/>
        </p:nvSpPr>
        <p:spPr>
          <a:xfrm>
            <a:off x="6273797" y="3854213"/>
            <a:ext cx="10292404" cy="879475"/>
          </a:xfrm>
          <a:prstGeom prst="rect">
            <a:avLst/>
          </a:prstGeom>
        </p:spPr>
        <p:txBody>
          <a:bodyPr lIns="0" tIns="0" rIns="0" bIns="0" rtlCol="0" anchor="t">
            <a:spAutoFit/>
          </a:bodyPr>
          <a:lstStyle/>
          <a:p>
            <a:pPr marL="0" lvl="0" indent="0" algn="l">
              <a:lnSpc>
                <a:spcPts val="3500"/>
              </a:lnSpc>
              <a:spcBef>
                <a:spcPct val="0"/>
              </a:spcBef>
            </a:pPr>
            <a:r>
              <a:rPr lang="en-US" sz="2500" u="none" strike="noStrike">
                <a:solidFill>
                  <a:srgbClr val="FFFFFF"/>
                </a:solidFill>
                <a:latin typeface="DejaVu Serif"/>
                <a:ea typeface="DejaVu Serif"/>
                <a:cs typeface="DejaVu Serif"/>
                <a:sym typeface="DejaVu Serif"/>
              </a:rPr>
              <a:t>Trí tuệ nhân tạo đang phát triển nhanh chóng và tạo ra nhiều cơ hội đổi mới trong lĩnh vực giáo dục.</a:t>
            </a:r>
          </a:p>
        </p:txBody>
      </p:sp>
      <p:sp>
        <p:nvSpPr>
          <p:cNvPr id="22" name="TextBox 22"/>
          <p:cNvSpPr txBox="1"/>
          <p:nvPr/>
        </p:nvSpPr>
        <p:spPr>
          <a:xfrm>
            <a:off x="6273797" y="6323399"/>
            <a:ext cx="10292404" cy="879475"/>
          </a:xfrm>
          <a:prstGeom prst="rect">
            <a:avLst/>
          </a:prstGeom>
        </p:spPr>
        <p:txBody>
          <a:bodyPr lIns="0" tIns="0" rIns="0" bIns="0" rtlCol="0" anchor="t">
            <a:spAutoFit/>
          </a:bodyPr>
          <a:lstStyle/>
          <a:p>
            <a:pPr marL="0" lvl="0" indent="0" algn="l">
              <a:lnSpc>
                <a:spcPts val="3500"/>
              </a:lnSpc>
              <a:spcBef>
                <a:spcPct val="0"/>
              </a:spcBef>
            </a:pPr>
            <a:r>
              <a:rPr lang="en-US" sz="2500" u="none" strike="noStrike">
                <a:solidFill>
                  <a:srgbClr val="FFFFFF"/>
                </a:solidFill>
                <a:latin typeface="DejaVu Serif"/>
                <a:ea typeface="DejaVu Serif"/>
                <a:cs typeface="DejaVu Serif"/>
                <a:sym typeface="DejaVu Serif"/>
              </a:rPr>
              <a:t>Việc tích hợp chatbot AI giúp tiếp cận các công nghệ tiên tiến đang được sử dụng rộng rãi trên thế giới.</a:t>
            </a:r>
          </a:p>
        </p:txBody>
      </p:sp>
      <p:sp>
        <p:nvSpPr>
          <p:cNvPr id="23" name="TextBox 23"/>
          <p:cNvSpPr txBox="1"/>
          <p:nvPr/>
        </p:nvSpPr>
        <p:spPr>
          <a:xfrm>
            <a:off x="6273797" y="8662988"/>
            <a:ext cx="10292404" cy="879475"/>
          </a:xfrm>
          <a:prstGeom prst="rect">
            <a:avLst/>
          </a:prstGeom>
        </p:spPr>
        <p:txBody>
          <a:bodyPr lIns="0" tIns="0" rIns="0" bIns="0" rtlCol="0" anchor="t">
            <a:spAutoFit/>
          </a:bodyPr>
          <a:lstStyle/>
          <a:p>
            <a:pPr algn="l">
              <a:lnSpc>
                <a:spcPts val="3500"/>
              </a:lnSpc>
              <a:spcBef>
                <a:spcPct val="0"/>
              </a:spcBef>
            </a:pPr>
            <a:r>
              <a:rPr lang="en-US" sz="2500" err="1">
                <a:solidFill>
                  <a:srgbClr val="FFFFFF"/>
                </a:solidFill>
                <a:latin typeface="DejaVu Serif"/>
                <a:ea typeface="DejaVu Serif"/>
                <a:cs typeface="DejaVu Serif"/>
                <a:sym typeface="DejaVu Serif"/>
              </a:rPr>
              <a:t>Sinh</a:t>
            </a:r>
            <a:r>
              <a:rPr lang="en-US" sz="2500">
                <a:solidFill>
                  <a:srgbClr val="FFFFFF"/>
                </a:solidFill>
                <a:latin typeface="DejaVu Serif"/>
                <a:ea typeface="DejaVu Serif"/>
                <a:cs typeface="DejaVu Serif"/>
                <a:sym typeface="DejaVu Serif"/>
              </a:rPr>
              <a:t> </a:t>
            </a:r>
            <a:r>
              <a:rPr lang="en-US" sz="2500" err="1" smtClean="0">
                <a:solidFill>
                  <a:srgbClr val="FFFFFF"/>
                </a:solidFill>
                <a:latin typeface="DejaVu Serif"/>
                <a:ea typeface="DejaVu Serif"/>
                <a:cs typeface="DejaVu Serif"/>
                <a:sym typeface="DejaVu Serif"/>
              </a:rPr>
              <a:t>viên</a:t>
            </a:r>
            <a:r>
              <a:rPr lang="en-US" sz="2500" smtClean="0">
                <a:solidFill>
                  <a:srgbClr val="FFFFFF"/>
                </a:solidFill>
                <a:latin typeface="DejaVu Serif"/>
                <a:ea typeface="DejaVu Serif"/>
                <a:cs typeface="DejaVu Serif"/>
                <a:sym typeface="DejaVu Serif"/>
              </a:rPr>
              <a:t> </a:t>
            </a:r>
            <a:r>
              <a:rPr lang="en-US" sz="2500" err="1" smtClean="0">
                <a:solidFill>
                  <a:srgbClr val="FFFFFF"/>
                </a:solidFill>
                <a:latin typeface="DejaVu Serif"/>
                <a:ea typeface="DejaVu Serif"/>
                <a:cs typeface="DejaVu Serif"/>
                <a:sym typeface="DejaVu Serif"/>
              </a:rPr>
              <a:t>đang</a:t>
            </a:r>
            <a:r>
              <a:rPr lang="en-US" sz="2500" smtClean="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chưa</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biết</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cách</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sử</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dụng</a:t>
            </a:r>
            <a:r>
              <a:rPr lang="en-US" sz="2500">
                <a:solidFill>
                  <a:srgbClr val="FFFFFF"/>
                </a:solidFill>
                <a:latin typeface="DejaVu Serif"/>
                <a:ea typeface="DejaVu Serif"/>
                <a:cs typeface="DejaVu Serif"/>
                <a:sym typeface="DejaVu Serif"/>
              </a:rPr>
              <a:t> AI </a:t>
            </a:r>
            <a:r>
              <a:rPr lang="en-US" sz="2500" err="1">
                <a:solidFill>
                  <a:srgbClr val="FFFFFF"/>
                </a:solidFill>
                <a:latin typeface="DejaVu Serif"/>
                <a:ea typeface="DejaVu Serif"/>
                <a:cs typeface="DejaVu Serif"/>
                <a:sym typeface="DejaVu Serif"/>
              </a:rPr>
              <a:t>hiệu</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quả</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làm</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hỏng</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kiến</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thức</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chuyên</a:t>
            </a:r>
            <a:r>
              <a:rPr lang="en-US" sz="2500">
                <a:solidFill>
                  <a:srgbClr val="FFFFFF"/>
                </a:solidFill>
                <a:latin typeface="DejaVu Serif"/>
                <a:ea typeface="DejaVu Serif"/>
                <a:cs typeface="DejaVu Serif"/>
                <a:sym typeface="DejaVu Serif"/>
              </a:rPr>
              <a:t> </a:t>
            </a:r>
            <a:r>
              <a:rPr lang="en-US" sz="2500" err="1">
                <a:solidFill>
                  <a:srgbClr val="FFFFFF"/>
                </a:solidFill>
                <a:latin typeface="DejaVu Serif"/>
                <a:ea typeface="DejaVu Serif"/>
                <a:cs typeface="DejaVu Serif"/>
                <a:sym typeface="DejaVu Serif"/>
              </a:rPr>
              <a:t>môn</a:t>
            </a:r>
            <a:r>
              <a:rPr lang="en-US" sz="2500">
                <a:solidFill>
                  <a:srgbClr val="FFFFFF"/>
                </a:solidFill>
                <a:latin typeface="DejaVu Serif"/>
                <a:ea typeface="DejaVu Serif"/>
                <a:cs typeface="DejaVu Serif"/>
                <a:sym typeface="DejaVu Serif"/>
              </a:rPr>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3454697" y="7838968"/>
            <a:ext cx="7480405" cy="7480405"/>
          </a:xfrm>
          <a:custGeom>
            <a:avLst/>
            <a:gdLst/>
            <a:ahLst/>
            <a:cxnLst/>
            <a:rect l="l" t="t" r="r" b="b"/>
            <a:pathLst>
              <a:path w="7480405" h="7480405">
                <a:moveTo>
                  <a:pt x="0" y="0"/>
                </a:moveTo>
                <a:lnTo>
                  <a:pt x="7480405" y="0"/>
                </a:lnTo>
                <a:lnTo>
                  <a:pt x="7480405"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TextBox 5"/>
          <p:cNvSpPr txBox="1"/>
          <p:nvPr/>
        </p:nvSpPr>
        <p:spPr>
          <a:xfrm>
            <a:off x="1028700" y="1330660"/>
            <a:ext cx="15662199" cy="942975"/>
          </a:xfrm>
          <a:prstGeom prst="rect">
            <a:avLst/>
          </a:prstGeom>
        </p:spPr>
        <p:txBody>
          <a:bodyPr lIns="0" tIns="0" rIns="0" bIns="0" rtlCol="0" anchor="t">
            <a:spAutoFit/>
          </a:bodyPr>
          <a:lstStyle/>
          <a:p>
            <a:pPr algn="just">
              <a:lnSpc>
                <a:spcPts val="3750"/>
              </a:lnSpc>
            </a:pPr>
            <a:r>
              <a:rPr lang="en-US" sz="2500">
                <a:solidFill>
                  <a:srgbClr val="FFFFFF"/>
                </a:solidFill>
                <a:latin typeface="DejaVu Serif"/>
                <a:ea typeface="DejaVu Serif"/>
                <a:cs typeface="DejaVu Serif"/>
                <a:sym typeface="DejaVu Serif"/>
              </a:rPr>
              <a:t>     Xây dựng hệ thống tích hợp chatbot AI tương tác với hệ thống quản lý học tập Moodle để hỗ trợ lập trình cho sinh viên ngành Công Nghệ Thông Tin  </a:t>
            </a:r>
          </a:p>
        </p:txBody>
      </p:sp>
      <p:sp>
        <p:nvSpPr>
          <p:cNvPr id="6" name="TextBox 6"/>
          <p:cNvSpPr txBox="1"/>
          <p:nvPr/>
        </p:nvSpPr>
        <p:spPr>
          <a:xfrm>
            <a:off x="371910" y="361950"/>
            <a:ext cx="7377535" cy="619179"/>
          </a:xfrm>
          <a:prstGeom prst="rect">
            <a:avLst/>
          </a:prstGeom>
        </p:spPr>
        <p:txBody>
          <a:bodyPr lIns="0" tIns="0" rIns="0" bIns="0" rtlCol="0" anchor="t">
            <a:spAutoFit/>
          </a:bodyPr>
          <a:lstStyle/>
          <a:p>
            <a:pPr marL="0" lvl="0" indent="0" algn="l">
              <a:lnSpc>
                <a:spcPts val="4800"/>
              </a:lnSpc>
              <a:spcBef>
                <a:spcPct val="0"/>
              </a:spcBef>
            </a:pPr>
            <a:r>
              <a:rPr lang="en-US" sz="4000" b="1" u="none" strike="noStrike">
                <a:solidFill>
                  <a:srgbClr val="FF9A00"/>
                </a:solidFill>
                <a:latin typeface="Muli Bold"/>
                <a:ea typeface="Muli Bold"/>
                <a:cs typeface="Muli Bold"/>
                <a:sym typeface="Muli Bold"/>
              </a:rPr>
              <a:t>GIỚI THIỆU ĐỀ TÀI</a:t>
            </a:r>
          </a:p>
        </p:txBody>
      </p:sp>
      <p:sp>
        <p:nvSpPr>
          <p:cNvPr id="7" name="TextBox 7"/>
          <p:cNvSpPr txBox="1"/>
          <p:nvPr/>
        </p:nvSpPr>
        <p:spPr>
          <a:xfrm>
            <a:off x="457200" y="2324100"/>
            <a:ext cx="2155386" cy="487313"/>
          </a:xfrm>
          <a:prstGeom prst="rect">
            <a:avLst/>
          </a:prstGeom>
        </p:spPr>
        <p:txBody>
          <a:bodyPr wrap="square" lIns="0" tIns="0" rIns="0" bIns="0" rtlCol="0" anchor="t">
            <a:spAutoFit/>
          </a:bodyPr>
          <a:lstStyle/>
          <a:p>
            <a:pPr marL="0" lvl="0" indent="0" algn="l">
              <a:lnSpc>
                <a:spcPts val="3840"/>
              </a:lnSpc>
              <a:spcBef>
                <a:spcPct val="0"/>
              </a:spcBef>
            </a:pPr>
            <a:r>
              <a:rPr lang="en-US" sz="3200" b="1" spc="96" err="1">
                <a:solidFill>
                  <a:srgbClr val="17E3B2"/>
                </a:solidFill>
                <a:latin typeface="Muli Bold"/>
                <a:ea typeface="Muli Bold"/>
                <a:cs typeface="Muli Bold"/>
                <a:sym typeface="Muli Bold"/>
              </a:rPr>
              <a:t>Mô</a:t>
            </a:r>
            <a:r>
              <a:rPr lang="en-US" sz="3200" b="1" spc="96">
                <a:solidFill>
                  <a:srgbClr val="17E3B2"/>
                </a:solidFill>
                <a:latin typeface="Muli Bold"/>
                <a:ea typeface="Muli Bold"/>
                <a:cs typeface="Muli Bold"/>
                <a:sym typeface="Muli Bold"/>
              </a:rPr>
              <a:t> </a:t>
            </a:r>
            <a:r>
              <a:rPr lang="en-US" sz="3200" b="1" spc="96" err="1">
                <a:solidFill>
                  <a:srgbClr val="17E3B2"/>
                </a:solidFill>
                <a:latin typeface="Muli Bold"/>
                <a:ea typeface="Muli Bold"/>
                <a:cs typeface="Muli Bold"/>
                <a:sym typeface="Muli Bold"/>
              </a:rPr>
              <a:t>tả</a:t>
            </a:r>
            <a:endParaRPr lang="en-US" sz="3200" b="1" spc="96">
              <a:solidFill>
                <a:srgbClr val="17E3B2"/>
              </a:solidFill>
              <a:latin typeface="Muli Bold"/>
              <a:ea typeface="Muli Bold"/>
              <a:cs typeface="Muli Bold"/>
              <a:sym typeface="Muli Bold"/>
            </a:endParaRPr>
          </a:p>
        </p:txBody>
      </p:sp>
      <p:sp>
        <p:nvSpPr>
          <p:cNvPr id="8" name="TextBox 8"/>
          <p:cNvSpPr txBox="1"/>
          <p:nvPr/>
        </p:nvSpPr>
        <p:spPr>
          <a:xfrm>
            <a:off x="624042" y="3543300"/>
            <a:ext cx="8062758" cy="1231106"/>
          </a:xfrm>
          <a:prstGeom prst="rect">
            <a:avLst/>
          </a:prstGeom>
        </p:spPr>
        <p:txBody>
          <a:bodyPr wrap="square" lIns="0" tIns="0" rIns="0" bIns="0" rtlCol="0" anchor="t">
            <a:spAutoFit/>
          </a:bodyPr>
          <a:lstStyle/>
          <a:p>
            <a:pPr algn="just">
              <a:lnSpc>
                <a:spcPts val="3150"/>
              </a:lnSpc>
            </a:pP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Tích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hợp</a:t>
            </a:r>
            <a:r>
              <a:rPr lang="en-US">
                <a:solidFill>
                  <a:srgbClr val="FFFFFF"/>
                </a:solidFill>
                <a:latin typeface="DejaVu Serif"/>
                <a:ea typeface="DejaVu Serif"/>
                <a:cs typeface="DejaVu Serif"/>
                <a:sym typeface="DejaVu Serif"/>
              </a:rPr>
              <a:t> AI </a:t>
            </a:r>
            <a:r>
              <a:rPr lang="en-US" err="1">
                <a:solidFill>
                  <a:srgbClr val="FFFFFF"/>
                </a:solidFill>
                <a:latin typeface="DejaVu Serif"/>
                <a:ea typeface="DejaVu Serif"/>
                <a:cs typeface="DejaVu Serif"/>
                <a:sym typeface="DejaVu Serif"/>
              </a:rPr>
              <a:t>thông</a:t>
            </a:r>
            <a:r>
              <a:rPr lang="en-US">
                <a:solidFill>
                  <a:srgbClr val="FFFFFF"/>
                </a:solidFill>
                <a:latin typeface="DejaVu Serif"/>
                <a:ea typeface="DejaVu Serif"/>
                <a:cs typeface="DejaVu Serif"/>
                <a:sym typeface="DejaVu Serif"/>
              </a:rPr>
              <a:t> qua AI API Key, </a:t>
            </a:r>
            <a:r>
              <a:rPr lang="en-US" err="1">
                <a:solidFill>
                  <a:srgbClr val="FFFFFF"/>
                </a:solidFill>
                <a:latin typeface="DejaVu Serif"/>
                <a:ea typeface="DejaVu Serif"/>
                <a:cs typeface="DejaVu Serif"/>
                <a:sym typeface="DejaVu Serif"/>
              </a:rPr>
              <a:t>để</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hệ</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thống</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kết</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nối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đến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dịch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vụ</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mô</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hình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ngôn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ngữ</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lớn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để</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xử</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lý</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và</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phân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tích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dữ</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liệu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đầu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vào</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từ</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đó</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sinh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phản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hồi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thông</a:t>
            </a:r>
            <a:r>
              <a:rPr lang="en-US">
                <a:solidFill>
                  <a:srgbClr val="FFFFFF"/>
                </a:solidFill>
                <a:latin typeface="DejaVu Serif"/>
                <a:ea typeface="DejaVu Serif"/>
                <a:cs typeface="DejaVu Serif"/>
                <a:sym typeface="DejaVu Serif"/>
              </a:rPr>
              <a:t> minh </a:t>
            </a:r>
            <a:r>
              <a:rPr lang="en-US" err="1">
                <a:solidFill>
                  <a:srgbClr val="FFFFFF"/>
                </a:solidFill>
                <a:latin typeface="DejaVu Serif"/>
                <a:ea typeface="DejaVu Serif"/>
                <a:cs typeface="DejaVu Serif"/>
                <a:sym typeface="DejaVu Serif"/>
              </a:rPr>
              <a:t>phù</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hợp</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với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các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chức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năng</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hệ</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thống</a:t>
            </a:r>
            <a:r>
              <a:rPr lang="en-US">
                <a:solidFill>
                  <a:srgbClr val="FFFFFF"/>
                </a:solidFill>
                <a:latin typeface="DejaVu Serif"/>
                <a:ea typeface="DejaVu Serif"/>
                <a:cs typeface="DejaVu Serif"/>
                <a:sym typeface="DejaVu Serif"/>
              </a:rPr>
              <a:t>.</a:t>
            </a:r>
          </a:p>
        </p:txBody>
      </p:sp>
      <p:sp>
        <p:nvSpPr>
          <p:cNvPr id="9" name="TextBox 9"/>
          <p:cNvSpPr txBox="1"/>
          <p:nvPr/>
        </p:nvSpPr>
        <p:spPr>
          <a:xfrm>
            <a:off x="624042" y="2781300"/>
            <a:ext cx="8062758" cy="820738"/>
          </a:xfrm>
          <a:prstGeom prst="rect">
            <a:avLst/>
          </a:prstGeom>
        </p:spPr>
        <p:txBody>
          <a:bodyPr wrap="square" lIns="0" tIns="0" rIns="0" bIns="0" rtlCol="0" anchor="t">
            <a:spAutoFit/>
          </a:bodyPr>
          <a:lstStyle/>
          <a:p>
            <a:pPr algn="just">
              <a:lnSpc>
                <a:spcPts val="3150"/>
              </a:lnSpc>
            </a:pP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Sử</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dụng</a:t>
            </a:r>
            <a:r>
              <a:rPr lang="en-US">
                <a:solidFill>
                  <a:srgbClr val="FFFFFF"/>
                </a:solidFill>
                <a:latin typeface="DejaVu Serif"/>
                <a:ea typeface="DejaVu Serif"/>
                <a:cs typeface="DejaVu Serif"/>
                <a:sym typeface="DejaVu Serif"/>
              </a:rPr>
              <a:t> Web Service API </a:t>
            </a:r>
            <a:r>
              <a:rPr lang="en-US" err="1">
                <a:solidFill>
                  <a:srgbClr val="FFFFFF"/>
                </a:solidFill>
                <a:latin typeface="DejaVu Serif"/>
                <a:ea typeface="DejaVu Serif"/>
                <a:cs typeface="DejaVu Serif"/>
                <a:sym typeface="DejaVu Serif"/>
              </a:rPr>
              <a:t>của</a:t>
            </a:r>
            <a:r>
              <a:rPr lang="en-US">
                <a:solidFill>
                  <a:srgbClr val="FFFFFF"/>
                </a:solidFill>
                <a:latin typeface="DejaVu Serif"/>
                <a:ea typeface="DejaVu Serif"/>
                <a:cs typeface="DejaVu Serif"/>
                <a:sym typeface="DejaVu Serif"/>
              </a:rPr>
              <a:t> Moodle </a:t>
            </a:r>
            <a:r>
              <a:rPr lang="en-US" err="1">
                <a:solidFill>
                  <a:srgbClr val="FFFFFF"/>
                </a:solidFill>
                <a:latin typeface="DejaVu Serif"/>
                <a:ea typeface="DejaVu Serif"/>
                <a:cs typeface="DejaVu Serif"/>
                <a:sym typeface="DejaVu Serif"/>
              </a:rPr>
              <a:t>để</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thập</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thông</a:t>
            </a:r>
            <a:r>
              <a:rPr lang="en-US">
                <a:solidFill>
                  <a:srgbClr val="FFFFFF"/>
                </a:solidFill>
                <a:latin typeface="DejaVu Serif"/>
                <a:ea typeface="DejaVu Serif"/>
                <a:cs typeface="DejaVu Serif"/>
                <a:sym typeface="DejaVu Serif"/>
              </a:rPr>
              <a:t> tin </a:t>
            </a:r>
            <a:r>
              <a:rPr lang="en-US" err="1">
                <a:solidFill>
                  <a:srgbClr val="FFFFFF"/>
                </a:solidFill>
                <a:latin typeface="DejaVu Serif"/>
                <a:ea typeface="DejaVu Serif"/>
                <a:cs typeface="DejaVu Serif"/>
                <a:sym typeface="DejaVu Serif"/>
              </a:rPr>
              <a:t>dữ</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liệu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như</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thông</a:t>
            </a:r>
            <a:r>
              <a:rPr lang="en-US">
                <a:solidFill>
                  <a:srgbClr val="FFFFFF"/>
                </a:solidFill>
                <a:latin typeface="DejaVu Serif"/>
                <a:ea typeface="DejaVu Serif"/>
                <a:cs typeface="DejaVu Serif"/>
                <a:sym typeface="DejaVu Serif"/>
              </a:rPr>
              <a:t> tin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tập</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làm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sinh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viên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nộp</a:t>
            </a:r>
            <a:r>
              <a:rPr lang="en-US">
                <a:solidFill>
                  <a:srgbClr val="FFFFFF"/>
                </a:solidFill>
                <a:latin typeface="DejaVu Serif"/>
                <a:ea typeface="DejaVu Serif"/>
                <a:cs typeface="DejaVu Serif"/>
                <a:sym typeface="DejaVu Serif"/>
              </a:rPr>
              <a:t>.</a:t>
            </a:r>
          </a:p>
        </p:txBody>
      </p:sp>
      <p:sp>
        <p:nvSpPr>
          <p:cNvPr id="10" name="TextBox 10"/>
          <p:cNvSpPr txBox="1"/>
          <p:nvPr/>
        </p:nvSpPr>
        <p:spPr>
          <a:xfrm>
            <a:off x="624042" y="4686300"/>
            <a:ext cx="8062758" cy="1231106"/>
          </a:xfrm>
          <a:prstGeom prst="rect">
            <a:avLst/>
          </a:prstGeom>
        </p:spPr>
        <p:txBody>
          <a:bodyPr wrap="square" lIns="0" tIns="0" rIns="0" bIns="0" rtlCol="0" anchor="t">
            <a:spAutoFit/>
          </a:bodyPr>
          <a:lstStyle/>
          <a:p>
            <a:pPr algn="just">
              <a:lnSpc>
                <a:spcPts val="3150"/>
              </a:lnSpc>
            </a:pP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Xây</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dựng</a:t>
            </a:r>
            <a:r>
              <a:rPr lang="en-US">
                <a:solidFill>
                  <a:srgbClr val="FFFFFF"/>
                </a:solidFill>
                <a:latin typeface="DejaVu Serif"/>
                <a:ea typeface="DejaVu Serif"/>
                <a:cs typeface="DejaVu Serif"/>
                <a:sym typeface="DejaVu Serif"/>
              </a:rPr>
              <a:t> </a:t>
            </a:r>
            <a:r>
              <a:rPr lang="en-US" smtClean="0">
                <a:solidFill>
                  <a:srgbClr val="FFFFFF"/>
                </a:solidFill>
                <a:latin typeface="DejaVu Serif"/>
                <a:ea typeface="DejaVu Serif"/>
                <a:cs typeface="DejaVu Serif"/>
                <a:sym typeface="DejaVu Serif"/>
              </a:rPr>
              <a:t>prompt </a:t>
            </a:r>
            <a:r>
              <a:rPr lang="en-US" err="1" smtClean="0">
                <a:solidFill>
                  <a:srgbClr val="FFFFFF"/>
                </a:solidFill>
                <a:latin typeface="DejaVu Serif"/>
                <a:ea typeface="DejaVu Serif"/>
                <a:cs typeface="DejaVu Serif"/>
                <a:sym typeface="DejaVu Serif"/>
              </a:rPr>
              <a:t>truyền</a:t>
            </a:r>
            <a:r>
              <a:rPr lang="en-US" smtClean="0">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các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dữ</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liệu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đầu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vào</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hợp</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lý</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cho</a:t>
            </a:r>
            <a:r>
              <a:rPr lang="en-US">
                <a:solidFill>
                  <a:srgbClr val="FFFFFF"/>
                </a:solidFill>
                <a:latin typeface="DejaVu Serif"/>
                <a:ea typeface="DejaVu Serif"/>
                <a:cs typeface="DejaVu Serif"/>
                <a:sym typeface="DejaVu Serif"/>
              </a:rPr>
              <a:t> </a:t>
            </a:r>
            <a:r>
              <a:rPr lang="en-US" smtClean="0">
                <a:solidFill>
                  <a:srgbClr val="FFFFFF"/>
                </a:solidFill>
                <a:latin typeface="DejaVu Serif"/>
                <a:ea typeface="DejaVu Serif"/>
                <a:cs typeface="DejaVu Serif"/>
                <a:sym typeface="DejaVu Serif"/>
              </a:rPr>
              <a:t>System </a:t>
            </a:r>
            <a:r>
              <a:rPr lang="en-US">
                <a:solidFill>
                  <a:srgbClr val="FFFFFF"/>
                </a:solidFill>
                <a:latin typeface="DejaVu Serif"/>
                <a:ea typeface="DejaVu Serif"/>
                <a:cs typeface="DejaVu Serif"/>
                <a:sym typeface="DejaVu Serif"/>
              </a:rPr>
              <a:t>Prompt </a:t>
            </a:r>
            <a:r>
              <a:rPr lang="en-US" err="1">
                <a:solidFill>
                  <a:srgbClr val="FFFFFF"/>
                </a:solidFill>
                <a:latin typeface="DejaVu Serif"/>
                <a:ea typeface="DejaVu Serif"/>
                <a:cs typeface="DejaVu Serif"/>
                <a:sym typeface="DejaVu Serif"/>
              </a:rPr>
              <a:t>được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thiết</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kế</a:t>
            </a:r>
            <a:r>
              <a:rPr lang="en-US">
                <a:solidFill>
                  <a:srgbClr val="FFFFFF"/>
                </a:solidFill>
                <a:latin typeface="DejaVu Serif"/>
                <a:ea typeface="DejaVu Serif"/>
                <a:cs typeface="DejaVu Serif"/>
                <a:sym typeface="DejaVu Serif"/>
              </a:rPr>
              <a:t> </a:t>
            </a:r>
            <a:r>
              <a:rPr lang="en-US" err="1" smtClean="0">
                <a:solidFill>
                  <a:srgbClr val="FFFFFF"/>
                </a:solidFill>
                <a:latin typeface="DejaVu Serif"/>
                <a:ea typeface="DejaVu Serif"/>
                <a:cs typeface="DejaVu Serif"/>
                <a:sym typeface="DejaVu Serif"/>
              </a:rPr>
              <a:t>theo</a:t>
            </a:r>
            <a:r>
              <a:rPr lang="en-US" smtClean="0">
                <a:solidFill>
                  <a:srgbClr val="FFFFFF"/>
                </a:solidFill>
                <a:latin typeface="DejaVu Serif"/>
                <a:ea typeface="DejaVu Serif"/>
                <a:cs typeface="DejaVu Serif"/>
                <a:sym typeface="DejaVu Serif"/>
              </a:rPr>
              <a:t> </a:t>
            </a:r>
            <a:r>
              <a:rPr lang="en-US" err="1" smtClean="0">
                <a:solidFill>
                  <a:srgbClr val="FFFFFF"/>
                </a:solidFill>
                <a:latin typeface="DejaVu Serif"/>
                <a:ea typeface="DejaVu Serif"/>
                <a:cs typeface="DejaVu Serif"/>
                <a:sym typeface="DejaVu Serif"/>
              </a:rPr>
              <a:t>chức</a:t>
            </a:r>
            <a:r>
              <a:rPr lang="en-US" smtClean="0">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năng</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hệ</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thống</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nhằm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đảm</a:t>
            </a:r>
            <a:r>
              <a:rPr lang="en-US">
                <a:solidFill>
                  <a:srgbClr val="FFFFFF"/>
                </a:solidFill>
                <a:latin typeface="DejaVu Serif"/>
                <a:ea typeface="DejaVu Serif"/>
                <a:cs typeface="DejaVu Serif"/>
                <a:sym typeface="DejaVu Serif"/>
              </a:rPr>
              <a:t> </a:t>
            </a:r>
            <a:r>
              <a:rPr lang="en-US" err="1" smtClean="0">
                <a:solidFill>
                  <a:srgbClr val="FFFFFF"/>
                </a:solidFill>
                <a:latin typeface="DejaVu Serif"/>
                <a:ea typeface="DejaVu Serif"/>
                <a:cs typeface="DejaVu Serif"/>
                <a:sym typeface="DejaVu Serif"/>
              </a:rPr>
              <a:t>bảo</a:t>
            </a:r>
            <a:r>
              <a:rPr lang="en-US" smtClean="0">
                <a:solidFill>
                  <a:srgbClr val="FFFFFF"/>
                </a:solidFill>
                <a:latin typeface="DejaVu Serif"/>
                <a:ea typeface="DejaVu Serif"/>
                <a:cs typeface="DejaVu Serif"/>
                <a:sym typeface="DejaVu Serif"/>
              </a:rPr>
              <a:t> </a:t>
            </a:r>
            <a:r>
              <a:rPr lang="en-US" err="1" smtClean="0">
                <a:solidFill>
                  <a:srgbClr val="FFFFFF"/>
                </a:solidFill>
                <a:latin typeface="DejaVu Serif"/>
                <a:ea typeface="DejaVu Serif"/>
                <a:cs typeface="DejaVu Serif"/>
                <a:sym typeface="DejaVu Serif"/>
              </a:rPr>
              <a:t>đủ</a:t>
            </a:r>
            <a:r>
              <a:rPr lang="en-US" smtClean="0">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dữ</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liệu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cần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thiết</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để</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làm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cơ</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sở</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cho</a:t>
            </a:r>
            <a:r>
              <a:rPr lang="en-US">
                <a:solidFill>
                  <a:srgbClr val="FFFFFF"/>
                </a:solidFill>
                <a:latin typeface="DejaVu Serif"/>
                <a:ea typeface="DejaVu Serif"/>
                <a:cs typeface="DejaVu Serif"/>
                <a:sym typeface="DejaVu Serif"/>
              </a:rPr>
              <a:t> AI </a:t>
            </a:r>
            <a:r>
              <a:rPr lang="en-US" err="1">
                <a:solidFill>
                  <a:srgbClr val="FFFFFF"/>
                </a:solidFill>
                <a:latin typeface="DejaVu Serif"/>
                <a:ea typeface="DejaVu Serif"/>
                <a:cs typeface="DejaVu Serif"/>
                <a:sym typeface="DejaVu Serif"/>
              </a:rPr>
              <a:t>trả</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về</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phản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hồi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phù</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hợp</a:t>
            </a:r>
            <a:r>
              <a:rPr lang="en-US">
                <a:solidFill>
                  <a:srgbClr val="FFFFFF"/>
                </a:solidFill>
                <a:latin typeface="DejaVu Serif"/>
                <a:ea typeface="DejaVu Serif"/>
                <a:cs typeface="DejaVu Serif"/>
                <a:sym typeface="DejaVu Serif"/>
              </a:rPr>
              <a:t>. </a:t>
            </a:r>
          </a:p>
        </p:txBody>
      </p:sp>
      <p:sp>
        <p:nvSpPr>
          <p:cNvPr id="11" name="TextBox 11"/>
          <p:cNvSpPr txBox="1"/>
          <p:nvPr/>
        </p:nvSpPr>
        <p:spPr>
          <a:xfrm>
            <a:off x="9381019" y="2324100"/>
            <a:ext cx="3108166" cy="476196"/>
          </a:xfrm>
          <a:prstGeom prst="rect">
            <a:avLst/>
          </a:prstGeom>
        </p:spPr>
        <p:txBody>
          <a:bodyPr lIns="0" tIns="0" rIns="0" bIns="0" rtlCol="0" anchor="t">
            <a:spAutoFit/>
          </a:bodyPr>
          <a:lstStyle/>
          <a:p>
            <a:pPr marL="0" lvl="0" indent="0" algn="l">
              <a:lnSpc>
                <a:spcPts val="3840"/>
              </a:lnSpc>
              <a:spcBef>
                <a:spcPct val="0"/>
              </a:spcBef>
            </a:pPr>
            <a:r>
              <a:rPr lang="en-US" sz="3200" b="1" u="none" strike="noStrike" spc="96">
                <a:solidFill>
                  <a:srgbClr val="17E3B2"/>
                </a:solidFill>
                <a:latin typeface="Muli Bold"/>
                <a:ea typeface="Muli Bold"/>
                <a:cs typeface="Muli Bold"/>
                <a:sym typeface="Muli Bold"/>
              </a:rPr>
              <a:t>Mục tiêu</a:t>
            </a:r>
          </a:p>
        </p:txBody>
      </p:sp>
      <p:sp>
        <p:nvSpPr>
          <p:cNvPr id="12" name="TextBox 12"/>
          <p:cNvSpPr txBox="1"/>
          <p:nvPr/>
        </p:nvSpPr>
        <p:spPr>
          <a:xfrm>
            <a:off x="9381019" y="2781300"/>
            <a:ext cx="8221181" cy="820738"/>
          </a:xfrm>
          <a:prstGeom prst="rect">
            <a:avLst/>
          </a:prstGeom>
        </p:spPr>
        <p:txBody>
          <a:bodyPr wrap="square" lIns="0" tIns="0" rIns="0" bIns="0" rtlCol="0" anchor="t">
            <a:spAutoFit/>
          </a:bodyPr>
          <a:lstStyle/>
          <a:p>
            <a:pPr algn="just">
              <a:lnSpc>
                <a:spcPts val="3150"/>
              </a:lnSpc>
            </a:pP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Từ</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nội</a:t>
            </a:r>
            <a:r>
              <a:rPr lang="en-US">
                <a:solidFill>
                  <a:srgbClr val="FFFFFF"/>
                </a:solidFill>
                <a:latin typeface="DejaVu Serif"/>
                <a:ea typeface="DejaVu Serif"/>
                <a:cs typeface="DejaVu Serif"/>
                <a:sym typeface="DejaVu Serif"/>
              </a:rPr>
              <a:t> dung </a:t>
            </a:r>
            <a:r>
              <a:rPr lang="en-US" err="1">
                <a:solidFill>
                  <a:srgbClr val="FFFFFF"/>
                </a:solidFill>
                <a:latin typeface="DejaVu Serif"/>
                <a:ea typeface="DejaVu Serif"/>
                <a:cs typeface="DejaVu Serif"/>
                <a:sym typeface="DejaVu Serif"/>
              </a:rPr>
              <a:t>đề</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tập</a:t>
            </a:r>
            <a:r>
              <a:rPr lang="en-US">
                <a:solidFill>
                  <a:srgbClr val="FFFFFF"/>
                </a:solidFill>
                <a:latin typeface="DejaVu Serif"/>
                <a:ea typeface="DejaVu Serif"/>
                <a:cs typeface="DejaVu Serif"/>
                <a:sym typeface="DejaVu Serif"/>
              </a:rPr>
              <a:t>, AI </a:t>
            </a:r>
            <a:r>
              <a:rPr lang="en-US" err="1">
                <a:solidFill>
                  <a:srgbClr val="FFFFFF"/>
                </a:solidFill>
                <a:latin typeface="DejaVu Serif"/>
                <a:ea typeface="DejaVu Serif"/>
                <a:cs typeface="DejaVu Serif"/>
                <a:sym typeface="DejaVu Serif"/>
              </a:rPr>
              <a:t>sinh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nội</a:t>
            </a:r>
            <a:r>
              <a:rPr lang="en-US">
                <a:solidFill>
                  <a:srgbClr val="FFFFFF"/>
                </a:solidFill>
                <a:latin typeface="DejaVu Serif"/>
                <a:ea typeface="DejaVu Serif"/>
                <a:cs typeface="DejaVu Serif"/>
                <a:sym typeface="DejaVu Serif"/>
              </a:rPr>
              <a:t> dung </a:t>
            </a:r>
            <a:r>
              <a:rPr lang="en-US" err="1">
                <a:solidFill>
                  <a:srgbClr val="FFFFFF"/>
                </a:solidFill>
                <a:latin typeface="DejaVu Serif"/>
                <a:ea typeface="DejaVu Serif"/>
                <a:cs typeface="DejaVu Serif"/>
                <a:sym typeface="DejaVu Serif"/>
              </a:rPr>
              <a:t>định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hướng</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cách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giải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quyết</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toán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dựa</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trên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yêu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cầu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đề</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a:t>
            </a:r>
          </a:p>
        </p:txBody>
      </p:sp>
      <p:sp>
        <p:nvSpPr>
          <p:cNvPr id="13" name="TextBox 13"/>
          <p:cNvSpPr txBox="1"/>
          <p:nvPr/>
        </p:nvSpPr>
        <p:spPr>
          <a:xfrm>
            <a:off x="9381019" y="3543300"/>
            <a:ext cx="8221181" cy="1231106"/>
          </a:xfrm>
          <a:prstGeom prst="rect">
            <a:avLst/>
          </a:prstGeom>
        </p:spPr>
        <p:txBody>
          <a:bodyPr wrap="square" lIns="0" tIns="0" rIns="0" bIns="0" rtlCol="0" anchor="t">
            <a:spAutoFit/>
          </a:bodyPr>
          <a:lstStyle/>
          <a:p>
            <a:pPr algn="just">
              <a:lnSpc>
                <a:spcPts val="3150"/>
              </a:lnSpc>
            </a:pP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Trao</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đổi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với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sinh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viên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trả</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lời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các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câu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hỏi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hoặc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yêu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cầu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có</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thể</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đính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kèm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hình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ảnh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liên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quan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đến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tập</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duy</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trì</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được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ngữ</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cảnh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hội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thoại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với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sinh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viên</a:t>
            </a:r>
            <a:r>
              <a:rPr lang="en-US">
                <a:solidFill>
                  <a:srgbClr val="FFFFFF"/>
                </a:solidFill>
                <a:latin typeface="DejaVu Serif"/>
                <a:ea typeface="DejaVu Serif"/>
                <a:cs typeface="DejaVu Serif"/>
                <a:sym typeface="DejaVu Serif"/>
              </a:rPr>
              <a:t>.</a:t>
            </a:r>
          </a:p>
        </p:txBody>
      </p:sp>
      <p:sp>
        <p:nvSpPr>
          <p:cNvPr id="14" name="TextBox 14"/>
          <p:cNvSpPr txBox="1"/>
          <p:nvPr/>
        </p:nvSpPr>
        <p:spPr>
          <a:xfrm>
            <a:off x="9381019" y="4686300"/>
            <a:ext cx="8221181" cy="820738"/>
          </a:xfrm>
          <a:prstGeom prst="rect">
            <a:avLst/>
          </a:prstGeom>
        </p:spPr>
        <p:txBody>
          <a:bodyPr wrap="square" lIns="0" tIns="0" rIns="0" bIns="0" rtlCol="0" anchor="t">
            <a:spAutoFit/>
          </a:bodyPr>
          <a:lstStyle/>
          <a:p>
            <a:pPr algn="just">
              <a:lnSpc>
                <a:spcPts val="3150"/>
              </a:lnSpc>
            </a:pPr>
            <a:r>
              <a:rPr lang="en-US">
                <a:solidFill>
                  <a:srgbClr val="FFFFFF"/>
                </a:solidFill>
                <a:latin typeface="DejaVu Serif"/>
                <a:ea typeface="DejaVu Serif"/>
                <a:cs typeface="DejaVu Serif"/>
                <a:sym typeface="DejaVu Serif"/>
              </a:rPr>
              <a:t>     Thu </a:t>
            </a:r>
            <a:r>
              <a:rPr lang="en-US" err="1">
                <a:solidFill>
                  <a:srgbClr val="FFFFFF"/>
                </a:solidFill>
                <a:latin typeface="DejaVu Serif"/>
                <a:ea typeface="DejaVu Serif"/>
                <a:cs typeface="DejaVu Serif"/>
                <a:sym typeface="DejaVu Serif"/>
              </a:rPr>
              <a:t>thập</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mã</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nguồn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làm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của</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sinh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viên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kèm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theo</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yêu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cầu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tiêu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chí</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của</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tập</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để</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phân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tích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và</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đưa</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ra</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các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nhận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xét</a:t>
            </a:r>
            <a:r>
              <a:rPr lang="en-US">
                <a:solidFill>
                  <a:srgbClr val="FFFFFF"/>
                </a:solidFill>
                <a:latin typeface="DejaVu Serif"/>
                <a:ea typeface="DejaVu Serif"/>
                <a:cs typeface="DejaVu Serif"/>
                <a:sym typeface="DejaVu Serif"/>
              </a:rPr>
              <a:t>. </a:t>
            </a:r>
          </a:p>
        </p:txBody>
      </p:sp>
      <p:sp>
        <p:nvSpPr>
          <p:cNvPr id="15" name="TextBox 15"/>
          <p:cNvSpPr txBox="1"/>
          <p:nvPr/>
        </p:nvSpPr>
        <p:spPr>
          <a:xfrm>
            <a:off x="9381019" y="5448300"/>
            <a:ext cx="8221181" cy="1231106"/>
          </a:xfrm>
          <a:prstGeom prst="rect">
            <a:avLst/>
          </a:prstGeom>
        </p:spPr>
        <p:txBody>
          <a:bodyPr wrap="square" lIns="0" tIns="0" rIns="0" bIns="0" rtlCol="0" anchor="t">
            <a:spAutoFit/>
          </a:bodyPr>
          <a:lstStyle/>
          <a:p>
            <a:pPr algn="just">
              <a:lnSpc>
                <a:spcPts val="3150"/>
              </a:lnSpc>
            </a:pP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Xác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định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mức</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độ</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hoàn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thành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của</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làm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dựa</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trên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yêu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cầu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và</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tiêu</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chí</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chấm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điểm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hỗ</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trợ</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sinh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viên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chỉnh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sửa</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bổ</a:t>
            </a:r>
            <a:r>
              <a:rPr lang="en-US">
                <a:solidFill>
                  <a:srgbClr val="FFFFFF"/>
                </a:solidFill>
                <a:latin typeface="DejaVu Serif"/>
                <a:ea typeface="DejaVu Serif"/>
                <a:cs typeface="DejaVu Serif"/>
                <a:sym typeface="DejaVu Serif"/>
              </a:rPr>
              <a:t> sung </a:t>
            </a:r>
            <a:r>
              <a:rPr lang="en-US" err="1">
                <a:solidFill>
                  <a:srgbClr val="FFFFFF"/>
                </a:solidFill>
                <a:latin typeface="DejaVu Serif"/>
                <a:ea typeface="DejaVu Serif"/>
                <a:cs typeface="DejaVu Serif"/>
                <a:sym typeface="DejaVu Serif"/>
              </a:rPr>
              <a:t>và</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cải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thiện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chất</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lượng</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a:t>
            </a:r>
          </a:p>
        </p:txBody>
      </p:sp>
      <p:sp>
        <p:nvSpPr>
          <p:cNvPr id="16" name="TextBox 16"/>
          <p:cNvSpPr txBox="1"/>
          <p:nvPr/>
        </p:nvSpPr>
        <p:spPr>
          <a:xfrm>
            <a:off x="9381019" y="6591300"/>
            <a:ext cx="8221181" cy="1231106"/>
          </a:xfrm>
          <a:prstGeom prst="rect">
            <a:avLst/>
          </a:prstGeom>
        </p:spPr>
        <p:txBody>
          <a:bodyPr wrap="square" lIns="0" tIns="0" rIns="0" bIns="0" rtlCol="0" anchor="t">
            <a:spAutoFit/>
          </a:bodyPr>
          <a:lstStyle/>
          <a:p>
            <a:pPr algn="just">
              <a:lnSpc>
                <a:spcPts val="3150"/>
              </a:lnSpc>
            </a:pP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Không</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trả</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về</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lời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giải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và</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mã</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nguồn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hoàn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chỉnh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trong</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phản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hồi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nhằm</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khuyến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khích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sinh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viên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dựa</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vào</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gợi</a:t>
            </a:r>
            <a:r>
              <a:rPr lang="en-US">
                <a:solidFill>
                  <a:srgbClr val="FFFFFF"/>
                </a:solidFill>
                <a:latin typeface="DejaVu Serif"/>
                <a:ea typeface="DejaVu Serif"/>
                <a:cs typeface="DejaVu Serif"/>
                <a:sym typeface="DejaVu Serif"/>
              </a:rPr>
              <a:t> ý </a:t>
            </a:r>
            <a:r>
              <a:rPr lang="en-US" err="1">
                <a:solidFill>
                  <a:srgbClr val="FFFFFF"/>
                </a:solidFill>
                <a:latin typeface="DejaVu Serif"/>
                <a:ea typeface="DejaVu Serif"/>
                <a:cs typeface="DejaVu Serif"/>
                <a:sym typeface="DejaVu Serif"/>
              </a:rPr>
              <a:t>hướng</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dẫn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và</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nhận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xét</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để</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tự</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hoàn</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thành</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bài</a:t>
            </a:r>
            <a:r>
              <a:rPr lang="en-US">
                <a:solidFill>
                  <a:srgbClr val="FFFFFF"/>
                </a:solidFill>
                <a:latin typeface="DejaVu Serif"/>
                <a:ea typeface="DejaVu Serif"/>
                <a:cs typeface="DejaVu Serif"/>
                <a:sym typeface="DejaVu Serif"/>
              </a:rPr>
              <a:t> </a:t>
            </a:r>
            <a:r>
              <a:rPr lang="en-US" err="1">
                <a:solidFill>
                  <a:srgbClr val="FFFFFF"/>
                </a:solidFill>
                <a:latin typeface="DejaVu Serif"/>
                <a:ea typeface="DejaVu Serif"/>
                <a:cs typeface="DejaVu Serif"/>
                <a:sym typeface="DejaVu Serif"/>
              </a:rPr>
              <a:t>tập</a:t>
            </a:r>
            <a:r>
              <a:rPr lang="en-US">
                <a:solidFill>
                  <a:srgbClr val="FFFFFF"/>
                </a:solidFill>
                <a:latin typeface="DejaVu Serif"/>
                <a:ea typeface="DejaVu Serif"/>
                <a:cs typeface="DejaVu Serif"/>
                <a:sym typeface="DejaVu Serif"/>
              </a:rPr>
              <a:t>. </a:t>
            </a:r>
          </a:p>
        </p:txBody>
      </p:sp>
      <p:sp>
        <p:nvSpPr>
          <p:cNvPr id="17" name="TextBox 7"/>
          <p:cNvSpPr txBox="1"/>
          <p:nvPr/>
        </p:nvSpPr>
        <p:spPr>
          <a:xfrm>
            <a:off x="457200" y="6005355"/>
            <a:ext cx="1769380" cy="487313"/>
          </a:xfrm>
          <a:prstGeom prst="rect">
            <a:avLst/>
          </a:prstGeom>
        </p:spPr>
        <p:txBody>
          <a:bodyPr lIns="0" tIns="0" rIns="0" bIns="0" rtlCol="0" anchor="t">
            <a:spAutoFit/>
          </a:bodyPr>
          <a:lstStyle/>
          <a:p>
            <a:pPr marL="0" lvl="0" indent="0" algn="l">
              <a:lnSpc>
                <a:spcPts val="3840"/>
              </a:lnSpc>
              <a:spcBef>
                <a:spcPct val="0"/>
              </a:spcBef>
            </a:pPr>
            <a:r>
              <a:rPr lang="en-US" sz="3200" b="1" spc="96" err="1" smtClean="0">
                <a:solidFill>
                  <a:srgbClr val="17E3B2"/>
                </a:solidFill>
                <a:latin typeface="Muli Bold"/>
                <a:ea typeface="Muli Bold"/>
                <a:cs typeface="Muli Bold"/>
                <a:sym typeface="Muli Bold"/>
              </a:rPr>
              <a:t>Phạm</a:t>
            </a:r>
            <a:r>
              <a:rPr lang="en-US" sz="3200" b="1" spc="96" smtClean="0">
                <a:solidFill>
                  <a:srgbClr val="17E3B2"/>
                </a:solidFill>
                <a:latin typeface="Muli Bold"/>
                <a:ea typeface="Muli Bold"/>
                <a:cs typeface="Muli Bold"/>
                <a:sym typeface="Muli Bold"/>
              </a:rPr>
              <a:t> vi</a:t>
            </a:r>
            <a:endParaRPr lang="en-US" sz="3200" b="1" spc="96">
              <a:solidFill>
                <a:srgbClr val="17E3B2"/>
              </a:solidFill>
              <a:latin typeface="Muli Bold"/>
              <a:ea typeface="Muli Bold"/>
              <a:cs typeface="Muli Bold"/>
              <a:sym typeface="Muli Bold"/>
            </a:endParaRPr>
          </a:p>
        </p:txBody>
      </p:sp>
      <p:sp>
        <p:nvSpPr>
          <p:cNvPr id="18" name="TextBox 9"/>
          <p:cNvSpPr txBox="1"/>
          <p:nvPr/>
        </p:nvSpPr>
        <p:spPr>
          <a:xfrm>
            <a:off x="628958" y="6420078"/>
            <a:ext cx="8057842" cy="3282950"/>
          </a:xfrm>
          <a:prstGeom prst="rect">
            <a:avLst/>
          </a:prstGeom>
        </p:spPr>
        <p:txBody>
          <a:bodyPr wrap="square" lIns="0" tIns="0" rIns="0" bIns="0" rtlCol="0" anchor="t">
            <a:spAutoFit/>
          </a:bodyPr>
          <a:lstStyle>
            <a:defPPr>
              <a:defRPr lang="en-US"/>
            </a:defPPr>
            <a:lvl1pPr algn="just">
              <a:lnSpc>
                <a:spcPts val="3150"/>
              </a:lnSpc>
              <a:defRPr>
                <a:solidFill>
                  <a:srgbClr val="FFFFFF"/>
                </a:solidFill>
                <a:latin typeface="DejaVu Serif"/>
                <a:ea typeface="DejaVu Serif"/>
                <a:cs typeface="DejaVu Serif"/>
              </a:defRPr>
            </a:lvl1pPr>
          </a:lstStyle>
          <a:p>
            <a:r>
              <a:rPr lang="en-US" smtClean="0"/>
              <a:t>      </a:t>
            </a:r>
            <a:r>
              <a:rPr lang="vi-VN" smtClean="0"/>
              <a:t>Đề </a:t>
            </a:r>
            <a:r>
              <a:rPr lang="vi-VN"/>
              <a:t>tài hướng đến sinh viên học lập trình cơ </a:t>
            </a:r>
            <a:r>
              <a:rPr lang="vi-VN" smtClean="0"/>
              <a:t>bản</a:t>
            </a:r>
            <a:r>
              <a:rPr lang="en-US" smtClean="0"/>
              <a:t> </a:t>
            </a:r>
            <a:r>
              <a:rPr lang="en-US" err="1" smtClean="0"/>
              <a:t>hoặc</a:t>
            </a:r>
            <a:r>
              <a:rPr lang="en-US" smtClean="0"/>
              <a:t> </a:t>
            </a:r>
            <a:r>
              <a:rPr lang="en-US" err="1" smtClean="0"/>
              <a:t>nhập</a:t>
            </a:r>
            <a:r>
              <a:rPr lang="en-US" smtClean="0"/>
              <a:t> </a:t>
            </a:r>
            <a:r>
              <a:rPr lang="en-US" err="1" smtClean="0"/>
              <a:t>môn</a:t>
            </a:r>
            <a:r>
              <a:rPr lang="en-US" smtClean="0"/>
              <a:t> </a:t>
            </a:r>
            <a:r>
              <a:rPr lang="en-US" err="1" smtClean="0"/>
              <a:t>lập</a:t>
            </a:r>
            <a:r>
              <a:rPr lang="en-US" smtClean="0"/>
              <a:t> </a:t>
            </a:r>
            <a:r>
              <a:rPr lang="en-US" err="1" smtClean="0"/>
              <a:t>trình</a:t>
            </a:r>
            <a:r>
              <a:rPr lang="en-US" smtClean="0"/>
              <a:t>,</a:t>
            </a:r>
            <a:r>
              <a:rPr lang="vi-VN" smtClean="0"/>
              <a:t> </a:t>
            </a:r>
            <a:r>
              <a:rPr lang="vi-VN"/>
              <a:t>hỗ trợ các ngôn ngữ </a:t>
            </a:r>
            <a:r>
              <a:rPr lang="en-US" err="1" smtClean="0"/>
              <a:t>phổ</a:t>
            </a:r>
            <a:r>
              <a:rPr lang="en-US" smtClean="0"/>
              <a:t> </a:t>
            </a:r>
            <a:r>
              <a:rPr lang="en-US" err="1" smtClean="0"/>
              <a:t>biến</a:t>
            </a:r>
            <a:r>
              <a:rPr lang="en-US" smtClean="0"/>
              <a:t> </a:t>
            </a:r>
            <a:r>
              <a:rPr lang="en-US" err="1" smtClean="0"/>
              <a:t>như</a:t>
            </a:r>
            <a:r>
              <a:rPr lang="en-US" smtClean="0"/>
              <a:t>: </a:t>
            </a:r>
            <a:r>
              <a:rPr lang="vi-VN" smtClean="0"/>
              <a:t>C/C</a:t>
            </a:r>
            <a:r>
              <a:rPr lang="vi-VN"/>
              <a:t>++, Java, Python, PHP và HTML. </a:t>
            </a:r>
            <a:endParaRPr lang="en-US" smtClean="0"/>
          </a:p>
          <a:p>
            <a:r>
              <a:rPr lang="en-US"/>
              <a:t> </a:t>
            </a:r>
            <a:r>
              <a:rPr lang="en-US" smtClean="0"/>
              <a:t>     </a:t>
            </a:r>
            <a:r>
              <a:rPr lang="vi-VN" smtClean="0"/>
              <a:t>Hệ </a:t>
            </a:r>
            <a:r>
              <a:rPr lang="vi-VN"/>
              <a:t>thống tập trung vào các bài tập </a:t>
            </a:r>
            <a:r>
              <a:rPr lang="en-US" err="1" smtClean="0"/>
              <a:t>lập</a:t>
            </a:r>
            <a:r>
              <a:rPr lang="en-US" smtClean="0"/>
              <a:t> </a:t>
            </a:r>
            <a:r>
              <a:rPr lang="en-US" err="1" smtClean="0"/>
              <a:t>trình</a:t>
            </a:r>
            <a:r>
              <a:rPr lang="en-US" smtClean="0"/>
              <a:t> </a:t>
            </a:r>
            <a:r>
              <a:rPr lang="en-US" err="1" smtClean="0"/>
              <a:t>giải</a:t>
            </a:r>
            <a:r>
              <a:rPr lang="en-US" smtClean="0"/>
              <a:t> </a:t>
            </a:r>
            <a:r>
              <a:rPr lang="en-US" err="1" smtClean="0"/>
              <a:t>thuật</a:t>
            </a:r>
            <a:r>
              <a:rPr lang="en-US" smtClean="0"/>
              <a:t> </a:t>
            </a:r>
            <a:r>
              <a:rPr lang="en-US" err="1" smtClean="0"/>
              <a:t>toán</a:t>
            </a:r>
            <a:r>
              <a:rPr lang="en-US" smtClean="0"/>
              <a:t> </a:t>
            </a:r>
            <a:r>
              <a:rPr lang="en-US" err="1" smtClean="0"/>
              <a:t>cơ</a:t>
            </a:r>
            <a:r>
              <a:rPr lang="en-US" smtClean="0"/>
              <a:t> </a:t>
            </a:r>
            <a:r>
              <a:rPr lang="en-US" err="1" smtClean="0"/>
              <a:t>bản</a:t>
            </a:r>
            <a:r>
              <a:rPr lang="en-US" smtClean="0"/>
              <a:t> </a:t>
            </a:r>
            <a:r>
              <a:rPr lang="vi-VN" smtClean="0"/>
              <a:t>và </a:t>
            </a:r>
            <a:r>
              <a:rPr lang="vi-VN"/>
              <a:t>dự án quy mô </a:t>
            </a:r>
            <a:r>
              <a:rPr lang="vi-VN" smtClean="0"/>
              <a:t>nhỏ</a:t>
            </a:r>
            <a:r>
              <a:rPr lang="en-US" smtClean="0"/>
              <a:t>.</a:t>
            </a:r>
          </a:p>
          <a:p>
            <a:r>
              <a:rPr lang="en-US"/>
              <a:t> </a:t>
            </a:r>
            <a:r>
              <a:rPr lang="en-US" smtClean="0"/>
              <a:t>     </a:t>
            </a:r>
            <a:r>
              <a:rPr lang="vi-VN" smtClean="0"/>
              <a:t>Nghiên </a:t>
            </a:r>
            <a:r>
              <a:rPr lang="vi-VN"/>
              <a:t>cứu tập trung vào việc tích hợp AI </a:t>
            </a:r>
            <a:r>
              <a:rPr lang="en-US" err="1" smtClean="0"/>
              <a:t>tương</a:t>
            </a:r>
            <a:r>
              <a:rPr lang="en-US" smtClean="0"/>
              <a:t> </a:t>
            </a:r>
            <a:r>
              <a:rPr lang="en-US" err="1" smtClean="0"/>
              <a:t>tác</a:t>
            </a:r>
            <a:r>
              <a:rPr lang="vi-VN" smtClean="0"/>
              <a:t> </a:t>
            </a:r>
            <a:r>
              <a:rPr lang="vi-VN"/>
              <a:t>Moodle nhằm hỗ trợ học tập theo ngữ cảnh, chưa xem xét các dự án phần mềm lớn hoặc các bài toán chuyên sâu.</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5285129" y="7734300"/>
            <a:ext cx="7480405" cy="7480405"/>
          </a:xfrm>
          <a:custGeom>
            <a:avLst/>
            <a:gdLst/>
            <a:ahLst/>
            <a:cxnLst/>
            <a:rect l="l" t="t" r="r" b="b"/>
            <a:pathLst>
              <a:path w="7480405" h="7480405">
                <a:moveTo>
                  <a:pt x="0" y="0"/>
                </a:moveTo>
                <a:lnTo>
                  <a:pt x="7480405" y="0"/>
                </a:lnTo>
                <a:lnTo>
                  <a:pt x="7480405" y="7480404"/>
                </a:lnTo>
                <a:lnTo>
                  <a:pt x="0" y="748040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8375679" y="1438275"/>
            <a:ext cx="649653" cy="491577"/>
          </a:xfrm>
          <a:custGeom>
            <a:avLst/>
            <a:gdLst/>
            <a:ahLst/>
            <a:cxnLst/>
            <a:rect l="l" t="t" r="r" b="b"/>
            <a:pathLst>
              <a:path w="649653" h="491577">
                <a:moveTo>
                  <a:pt x="0" y="0"/>
                </a:moveTo>
                <a:lnTo>
                  <a:pt x="649652" y="0"/>
                </a:lnTo>
                <a:lnTo>
                  <a:pt x="649652" y="491577"/>
                </a:lnTo>
                <a:lnTo>
                  <a:pt x="0" y="491577"/>
                </a:lnTo>
                <a:lnTo>
                  <a:pt x="0" y="0"/>
                </a:lnTo>
                <a:close/>
              </a:path>
            </a:pathLst>
          </a:custGeom>
          <a:blipFill>
            <a:blip r:embed="rId5"/>
            <a:stretch>
              <a:fillRect l="-23833" t="-21965" r="-18149"/>
            </a:stretch>
          </a:blipFill>
        </p:spPr>
      </p:sp>
      <p:sp>
        <p:nvSpPr>
          <p:cNvPr id="6" name="Freeform 6"/>
          <p:cNvSpPr/>
          <p:nvPr/>
        </p:nvSpPr>
        <p:spPr>
          <a:xfrm>
            <a:off x="7406717" y="1438275"/>
            <a:ext cx="491884" cy="491577"/>
          </a:xfrm>
          <a:custGeom>
            <a:avLst/>
            <a:gdLst/>
            <a:ahLst/>
            <a:cxnLst/>
            <a:rect l="l" t="t" r="r" b="b"/>
            <a:pathLst>
              <a:path w="491884" h="491577">
                <a:moveTo>
                  <a:pt x="0" y="0"/>
                </a:moveTo>
                <a:lnTo>
                  <a:pt x="491885" y="0"/>
                </a:lnTo>
                <a:lnTo>
                  <a:pt x="491885" y="491577"/>
                </a:lnTo>
                <a:lnTo>
                  <a:pt x="0" y="491577"/>
                </a:lnTo>
                <a:lnTo>
                  <a:pt x="0" y="0"/>
                </a:lnTo>
                <a:close/>
              </a:path>
            </a:pathLst>
          </a:custGeom>
          <a:blipFill>
            <a:blip r:embed="rId6"/>
            <a:stretch>
              <a:fillRect/>
            </a:stretch>
          </a:blipFill>
        </p:spPr>
      </p:sp>
      <p:sp>
        <p:nvSpPr>
          <p:cNvPr id="7" name="Freeform 7"/>
          <p:cNvSpPr/>
          <p:nvPr/>
        </p:nvSpPr>
        <p:spPr>
          <a:xfrm>
            <a:off x="7805974" y="4433888"/>
            <a:ext cx="551946" cy="491577"/>
          </a:xfrm>
          <a:custGeom>
            <a:avLst/>
            <a:gdLst/>
            <a:ahLst/>
            <a:cxnLst/>
            <a:rect l="l" t="t" r="r" b="b"/>
            <a:pathLst>
              <a:path w="551946" h="491577">
                <a:moveTo>
                  <a:pt x="0" y="0"/>
                </a:moveTo>
                <a:lnTo>
                  <a:pt x="551946" y="0"/>
                </a:lnTo>
                <a:lnTo>
                  <a:pt x="551946" y="491577"/>
                </a:lnTo>
                <a:lnTo>
                  <a:pt x="0" y="491577"/>
                </a:lnTo>
                <a:lnTo>
                  <a:pt x="0" y="0"/>
                </a:lnTo>
                <a:close/>
              </a:path>
            </a:pathLst>
          </a:custGeom>
          <a:blipFill>
            <a:blip r:embed="rId7"/>
            <a:stretch>
              <a:fillRect/>
            </a:stretch>
          </a:blipFill>
        </p:spPr>
      </p:sp>
      <p:sp>
        <p:nvSpPr>
          <p:cNvPr id="8" name="Freeform 8"/>
          <p:cNvSpPr/>
          <p:nvPr/>
        </p:nvSpPr>
        <p:spPr>
          <a:xfrm>
            <a:off x="8790787" y="4433888"/>
            <a:ext cx="803942" cy="491577"/>
          </a:xfrm>
          <a:custGeom>
            <a:avLst/>
            <a:gdLst/>
            <a:ahLst/>
            <a:cxnLst/>
            <a:rect l="l" t="t" r="r" b="b"/>
            <a:pathLst>
              <a:path w="803942" h="491577">
                <a:moveTo>
                  <a:pt x="0" y="0"/>
                </a:moveTo>
                <a:lnTo>
                  <a:pt x="803942" y="0"/>
                </a:lnTo>
                <a:lnTo>
                  <a:pt x="803942" y="491577"/>
                </a:lnTo>
                <a:lnTo>
                  <a:pt x="0" y="491577"/>
                </a:lnTo>
                <a:lnTo>
                  <a:pt x="0" y="0"/>
                </a:lnTo>
                <a:close/>
              </a:path>
            </a:pathLst>
          </a:custGeom>
          <a:blipFill>
            <a:blip r:embed="rId8"/>
            <a:stretch>
              <a:fillRect/>
            </a:stretch>
          </a:blipFill>
        </p:spPr>
      </p:sp>
      <p:sp>
        <p:nvSpPr>
          <p:cNvPr id="9" name="Freeform 9"/>
          <p:cNvSpPr/>
          <p:nvPr/>
        </p:nvSpPr>
        <p:spPr>
          <a:xfrm>
            <a:off x="3546141" y="6608805"/>
            <a:ext cx="465543" cy="491577"/>
          </a:xfrm>
          <a:custGeom>
            <a:avLst/>
            <a:gdLst/>
            <a:ahLst/>
            <a:cxnLst/>
            <a:rect l="l" t="t" r="r" b="b"/>
            <a:pathLst>
              <a:path w="465543" h="491577">
                <a:moveTo>
                  <a:pt x="0" y="0"/>
                </a:moveTo>
                <a:lnTo>
                  <a:pt x="465543" y="0"/>
                </a:lnTo>
                <a:lnTo>
                  <a:pt x="465543" y="491576"/>
                </a:lnTo>
                <a:lnTo>
                  <a:pt x="0" y="491576"/>
                </a:lnTo>
                <a:lnTo>
                  <a:pt x="0" y="0"/>
                </a:lnTo>
                <a:close/>
              </a:path>
            </a:pathLst>
          </a:custGeom>
          <a:blipFill>
            <a:blip r:embed="rId9"/>
            <a:stretch>
              <a:fillRect l="-21045" r="-20875" b="-34405"/>
            </a:stretch>
          </a:blipFill>
        </p:spPr>
      </p:sp>
      <p:sp>
        <p:nvSpPr>
          <p:cNvPr id="10" name="Freeform 10"/>
          <p:cNvSpPr/>
          <p:nvPr/>
        </p:nvSpPr>
        <p:spPr>
          <a:xfrm>
            <a:off x="4559926" y="6608805"/>
            <a:ext cx="476334" cy="491577"/>
          </a:xfrm>
          <a:custGeom>
            <a:avLst/>
            <a:gdLst/>
            <a:ahLst/>
            <a:cxnLst/>
            <a:rect l="l" t="t" r="r" b="b"/>
            <a:pathLst>
              <a:path w="476334" h="491577">
                <a:moveTo>
                  <a:pt x="0" y="0"/>
                </a:moveTo>
                <a:lnTo>
                  <a:pt x="476334" y="0"/>
                </a:lnTo>
                <a:lnTo>
                  <a:pt x="476334" y="491576"/>
                </a:lnTo>
                <a:lnTo>
                  <a:pt x="0" y="491576"/>
                </a:lnTo>
                <a:lnTo>
                  <a:pt x="0" y="0"/>
                </a:lnTo>
                <a:close/>
              </a:path>
            </a:pathLst>
          </a:custGeom>
          <a:blipFill>
            <a:blip r:embed="rId10"/>
            <a:stretch>
              <a:fillRect/>
            </a:stretch>
          </a:blipFill>
        </p:spPr>
      </p:sp>
      <p:sp>
        <p:nvSpPr>
          <p:cNvPr id="11" name="Freeform 11"/>
          <p:cNvSpPr/>
          <p:nvPr/>
        </p:nvSpPr>
        <p:spPr>
          <a:xfrm>
            <a:off x="9502408" y="1438275"/>
            <a:ext cx="491577" cy="491577"/>
          </a:xfrm>
          <a:custGeom>
            <a:avLst/>
            <a:gdLst/>
            <a:ahLst/>
            <a:cxnLst/>
            <a:rect l="l" t="t" r="r" b="b"/>
            <a:pathLst>
              <a:path w="491577" h="491577">
                <a:moveTo>
                  <a:pt x="0" y="0"/>
                </a:moveTo>
                <a:lnTo>
                  <a:pt x="491577" y="0"/>
                </a:lnTo>
                <a:lnTo>
                  <a:pt x="491577" y="491577"/>
                </a:lnTo>
                <a:lnTo>
                  <a:pt x="0" y="491577"/>
                </a:lnTo>
                <a:lnTo>
                  <a:pt x="0" y="0"/>
                </a:lnTo>
                <a:close/>
              </a:path>
            </a:pathLst>
          </a:custGeom>
          <a:blipFill>
            <a:blip r:embed="rId11"/>
            <a:stretch>
              <a:fillRect/>
            </a:stretch>
          </a:blipFill>
        </p:spPr>
      </p:sp>
      <p:sp>
        <p:nvSpPr>
          <p:cNvPr id="12" name="TextBox 12"/>
          <p:cNvSpPr txBox="1"/>
          <p:nvPr/>
        </p:nvSpPr>
        <p:spPr>
          <a:xfrm>
            <a:off x="371910" y="361950"/>
            <a:ext cx="6633219" cy="619179"/>
          </a:xfrm>
          <a:prstGeom prst="rect">
            <a:avLst/>
          </a:prstGeom>
        </p:spPr>
        <p:txBody>
          <a:bodyPr lIns="0" tIns="0" rIns="0" bIns="0" rtlCol="0" anchor="t">
            <a:spAutoFit/>
          </a:bodyPr>
          <a:lstStyle/>
          <a:p>
            <a:pPr marL="0" lvl="0" indent="0" algn="l">
              <a:lnSpc>
                <a:spcPts val="4800"/>
              </a:lnSpc>
              <a:spcBef>
                <a:spcPct val="0"/>
              </a:spcBef>
            </a:pPr>
            <a:r>
              <a:rPr lang="en-US" sz="4000" b="1">
                <a:solidFill>
                  <a:srgbClr val="FF9A00"/>
                </a:solidFill>
                <a:latin typeface="Muli Bold"/>
                <a:ea typeface="Muli Bold"/>
                <a:cs typeface="Muli Bold"/>
                <a:sym typeface="Muli Bold"/>
              </a:rPr>
              <a:t>CÔNG</a:t>
            </a:r>
            <a:r>
              <a:rPr lang="en-US" sz="4000" b="1" u="none" strike="noStrike">
                <a:solidFill>
                  <a:srgbClr val="FF9A00"/>
                </a:solidFill>
                <a:latin typeface="Muli Bold"/>
                <a:ea typeface="Muli Bold"/>
                <a:cs typeface="Muli Bold"/>
                <a:sym typeface="Muli Bold"/>
              </a:rPr>
              <a:t> NGHỆ SỬ DỤNG</a:t>
            </a:r>
          </a:p>
        </p:txBody>
      </p:sp>
      <p:sp>
        <p:nvSpPr>
          <p:cNvPr id="13" name="TextBox 13"/>
          <p:cNvSpPr txBox="1"/>
          <p:nvPr/>
        </p:nvSpPr>
        <p:spPr>
          <a:xfrm>
            <a:off x="2195347" y="6032591"/>
            <a:ext cx="4330109" cy="523821"/>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17E3B2"/>
                </a:solidFill>
                <a:latin typeface="DejaVu Serif Bold"/>
                <a:ea typeface="DejaVu Serif Bold"/>
                <a:cs typeface="DejaVu Serif Bold"/>
                <a:sym typeface="DejaVu Serif Bold"/>
              </a:rPr>
              <a:t>Database</a:t>
            </a:r>
          </a:p>
        </p:txBody>
      </p:sp>
      <p:sp>
        <p:nvSpPr>
          <p:cNvPr id="14" name="TextBox 14"/>
          <p:cNvSpPr txBox="1"/>
          <p:nvPr/>
        </p:nvSpPr>
        <p:spPr>
          <a:xfrm>
            <a:off x="590353" y="7294098"/>
            <a:ext cx="3421331" cy="1904999"/>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FFFFFF"/>
                </a:solidFill>
                <a:latin typeface="DejaVu Serif"/>
                <a:ea typeface="DejaVu Serif"/>
                <a:cs typeface="DejaVu Serif"/>
                <a:sym typeface="DejaVu Serif"/>
              </a:rPr>
              <a:t>MongoDB:  </a:t>
            </a:r>
            <a:r>
              <a:rPr lang="en-US" sz="2000" u="none" strike="noStrike" err="1">
                <a:solidFill>
                  <a:srgbClr val="FFFFFF"/>
                </a:solidFill>
                <a:latin typeface="DejaVu Serif"/>
                <a:ea typeface="DejaVu Serif"/>
                <a:cs typeface="DejaVu Serif"/>
                <a:sym typeface="DejaVu Serif"/>
              </a:rPr>
              <a:t>lưu</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trữ</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các</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dữ</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liệu</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có</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cấu</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trúc</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linh</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hoạt</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như</a:t>
            </a:r>
            <a:r>
              <a:rPr lang="en-US" sz="2000" u="none" strike="noStrike">
                <a:solidFill>
                  <a:srgbClr val="FFFFFF"/>
                </a:solidFill>
                <a:latin typeface="DejaVu Serif"/>
                <a:ea typeface="DejaVu Serif"/>
                <a:cs typeface="DejaVu Serif"/>
                <a:sym typeface="DejaVu Serif"/>
              </a:rPr>
              <a:t> </a:t>
            </a:r>
            <a:r>
              <a:rPr lang="en-US" sz="2000" u="none" strike="noStrike" err="1" smtClean="0">
                <a:solidFill>
                  <a:srgbClr val="FFFFFF"/>
                </a:solidFill>
                <a:latin typeface="DejaVu Serif"/>
                <a:ea typeface="DejaVu Serif"/>
                <a:cs typeface="DejaVu Serif"/>
                <a:sym typeface="DejaVu Serif"/>
              </a:rPr>
              <a:t>nội</a:t>
            </a:r>
            <a:r>
              <a:rPr lang="en-US" sz="2000" u="none" strike="noStrike" smtClean="0">
                <a:solidFill>
                  <a:srgbClr val="FFFFFF"/>
                </a:solidFill>
                <a:latin typeface="DejaVu Serif"/>
                <a:ea typeface="DejaVu Serif"/>
                <a:cs typeface="DejaVu Serif"/>
                <a:sym typeface="DejaVu Serif"/>
              </a:rPr>
              <a:t> dung </a:t>
            </a:r>
            <a:r>
              <a:rPr lang="en-US" sz="2000" u="none" strike="noStrike" err="1">
                <a:solidFill>
                  <a:srgbClr val="FFFFFF"/>
                </a:solidFill>
                <a:latin typeface="DejaVu Serif"/>
                <a:ea typeface="DejaVu Serif"/>
                <a:cs typeface="DejaVu Serif"/>
                <a:sym typeface="DejaVu Serif"/>
              </a:rPr>
              <a:t>gợi</a:t>
            </a:r>
            <a:r>
              <a:rPr lang="en-US" sz="2000" u="none" strike="noStrike">
                <a:solidFill>
                  <a:srgbClr val="FFFFFF"/>
                </a:solidFill>
                <a:latin typeface="DejaVu Serif"/>
                <a:ea typeface="DejaVu Serif"/>
                <a:cs typeface="DejaVu Serif"/>
                <a:sym typeface="DejaVu Serif"/>
              </a:rPr>
              <a:t> ý </a:t>
            </a:r>
            <a:r>
              <a:rPr lang="en-US" sz="2000" u="none" strike="noStrike" err="1">
                <a:solidFill>
                  <a:srgbClr val="FFFFFF"/>
                </a:solidFill>
                <a:latin typeface="DejaVu Serif"/>
                <a:ea typeface="DejaVu Serif"/>
                <a:cs typeface="DejaVu Serif"/>
                <a:sym typeface="DejaVu Serif"/>
              </a:rPr>
              <a:t>bài</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tập</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kết</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quả</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phân</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tích</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mã</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nguồn</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và</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lịch</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sử</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trao</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đổi</a:t>
            </a:r>
            <a:r>
              <a:rPr lang="en-US" sz="2000" u="none" strike="noStrike">
                <a:solidFill>
                  <a:srgbClr val="FFFFFF"/>
                </a:solidFill>
                <a:latin typeface="DejaVu Serif"/>
                <a:ea typeface="DejaVu Serif"/>
                <a:cs typeface="DejaVu Serif"/>
                <a:sym typeface="DejaVu Serif"/>
              </a:rPr>
              <a:t>.</a:t>
            </a:r>
          </a:p>
        </p:txBody>
      </p:sp>
      <p:sp>
        <p:nvSpPr>
          <p:cNvPr id="15" name="TextBox 15"/>
          <p:cNvSpPr txBox="1"/>
          <p:nvPr/>
        </p:nvSpPr>
        <p:spPr>
          <a:xfrm>
            <a:off x="6913697" y="914454"/>
            <a:ext cx="3573309" cy="530802"/>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17E3B2"/>
                </a:solidFill>
                <a:latin typeface="DejaVu Serif Bold"/>
                <a:ea typeface="DejaVu Serif Bold"/>
                <a:cs typeface="DejaVu Serif Bold"/>
                <a:sym typeface="DejaVu Serif Bold"/>
              </a:rPr>
              <a:t>Backend</a:t>
            </a:r>
          </a:p>
        </p:txBody>
      </p:sp>
      <p:sp>
        <p:nvSpPr>
          <p:cNvPr id="16" name="TextBox 16"/>
          <p:cNvSpPr txBox="1"/>
          <p:nvPr/>
        </p:nvSpPr>
        <p:spPr>
          <a:xfrm>
            <a:off x="590353" y="2098822"/>
            <a:ext cx="5264437" cy="1523999"/>
          </a:xfrm>
          <a:prstGeom prst="rect">
            <a:avLst/>
          </a:prstGeom>
        </p:spPr>
        <p:txBody>
          <a:bodyPr lIns="0" tIns="0" rIns="0" bIns="0" rtlCol="0" anchor="t">
            <a:spAutoFit/>
          </a:bodyPr>
          <a:lstStyle/>
          <a:p>
            <a:pPr algn="l">
              <a:lnSpc>
                <a:spcPts val="3000"/>
              </a:lnSpc>
              <a:spcBef>
                <a:spcPct val="0"/>
              </a:spcBef>
            </a:pPr>
            <a:r>
              <a:rPr lang="en-US" sz="2000">
                <a:solidFill>
                  <a:srgbClr val="FFFFFF"/>
                </a:solidFill>
                <a:latin typeface="DejaVu Serif"/>
                <a:ea typeface="DejaVu Serif"/>
                <a:cs typeface="DejaVu Serif"/>
                <a:sym typeface="DejaVu Serif"/>
              </a:rPr>
              <a:t>Spring Boot Framework: xây dựng hệ thống backend, cung cấp REST API, xử lý nghiệp vụ và điều phối luồng dữ liệu giữa các thành phần.</a:t>
            </a:r>
          </a:p>
        </p:txBody>
      </p:sp>
      <p:sp>
        <p:nvSpPr>
          <p:cNvPr id="17" name="TextBox 17"/>
          <p:cNvSpPr txBox="1"/>
          <p:nvPr/>
        </p:nvSpPr>
        <p:spPr>
          <a:xfrm>
            <a:off x="6773714" y="3851421"/>
            <a:ext cx="3931449" cy="523821"/>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17E3B2"/>
                </a:solidFill>
                <a:latin typeface="DejaVu Serif Bold"/>
                <a:ea typeface="DejaVu Serif Bold"/>
                <a:cs typeface="DejaVu Serif Bold"/>
                <a:sym typeface="DejaVu Serif Bold"/>
              </a:rPr>
              <a:t>Frontend</a:t>
            </a:r>
          </a:p>
        </p:txBody>
      </p:sp>
      <p:sp>
        <p:nvSpPr>
          <p:cNvPr id="18" name="TextBox 18"/>
          <p:cNvSpPr txBox="1"/>
          <p:nvPr/>
        </p:nvSpPr>
        <p:spPr>
          <a:xfrm>
            <a:off x="638856" y="5032467"/>
            <a:ext cx="7443091" cy="761999"/>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FFFFFF"/>
                </a:solidFill>
                <a:latin typeface="DejaVu Serif"/>
                <a:ea typeface="DejaVu Serif"/>
                <a:cs typeface="DejaVu Serif"/>
                <a:sym typeface="DejaVu Serif"/>
              </a:rPr>
              <a:t>ReactJS: xây dựng giao diện chatbot tương tác với người dùng và kết nối với backend thông qua REST API.</a:t>
            </a:r>
          </a:p>
        </p:txBody>
      </p:sp>
      <p:sp>
        <p:nvSpPr>
          <p:cNvPr id="19" name="TextBox 19"/>
          <p:cNvSpPr txBox="1"/>
          <p:nvPr/>
        </p:nvSpPr>
        <p:spPr>
          <a:xfrm>
            <a:off x="10995205" y="6032591"/>
            <a:ext cx="5324187" cy="523821"/>
          </a:xfrm>
          <a:prstGeom prst="rect">
            <a:avLst/>
          </a:prstGeom>
        </p:spPr>
        <p:txBody>
          <a:bodyPr lIns="0" tIns="0" rIns="0" bIns="0" rtlCol="0" anchor="t">
            <a:spAutoFit/>
          </a:bodyPr>
          <a:lstStyle/>
          <a:p>
            <a:pPr marL="0" lvl="0" indent="0" algn="l">
              <a:lnSpc>
                <a:spcPts val="4200"/>
              </a:lnSpc>
              <a:spcBef>
                <a:spcPct val="0"/>
              </a:spcBef>
            </a:pPr>
            <a:r>
              <a:rPr lang="en-US" sz="3000" b="1">
                <a:solidFill>
                  <a:srgbClr val="17E3B2"/>
                </a:solidFill>
                <a:latin typeface="DejaVu Serif Bold"/>
                <a:ea typeface="DejaVu Serif Bold"/>
                <a:cs typeface="DejaVu Serif Bold"/>
                <a:sym typeface="DejaVu Serif Bold"/>
              </a:rPr>
              <a:t>Đóng gói và triển khai </a:t>
            </a:r>
          </a:p>
        </p:txBody>
      </p:sp>
      <p:sp>
        <p:nvSpPr>
          <p:cNvPr id="20" name="TextBox 20"/>
          <p:cNvSpPr txBox="1"/>
          <p:nvPr/>
        </p:nvSpPr>
        <p:spPr>
          <a:xfrm>
            <a:off x="10347024" y="7294098"/>
            <a:ext cx="2681142" cy="1142999"/>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FFFFFF"/>
                </a:solidFill>
                <a:latin typeface="DejaVu Serif"/>
                <a:ea typeface="DejaVu Serif"/>
                <a:cs typeface="DejaVu Serif"/>
                <a:sym typeface="DejaVu Serif"/>
              </a:rPr>
              <a:t>Docker: đóng gói và triển khai ứng dụng bằng container.</a:t>
            </a:r>
          </a:p>
        </p:txBody>
      </p:sp>
      <p:sp>
        <p:nvSpPr>
          <p:cNvPr id="21" name="TextBox 21"/>
          <p:cNvSpPr txBox="1"/>
          <p:nvPr/>
        </p:nvSpPr>
        <p:spPr>
          <a:xfrm>
            <a:off x="6292608" y="2092165"/>
            <a:ext cx="5264437" cy="1523999"/>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FFFFFF"/>
                </a:solidFill>
                <a:latin typeface="DejaVu Serif"/>
                <a:ea typeface="DejaVu Serif"/>
                <a:cs typeface="DejaVu Serif"/>
                <a:sym typeface="DejaVu Serif"/>
              </a:rPr>
              <a:t>Spring AI: </a:t>
            </a:r>
            <a:r>
              <a:rPr lang="en-US" sz="2000" u="none" strike="noStrike" err="1">
                <a:solidFill>
                  <a:srgbClr val="FFFFFF"/>
                </a:solidFill>
                <a:latin typeface="DejaVu Serif"/>
                <a:ea typeface="DejaVu Serif"/>
                <a:cs typeface="DejaVu Serif"/>
                <a:sym typeface="DejaVu Serif"/>
              </a:rPr>
              <a:t>Hỗ</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trợ</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tích</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hợp</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và</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quản</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lý</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quá</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trình</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tương</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tác</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với</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mô</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hình</a:t>
            </a:r>
            <a:r>
              <a:rPr lang="en-US" sz="2000" u="none" strike="noStrike">
                <a:solidFill>
                  <a:srgbClr val="FFFFFF"/>
                </a:solidFill>
                <a:latin typeface="DejaVu Serif"/>
                <a:ea typeface="DejaVu Serif"/>
                <a:cs typeface="DejaVu Serif"/>
                <a:sym typeface="DejaVu Serif"/>
              </a:rPr>
              <a:t> </a:t>
            </a:r>
            <a:r>
              <a:rPr lang="en-US" sz="2000" u="none" strike="noStrike" smtClean="0">
                <a:solidFill>
                  <a:srgbClr val="FFFFFF"/>
                </a:solidFill>
                <a:latin typeface="DejaVu Serif"/>
                <a:ea typeface="DejaVu Serif"/>
                <a:cs typeface="DejaVu Serif"/>
                <a:sym typeface="DejaVu Serif"/>
              </a:rPr>
              <a:t>AI, </a:t>
            </a:r>
            <a:r>
              <a:rPr lang="en-US" sz="2000" u="none" strike="noStrike" err="1">
                <a:solidFill>
                  <a:srgbClr val="FFFFFF"/>
                </a:solidFill>
                <a:latin typeface="DejaVu Serif"/>
                <a:ea typeface="DejaVu Serif"/>
                <a:cs typeface="DejaVu Serif"/>
                <a:sym typeface="DejaVu Serif"/>
              </a:rPr>
              <a:t>bao</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gồm</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xây</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dựng</a:t>
            </a:r>
            <a:r>
              <a:rPr lang="en-US" sz="2000" u="none" strike="noStrike">
                <a:solidFill>
                  <a:srgbClr val="FFFFFF"/>
                </a:solidFill>
                <a:latin typeface="DejaVu Serif"/>
                <a:ea typeface="DejaVu Serif"/>
                <a:cs typeface="DejaVu Serif"/>
                <a:sym typeface="DejaVu Serif"/>
              </a:rPr>
              <a:t> prompt </a:t>
            </a:r>
            <a:r>
              <a:rPr lang="en-US" sz="2000" u="none" strike="noStrike" err="1">
                <a:solidFill>
                  <a:srgbClr val="FFFFFF"/>
                </a:solidFill>
                <a:latin typeface="DejaVu Serif"/>
                <a:ea typeface="DejaVu Serif"/>
                <a:cs typeface="DejaVu Serif"/>
                <a:sym typeface="DejaVu Serif"/>
              </a:rPr>
              <a:t>và</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quản</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lý</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ngữ</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cảnh</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hội</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thoại</a:t>
            </a:r>
            <a:r>
              <a:rPr lang="en-US" sz="2000" u="none" strike="noStrike">
                <a:solidFill>
                  <a:srgbClr val="FFFFFF"/>
                </a:solidFill>
                <a:latin typeface="DejaVu Serif"/>
                <a:ea typeface="DejaVu Serif"/>
                <a:cs typeface="DejaVu Serif"/>
                <a:sym typeface="DejaVu Serif"/>
              </a:rPr>
              <a:t>.</a:t>
            </a:r>
          </a:p>
        </p:txBody>
      </p:sp>
      <p:sp>
        <p:nvSpPr>
          <p:cNvPr id="22" name="TextBox 22"/>
          <p:cNvSpPr txBox="1"/>
          <p:nvPr/>
        </p:nvSpPr>
        <p:spPr>
          <a:xfrm>
            <a:off x="11994863" y="2092165"/>
            <a:ext cx="5264437" cy="1523999"/>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FFFFFF"/>
                </a:solidFill>
                <a:latin typeface="DejaVu Serif"/>
                <a:ea typeface="DejaVu Serif"/>
                <a:cs typeface="DejaVu Serif"/>
                <a:sym typeface="DejaVu Serif"/>
              </a:rPr>
              <a:t>Moodle Web Service API: cho phép truy xuất dữ liệu từ Moodle như khóa học, bài tập, bài nộp và các thông tin liên quan phục vụ quá trình hỗ trợ học tập.</a:t>
            </a:r>
          </a:p>
        </p:txBody>
      </p:sp>
      <p:sp>
        <p:nvSpPr>
          <p:cNvPr id="23" name="TextBox 23"/>
          <p:cNvSpPr txBox="1"/>
          <p:nvPr/>
        </p:nvSpPr>
        <p:spPr>
          <a:xfrm>
            <a:off x="9192758" y="5032467"/>
            <a:ext cx="7446455" cy="761999"/>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FFFFFF"/>
                </a:solidFill>
                <a:latin typeface="DejaVu Serif"/>
                <a:ea typeface="DejaVu Serif"/>
                <a:cs typeface="DejaVu Serif"/>
                <a:sym typeface="DejaVu Serif"/>
              </a:rPr>
              <a:t>Tailwind CSS: thiết kế giao diện hiện đại, responsive và tối ưu quá trình phát triển giao diện người dùng.</a:t>
            </a:r>
          </a:p>
        </p:txBody>
      </p:sp>
      <p:sp>
        <p:nvSpPr>
          <p:cNvPr id="24" name="TextBox 24"/>
          <p:cNvSpPr txBox="1"/>
          <p:nvPr/>
        </p:nvSpPr>
        <p:spPr>
          <a:xfrm>
            <a:off x="4559926" y="7294098"/>
            <a:ext cx="3338675" cy="1904999"/>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FFFFFF"/>
                </a:solidFill>
                <a:latin typeface="DejaVu Serif"/>
                <a:ea typeface="DejaVu Serif"/>
                <a:cs typeface="DejaVu Serif"/>
                <a:sym typeface="DejaVu Serif"/>
              </a:rPr>
              <a:t>PostgreSQL: </a:t>
            </a:r>
            <a:r>
              <a:rPr lang="en-US" sz="2000" u="none" strike="noStrike" err="1">
                <a:solidFill>
                  <a:srgbClr val="FFFFFF"/>
                </a:solidFill>
                <a:latin typeface="DejaVu Serif"/>
                <a:ea typeface="DejaVu Serif"/>
                <a:cs typeface="DejaVu Serif"/>
                <a:sym typeface="DejaVu Serif"/>
              </a:rPr>
              <a:t>được</a:t>
            </a:r>
            <a:r>
              <a:rPr lang="en-US" sz="2000" u="none" strike="noStrike">
                <a:solidFill>
                  <a:srgbClr val="FFFFFF"/>
                </a:solidFill>
                <a:latin typeface="DejaVu Serif"/>
                <a:ea typeface="DejaVu Serif"/>
                <a:cs typeface="DejaVu Serif"/>
                <a:sym typeface="DejaVu Serif"/>
              </a:rPr>
              <a:t> Spring AI </a:t>
            </a:r>
            <a:r>
              <a:rPr lang="en-US" sz="2000" u="none" strike="noStrike" err="1">
                <a:solidFill>
                  <a:srgbClr val="FFFFFF"/>
                </a:solidFill>
                <a:latin typeface="DejaVu Serif"/>
                <a:ea typeface="DejaVu Serif"/>
                <a:cs typeface="DejaVu Serif"/>
                <a:sym typeface="DejaVu Serif"/>
              </a:rPr>
              <a:t>cung</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cấp</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lưu</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trữ</a:t>
            </a:r>
            <a:r>
              <a:rPr lang="en-US" sz="2000" u="none" strike="noStrike">
                <a:solidFill>
                  <a:srgbClr val="FFFFFF"/>
                </a:solidFill>
                <a:latin typeface="DejaVu Serif"/>
                <a:ea typeface="DejaVu Serif"/>
                <a:cs typeface="DejaVu Serif"/>
                <a:sym typeface="DejaVu Serif"/>
              </a:rPr>
              <a:t> Chat Memory, </a:t>
            </a:r>
            <a:r>
              <a:rPr lang="en-US" sz="2000" u="none" strike="noStrike" err="1">
                <a:solidFill>
                  <a:srgbClr val="FFFFFF"/>
                </a:solidFill>
                <a:latin typeface="DejaVu Serif"/>
                <a:ea typeface="DejaVu Serif"/>
                <a:cs typeface="DejaVu Serif"/>
                <a:sym typeface="DejaVu Serif"/>
              </a:rPr>
              <a:t>giúp</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duy</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trì</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ngữ</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cảnh</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hội</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thoại</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giữa</a:t>
            </a:r>
            <a:r>
              <a:rPr lang="en-US" sz="2000" u="none" strike="noStrike">
                <a:solidFill>
                  <a:srgbClr val="FFFFFF"/>
                </a:solidFill>
                <a:latin typeface="DejaVu Serif"/>
                <a:ea typeface="DejaVu Serif"/>
                <a:cs typeface="DejaVu Serif"/>
                <a:sym typeface="DejaVu Serif"/>
              </a:rPr>
              <a:t> AI </a:t>
            </a:r>
            <a:r>
              <a:rPr lang="en-US" sz="2000" u="none" strike="noStrike" err="1">
                <a:solidFill>
                  <a:srgbClr val="FFFFFF"/>
                </a:solidFill>
                <a:latin typeface="DejaVu Serif"/>
                <a:ea typeface="DejaVu Serif"/>
                <a:cs typeface="DejaVu Serif"/>
                <a:sym typeface="DejaVu Serif"/>
              </a:rPr>
              <a:t>với</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sinh</a:t>
            </a:r>
            <a:r>
              <a:rPr lang="en-US" sz="2000" u="none" strike="noStrike">
                <a:solidFill>
                  <a:srgbClr val="FFFFFF"/>
                </a:solidFill>
                <a:latin typeface="DejaVu Serif"/>
                <a:ea typeface="DejaVu Serif"/>
                <a:cs typeface="DejaVu Serif"/>
                <a:sym typeface="DejaVu Serif"/>
              </a:rPr>
              <a:t> </a:t>
            </a:r>
            <a:r>
              <a:rPr lang="en-US" sz="2000" u="none" strike="noStrike" err="1">
                <a:solidFill>
                  <a:srgbClr val="FFFFFF"/>
                </a:solidFill>
                <a:latin typeface="DejaVu Serif"/>
                <a:ea typeface="DejaVu Serif"/>
                <a:cs typeface="DejaVu Serif"/>
                <a:sym typeface="DejaVu Serif"/>
              </a:rPr>
              <a:t>viên</a:t>
            </a:r>
            <a:r>
              <a:rPr lang="en-US" sz="2000" u="none" strike="noStrike">
                <a:solidFill>
                  <a:srgbClr val="FFFFFF"/>
                </a:solidFill>
                <a:latin typeface="DejaVu Serif"/>
                <a:ea typeface="DejaVu Serif"/>
                <a:cs typeface="DejaVu Serif"/>
                <a:sym typeface="DejaVu Serif"/>
              </a:rPr>
              <a:t>.</a:t>
            </a:r>
          </a:p>
        </p:txBody>
      </p:sp>
      <p:sp>
        <p:nvSpPr>
          <p:cNvPr id="25" name="TextBox 25"/>
          <p:cNvSpPr txBox="1"/>
          <p:nvPr/>
        </p:nvSpPr>
        <p:spPr>
          <a:xfrm>
            <a:off x="13821909" y="7294098"/>
            <a:ext cx="3227767" cy="1523999"/>
          </a:xfrm>
          <a:prstGeom prst="rect">
            <a:avLst/>
          </a:prstGeom>
        </p:spPr>
        <p:txBody>
          <a:bodyPr lIns="0" tIns="0" rIns="0" bIns="0" rtlCol="0" anchor="t">
            <a:spAutoFit/>
          </a:bodyPr>
          <a:lstStyle/>
          <a:p>
            <a:pPr marL="0" lvl="0" indent="0" algn="l">
              <a:lnSpc>
                <a:spcPts val="3000"/>
              </a:lnSpc>
              <a:spcBef>
                <a:spcPct val="0"/>
              </a:spcBef>
            </a:pPr>
            <a:r>
              <a:rPr lang="en-US" sz="2000" u="none" strike="noStrike">
                <a:solidFill>
                  <a:srgbClr val="FFFFFF"/>
                </a:solidFill>
                <a:latin typeface="DejaVu Serif"/>
                <a:ea typeface="DejaVu Serif"/>
                <a:cs typeface="DejaVu Serif"/>
                <a:sym typeface="DejaVu Serif"/>
              </a:rPr>
              <a:t>Docker compose: quản lý và khởi chạy đồng thời nhiều container của hệ thống.</a:t>
            </a:r>
          </a:p>
        </p:txBody>
      </p:sp>
      <p:sp>
        <p:nvSpPr>
          <p:cNvPr id="26" name="Freeform 26"/>
          <p:cNvSpPr/>
          <p:nvPr/>
        </p:nvSpPr>
        <p:spPr>
          <a:xfrm>
            <a:off x="13020572" y="6608805"/>
            <a:ext cx="801338" cy="491577"/>
          </a:xfrm>
          <a:custGeom>
            <a:avLst/>
            <a:gdLst/>
            <a:ahLst/>
            <a:cxnLst/>
            <a:rect l="l" t="t" r="r" b="b"/>
            <a:pathLst>
              <a:path w="801338" h="491577">
                <a:moveTo>
                  <a:pt x="0" y="0"/>
                </a:moveTo>
                <a:lnTo>
                  <a:pt x="801337" y="0"/>
                </a:lnTo>
                <a:lnTo>
                  <a:pt x="801337" y="491576"/>
                </a:lnTo>
                <a:lnTo>
                  <a:pt x="0" y="491576"/>
                </a:lnTo>
                <a:lnTo>
                  <a:pt x="0" y="0"/>
                </a:lnTo>
                <a:close/>
              </a:path>
            </a:pathLst>
          </a:custGeom>
          <a:blipFill>
            <a:blip r:embed="rId12"/>
            <a:stretch>
              <a:fillRect/>
            </a:stretch>
          </a:blipFill>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5686069" y="7213058"/>
            <a:ext cx="7480405" cy="7480405"/>
          </a:xfrm>
          <a:custGeom>
            <a:avLst/>
            <a:gdLst/>
            <a:ahLst/>
            <a:cxnLst/>
            <a:rect l="l" t="t" r="r" b="b"/>
            <a:pathLst>
              <a:path w="7480405" h="7480405">
                <a:moveTo>
                  <a:pt x="0" y="0"/>
                </a:moveTo>
                <a:lnTo>
                  <a:pt x="7480405" y="0"/>
                </a:lnTo>
                <a:lnTo>
                  <a:pt x="7480405"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graphicFrame>
        <p:nvGraphicFramePr>
          <p:cNvPr id="5" name="Table 5"/>
          <p:cNvGraphicFramePr>
            <a:graphicFrameLocks noGrp="1"/>
          </p:cNvGraphicFramePr>
          <p:nvPr>
            <p:extLst>
              <p:ext uri="{D42A27DB-BD31-4B8C-83A1-F6EECF244321}">
                <p14:modId xmlns:p14="http://schemas.microsoft.com/office/powerpoint/2010/main" val="1913391393"/>
              </p:ext>
            </p:extLst>
          </p:nvPr>
        </p:nvGraphicFramePr>
        <p:xfrm>
          <a:off x="1341760" y="3188168"/>
          <a:ext cx="14622347" cy="5927776"/>
        </p:xfrm>
        <a:graphic>
          <a:graphicData uri="http://schemas.openxmlformats.org/drawingml/2006/table">
            <a:tbl>
              <a:tblPr/>
              <a:tblGrid>
                <a:gridCol w="2756671">
                  <a:extLst>
                    <a:ext uri="{9D8B030D-6E8A-4147-A177-3AD203B41FA5}">
                      <a16:colId xmlns:a16="http://schemas.microsoft.com/office/drawing/2014/main" val="20000"/>
                    </a:ext>
                  </a:extLst>
                </a:gridCol>
                <a:gridCol w="5932838">
                  <a:extLst>
                    <a:ext uri="{9D8B030D-6E8A-4147-A177-3AD203B41FA5}">
                      <a16:colId xmlns:a16="http://schemas.microsoft.com/office/drawing/2014/main" val="20001"/>
                    </a:ext>
                  </a:extLst>
                </a:gridCol>
                <a:gridCol w="5932838">
                  <a:extLst>
                    <a:ext uri="{9D8B030D-6E8A-4147-A177-3AD203B41FA5}">
                      <a16:colId xmlns:a16="http://schemas.microsoft.com/office/drawing/2014/main" val="20002"/>
                    </a:ext>
                  </a:extLst>
                </a:gridCol>
              </a:tblGrid>
              <a:tr h="740972">
                <a:tc>
                  <a:txBody>
                    <a:bodyPr/>
                    <a:lstStyle/>
                    <a:p>
                      <a:pPr algn="ctr">
                        <a:lnSpc>
                          <a:spcPts val="3499"/>
                        </a:lnSpc>
                        <a:defRPr/>
                      </a:pPr>
                      <a:r>
                        <a:rPr lang="en-US" sz="2499" b="1">
                          <a:solidFill>
                            <a:srgbClr val="FFFFFF"/>
                          </a:solidFill>
                          <a:latin typeface="Muli Bold"/>
                          <a:ea typeface="Muli Bold"/>
                          <a:cs typeface="Muli Bold"/>
                          <a:sym typeface="Muli Bold"/>
                        </a:rPr>
                        <a:t>Thuộc tính</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b="1" err="1" smtClean="0">
                          <a:solidFill>
                            <a:srgbClr val="FFFFFF"/>
                          </a:solidFill>
                          <a:latin typeface="Muli Bold"/>
                          <a:ea typeface="Muli Bold"/>
                          <a:cs typeface="Muli Bold"/>
                          <a:sym typeface="Muli Bold"/>
                        </a:rPr>
                        <a:t>OpenAI</a:t>
                      </a:r>
                      <a:r>
                        <a:rPr lang="en-US" sz="2499" b="1" smtClean="0">
                          <a:solidFill>
                            <a:srgbClr val="FFFFFF"/>
                          </a:solidFill>
                          <a:latin typeface="Muli Bold"/>
                          <a:ea typeface="Muli Bold"/>
                          <a:cs typeface="Muli Bold"/>
                          <a:sym typeface="Muli Bold"/>
                        </a:rPr>
                        <a:t> </a:t>
                      </a:r>
                      <a:r>
                        <a:rPr lang="en-US" sz="2499" b="1" err="1" smtClean="0">
                          <a:solidFill>
                            <a:srgbClr val="FFFFFF"/>
                          </a:solidFill>
                          <a:latin typeface="Muli Bold"/>
                          <a:ea typeface="Muli Bold"/>
                          <a:cs typeface="Muli Bold"/>
                          <a:sym typeface="Muli Bold"/>
                        </a:rPr>
                        <a:t>GPT</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499"/>
                        </a:lnSpc>
                        <a:defRPr/>
                      </a:pPr>
                      <a:r>
                        <a:rPr lang="en-US" sz="2499" b="1" smtClean="0">
                          <a:solidFill>
                            <a:srgbClr val="FFFFFF"/>
                          </a:solidFill>
                          <a:latin typeface="Muli Bold"/>
                          <a:ea typeface="Muli Bold"/>
                          <a:cs typeface="Muli Bold"/>
                          <a:sym typeface="Muli Bold"/>
                        </a:rPr>
                        <a:t>Google</a:t>
                      </a:r>
                      <a:r>
                        <a:rPr lang="en-US" sz="2499" b="1" baseline="0" smtClean="0">
                          <a:solidFill>
                            <a:srgbClr val="FFFFFF"/>
                          </a:solidFill>
                          <a:latin typeface="Muli Bold"/>
                          <a:ea typeface="Muli Bold"/>
                          <a:cs typeface="Muli Bold"/>
                          <a:sym typeface="Muli Bold"/>
                        </a:rPr>
                        <a:t> </a:t>
                      </a:r>
                      <a:r>
                        <a:rPr lang="en-US" sz="2499" b="1" smtClean="0">
                          <a:solidFill>
                            <a:srgbClr val="FFFFFF"/>
                          </a:solidFill>
                          <a:latin typeface="Muli Bold"/>
                          <a:ea typeface="Muli Bold"/>
                          <a:cs typeface="Muli Bold"/>
                          <a:sym typeface="Muli Bold"/>
                        </a:rPr>
                        <a:t>Gemini</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740972">
                <a:tc>
                  <a:txBody>
                    <a:bodyPr/>
                    <a:lstStyle/>
                    <a:p>
                      <a:pPr marL="0" lvl="0" indent="0" algn="ctr">
                        <a:lnSpc>
                          <a:spcPts val="2520"/>
                        </a:lnSpc>
                        <a:spcBef>
                          <a:spcPct val="0"/>
                        </a:spcBef>
                        <a:defRPr/>
                      </a:pPr>
                      <a:r>
                        <a:rPr lang="en-US" sz="1800" u="none" strike="noStrike">
                          <a:solidFill>
                            <a:srgbClr val="FFFFFF"/>
                          </a:solidFill>
                          <a:latin typeface="Muli"/>
                          <a:ea typeface="Muli"/>
                          <a:cs typeface="Muli"/>
                          <a:sym typeface="Muli"/>
                        </a:rPr>
                        <a:t>Reasoning</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Mạnh về suy luận</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Cân bằng suy luận và chi phí</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740972">
                <a:tc>
                  <a:txBody>
                    <a:bodyPr/>
                    <a:lstStyle/>
                    <a:p>
                      <a:pPr algn="ctr">
                        <a:lnSpc>
                          <a:spcPts val="2520"/>
                        </a:lnSpc>
                        <a:defRPr/>
                      </a:pPr>
                      <a:r>
                        <a:rPr lang="en-US" sz="1800">
                          <a:solidFill>
                            <a:srgbClr val="FFFFFF"/>
                          </a:solidFill>
                          <a:latin typeface="Muli"/>
                          <a:ea typeface="Muli"/>
                          <a:cs typeface="Muli"/>
                          <a:sym typeface="Muli"/>
                        </a:rPr>
                        <a:t>Speed</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Từ trung bình đến nhanh</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Từ trung bình đến nhanh</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740972">
                <a:tc>
                  <a:txBody>
                    <a:bodyPr/>
                    <a:lstStyle/>
                    <a:p>
                      <a:pPr algn="ctr">
                        <a:lnSpc>
                          <a:spcPts val="2520"/>
                        </a:lnSpc>
                        <a:defRPr/>
                      </a:pPr>
                      <a:r>
                        <a:rPr lang="en-US" sz="1800">
                          <a:solidFill>
                            <a:srgbClr val="FFFFFF"/>
                          </a:solidFill>
                          <a:latin typeface="Muli"/>
                          <a:ea typeface="Muli"/>
                          <a:cs typeface="Muli"/>
                          <a:sym typeface="Muli"/>
                        </a:rPr>
                        <a:t>Price</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Cao hơn</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Thấp hơn</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740972">
                <a:tc>
                  <a:txBody>
                    <a:bodyPr/>
                    <a:lstStyle/>
                    <a:p>
                      <a:pPr algn="ctr">
                        <a:lnSpc>
                          <a:spcPts val="2520"/>
                        </a:lnSpc>
                        <a:defRPr/>
                      </a:pPr>
                      <a:r>
                        <a:rPr lang="en-US" sz="1800">
                          <a:solidFill>
                            <a:srgbClr val="FFFFFF"/>
                          </a:solidFill>
                          <a:latin typeface="Muli"/>
                          <a:ea typeface="Muli"/>
                          <a:cs typeface="Muli"/>
                          <a:sym typeface="Muli"/>
                        </a:rPr>
                        <a:t>Context Window</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400k - 1M</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1M - 2M</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740972">
                <a:tc>
                  <a:txBody>
                    <a:bodyPr/>
                    <a:lstStyle/>
                    <a:p>
                      <a:pPr algn="ctr">
                        <a:lnSpc>
                          <a:spcPts val="2520"/>
                        </a:lnSpc>
                        <a:defRPr/>
                      </a:pPr>
                      <a:r>
                        <a:rPr lang="en-US" sz="1800">
                          <a:solidFill>
                            <a:srgbClr val="FFFFFF"/>
                          </a:solidFill>
                          <a:latin typeface="Muli"/>
                          <a:ea typeface="Muli"/>
                          <a:cs typeface="Muli"/>
                          <a:sym typeface="Muli"/>
                        </a:rPr>
                        <a:t>Max Output Token</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128K</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8K - 64K</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740972">
                <a:tc>
                  <a:txBody>
                    <a:bodyPr/>
                    <a:lstStyle/>
                    <a:p>
                      <a:pPr algn="ctr">
                        <a:lnSpc>
                          <a:spcPts val="2520"/>
                        </a:lnSpc>
                        <a:defRPr/>
                      </a:pPr>
                      <a:r>
                        <a:rPr lang="en-US" sz="1800">
                          <a:solidFill>
                            <a:srgbClr val="FFFFFF"/>
                          </a:solidFill>
                          <a:latin typeface="Muli"/>
                          <a:ea typeface="Muli"/>
                          <a:cs typeface="Muli"/>
                          <a:sym typeface="Muli"/>
                        </a:rPr>
                        <a:t>Input Type</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Text / Image</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Text / Image / Audio / Video</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r h="740972">
                <a:tc>
                  <a:txBody>
                    <a:bodyPr/>
                    <a:lstStyle/>
                    <a:p>
                      <a:pPr algn="ctr">
                        <a:lnSpc>
                          <a:spcPts val="2520"/>
                        </a:lnSpc>
                        <a:defRPr/>
                      </a:pPr>
                      <a:r>
                        <a:rPr lang="en-US" sz="1800">
                          <a:solidFill>
                            <a:srgbClr val="FFFFFF"/>
                          </a:solidFill>
                          <a:latin typeface="Muli"/>
                          <a:ea typeface="Muli"/>
                          <a:cs typeface="Muli"/>
                          <a:sym typeface="Muli"/>
                        </a:rPr>
                        <a:t>Output Type</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Text</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Muli"/>
                          <a:ea typeface="Muli"/>
                          <a:cs typeface="Muli"/>
                          <a:sym typeface="Muli"/>
                        </a:rPr>
                        <a:t>Text</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Box 6"/>
          <p:cNvSpPr txBox="1"/>
          <p:nvPr/>
        </p:nvSpPr>
        <p:spPr>
          <a:xfrm>
            <a:off x="446590" y="409521"/>
            <a:ext cx="11100835" cy="619179"/>
          </a:xfrm>
          <a:prstGeom prst="rect">
            <a:avLst/>
          </a:prstGeom>
        </p:spPr>
        <p:txBody>
          <a:bodyPr lIns="0" tIns="0" rIns="0" bIns="0" rtlCol="0" anchor="t">
            <a:spAutoFit/>
          </a:bodyPr>
          <a:lstStyle/>
          <a:p>
            <a:pPr marL="0" lvl="0" indent="0" algn="l">
              <a:lnSpc>
                <a:spcPts val="4800"/>
              </a:lnSpc>
              <a:spcBef>
                <a:spcPct val="0"/>
              </a:spcBef>
            </a:pPr>
            <a:r>
              <a:rPr lang="en-US" sz="4000" b="1" u="none" strike="noStrike">
                <a:solidFill>
                  <a:srgbClr val="FF9A00"/>
                </a:solidFill>
                <a:latin typeface="Muli Bold"/>
                <a:ea typeface="Muli Bold"/>
                <a:cs typeface="Muli Bold"/>
                <a:sym typeface="Muli Bold"/>
              </a:rPr>
              <a:t>KHẢO SÁT LỰA VÀ CHỌN MÔ HÌNH AI </a:t>
            </a:r>
          </a:p>
        </p:txBody>
      </p:sp>
      <p:sp>
        <p:nvSpPr>
          <p:cNvPr id="7" name="TextBox 7"/>
          <p:cNvSpPr txBox="1"/>
          <p:nvPr/>
        </p:nvSpPr>
        <p:spPr>
          <a:xfrm>
            <a:off x="1028700" y="1313790"/>
            <a:ext cx="15248468" cy="1303019"/>
          </a:xfrm>
          <a:prstGeom prst="rect">
            <a:avLst/>
          </a:prstGeom>
        </p:spPr>
        <p:txBody>
          <a:bodyPr lIns="0" tIns="0" rIns="0" bIns="0" rtlCol="0" anchor="t">
            <a:spAutoFit/>
          </a:bodyPr>
          <a:lstStyle/>
          <a:p>
            <a:pPr marL="0" lvl="0" indent="0" algn="just">
              <a:lnSpc>
                <a:spcPts val="3450"/>
              </a:lnSpc>
              <a:spcBef>
                <a:spcPct val="0"/>
              </a:spcBef>
            </a:pPr>
            <a:r>
              <a:rPr lang="en-US" sz="2300">
                <a:solidFill>
                  <a:srgbClr val="FFFFFF"/>
                </a:solidFill>
                <a:latin typeface="DejaVu Serif"/>
                <a:ea typeface="DejaVu Serif"/>
                <a:cs typeface="DejaVu Serif"/>
                <a:sym typeface="DejaVu Serif"/>
              </a:rPr>
              <a:t>     </a:t>
            </a:r>
            <a:r>
              <a:rPr lang="en-US" sz="2300" err="1">
                <a:solidFill>
                  <a:srgbClr val="FFFFFF"/>
                </a:solidFill>
                <a:latin typeface="DejaVu Serif"/>
                <a:ea typeface="DejaVu Serif"/>
                <a:cs typeface="DejaVu Serif"/>
                <a:sym typeface="DejaVu Serif"/>
              </a:rPr>
              <a:t>Sau</a:t>
            </a:r>
            <a:r>
              <a:rPr lang="en-US" sz="2300">
                <a:solidFill>
                  <a:srgbClr val="FFFFFF"/>
                </a:solidFill>
                <a:latin typeface="DejaVu Serif"/>
                <a:ea typeface="DejaVu Serif"/>
                <a:cs typeface="DejaVu Serif"/>
                <a:sym typeface="DejaVu Serif"/>
              </a:rPr>
              <a:t> </a:t>
            </a:r>
            <a:r>
              <a:rPr lang="en-US" sz="2300" err="1">
                <a:solidFill>
                  <a:srgbClr val="FFFFFF"/>
                </a:solidFill>
                <a:latin typeface="DejaVu Serif"/>
                <a:ea typeface="DejaVu Serif"/>
                <a:cs typeface="DejaVu Serif"/>
                <a:sym typeface="DejaVu Serif"/>
              </a:rPr>
              <a:t>khi</a:t>
            </a:r>
            <a:r>
              <a:rPr lang="en-US" sz="2300">
                <a:solidFill>
                  <a:srgbClr val="FFFFFF"/>
                </a:solidFill>
                <a:latin typeface="DejaVu Serif"/>
                <a:ea typeface="DejaVu Serif"/>
                <a:cs typeface="DejaVu Serif"/>
                <a:sym typeface="DejaVu Serif"/>
              </a:rPr>
              <a:t> </a:t>
            </a:r>
            <a:r>
              <a:rPr lang="en-US" sz="2300" err="1">
                <a:solidFill>
                  <a:srgbClr val="FFFFFF"/>
                </a:solidFill>
                <a:latin typeface="DejaVu Serif"/>
                <a:ea typeface="DejaVu Serif"/>
                <a:cs typeface="DejaVu Serif"/>
                <a:sym typeface="DejaVu Serif"/>
              </a:rPr>
              <a:t>tham</a:t>
            </a:r>
            <a:r>
              <a:rPr lang="en-US" sz="2300">
                <a:solidFill>
                  <a:srgbClr val="FFFFFF"/>
                </a:solidFill>
                <a:latin typeface="DejaVu Serif"/>
                <a:ea typeface="DejaVu Serif"/>
                <a:cs typeface="DejaVu Serif"/>
                <a:sym typeface="DejaVu Serif"/>
              </a:rPr>
              <a:t> </a:t>
            </a:r>
            <a:r>
              <a:rPr lang="en-US" sz="2300" err="1">
                <a:solidFill>
                  <a:srgbClr val="FFFFFF"/>
                </a:solidFill>
                <a:latin typeface="DejaVu Serif"/>
                <a:ea typeface="DejaVu Serif"/>
                <a:cs typeface="DejaVu Serif"/>
                <a:sym typeface="DejaVu Serif"/>
              </a:rPr>
              <a:t>khảo</a:t>
            </a:r>
            <a:r>
              <a:rPr lang="en-US" sz="2300">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các</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dịch</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vụ</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cung</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cấp</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mô</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hình</a:t>
            </a:r>
            <a:r>
              <a:rPr lang="en-US" sz="2300" u="none" strike="noStrike">
                <a:solidFill>
                  <a:srgbClr val="FFFFFF"/>
                </a:solidFill>
                <a:latin typeface="DejaVu Serif"/>
                <a:ea typeface="DejaVu Serif"/>
                <a:cs typeface="DejaVu Serif"/>
                <a:sym typeface="DejaVu Serif"/>
              </a:rPr>
              <a:t> AI </a:t>
            </a:r>
            <a:r>
              <a:rPr lang="en-US" sz="2300" u="none" strike="noStrike" err="1">
                <a:solidFill>
                  <a:srgbClr val="FFFFFF"/>
                </a:solidFill>
                <a:latin typeface="DejaVu Serif"/>
                <a:ea typeface="DejaVu Serif"/>
                <a:cs typeface="DejaVu Serif"/>
                <a:sym typeface="DejaVu Serif"/>
              </a:rPr>
              <a:t>phổ</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biến</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như</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OpenAI</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GPT</a:t>
            </a:r>
            <a:r>
              <a:rPr lang="en-US" sz="2300" u="none" strike="noStrike">
                <a:solidFill>
                  <a:srgbClr val="FFFFFF"/>
                </a:solidFill>
                <a:latin typeface="DejaVu Serif"/>
                <a:ea typeface="DejaVu Serif"/>
                <a:cs typeface="DejaVu Serif"/>
                <a:sym typeface="DejaVu Serif"/>
              </a:rPr>
              <a:t>, Google Gemini. </a:t>
            </a:r>
            <a:r>
              <a:rPr lang="en-US" sz="2300" u="none" strike="noStrike" err="1">
                <a:solidFill>
                  <a:srgbClr val="FFFFFF"/>
                </a:solidFill>
                <a:latin typeface="DejaVu Serif"/>
                <a:ea typeface="DejaVu Serif"/>
                <a:cs typeface="DejaVu Serif"/>
                <a:sym typeface="DejaVu Serif"/>
              </a:rPr>
              <a:t>Đề</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tài</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tập</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trung</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khảo</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sát</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các</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mô</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hình</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dựa</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trên</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khả</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năng</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lập</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trình</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hội</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thoại</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theo</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ngữ</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cảnh</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hiệu</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năng</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và</a:t>
            </a:r>
            <a:r>
              <a:rPr lang="en-US" sz="2300" u="none" strike="noStrike">
                <a:solidFill>
                  <a:srgbClr val="FFFFFF"/>
                </a:solidFill>
                <a:latin typeface="DejaVu Serif"/>
                <a:ea typeface="DejaVu Serif"/>
                <a:cs typeface="DejaVu Serif"/>
                <a:sym typeface="DejaVu Serif"/>
              </a:rPr>
              <a:t> chi </a:t>
            </a:r>
            <a:r>
              <a:rPr lang="en-US" sz="2300" u="none" strike="noStrike" err="1">
                <a:solidFill>
                  <a:srgbClr val="FFFFFF"/>
                </a:solidFill>
                <a:latin typeface="DejaVu Serif"/>
                <a:ea typeface="DejaVu Serif"/>
                <a:cs typeface="DejaVu Serif"/>
                <a:sym typeface="DejaVu Serif"/>
              </a:rPr>
              <a:t>phí</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sử</a:t>
            </a:r>
            <a:r>
              <a:rPr lang="en-US" sz="2300" u="none" strike="noStrike">
                <a:solidFill>
                  <a:srgbClr val="FFFFFF"/>
                </a:solidFill>
                <a:latin typeface="DejaVu Serif"/>
                <a:ea typeface="DejaVu Serif"/>
                <a:cs typeface="DejaVu Serif"/>
                <a:sym typeface="DejaVu Serif"/>
              </a:rPr>
              <a:t> </a:t>
            </a:r>
            <a:r>
              <a:rPr lang="en-US" sz="2300" u="none" strike="noStrike" err="1">
                <a:solidFill>
                  <a:srgbClr val="FFFFFF"/>
                </a:solidFill>
                <a:latin typeface="DejaVu Serif"/>
                <a:ea typeface="DejaVu Serif"/>
                <a:cs typeface="DejaVu Serif"/>
                <a:sym typeface="DejaVu Serif"/>
              </a:rPr>
              <a:t>dụng</a:t>
            </a:r>
            <a:r>
              <a:rPr lang="en-US" sz="2300" u="none" strike="noStrike">
                <a:solidFill>
                  <a:srgbClr val="FFFFFF"/>
                </a:solidFill>
                <a:latin typeface="DejaVu Serif"/>
                <a:ea typeface="DejaVu Serif"/>
                <a:cs typeface="DejaVu Serif"/>
                <a:sym typeface="DejaVu Serif"/>
              </a:rPr>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3432573" y="5938190"/>
            <a:ext cx="7480405" cy="7480405"/>
          </a:xfrm>
          <a:custGeom>
            <a:avLst/>
            <a:gdLst/>
            <a:ahLst/>
            <a:cxnLst/>
            <a:rect l="l" t="t" r="r" b="b"/>
            <a:pathLst>
              <a:path w="7480405" h="7480405">
                <a:moveTo>
                  <a:pt x="0" y="0"/>
                </a:moveTo>
                <a:lnTo>
                  <a:pt x="7480404" y="0"/>
                </a:lnTo>
                <a:lnTo>
                  <a:pt x="7480404" y="7480404"/>
                </a:lnTo>
                <a:lnTo>
                  <a:pt x="0" y="748040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grpSp>
        <p:nvGrpSpPr>
          <p:cNvPr id="5" name="Group 5"/>
          <p:cNvGrpSpPr/>
          <p:nvPr/>
        </p:nvGrpSpPr>
        <p:grpSpPr>
          <a:xfrm>
            <a:off x="2739755" y="3626193"/>
            <a:ext cx="12182512" cy="5495925"/>
            <a:chOff x="0" y="0"/>
            <a:chExt cx="16243350" cy="7327900"/>
          </a:xfrm>
        </p:grpSpPr>
        <p:sp>
          <p:nvSpPr>
            <p:cNvPr id="7" name="Freeform 7"/>
            <p:cNvSpPr/>
            <p:nvPr/>
          </p:nvSpPr>
          <p:spPr>
            <a:xfrm>
              <a:off x="4040748" y="1620403"/>
              <a:ext cx="386017" cy="491457"/>
            </a:xfrm>
            <a:custGeom>
              <a:avLst/>
              <a:gdLst/>
              <a:ahLst/>
              <a:cxnLst/>
              <a:rect l="l" t="t" r="r" b="b"/>
              <a:pathLst>
                <a:path w="386017" h="491457">
                  <a:moveTo>
                    <a:pt x="0" y="0"/>
                  </a:moveTo>
                  <a:lnTo>
                    <a:pt x="386017" y="0"/>
                  </a:lnTo>
                  <a:lnTo>
                    <a:pt x="386017" y="491457"/>
                  </a:lnTo>
                  <a:lnTo>
                    <a:pt x="0" y="49145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4703854" y="1620403"/>
              <a:ext cx="386017" cy="491457"/>
            </a:xfrm>
            <a:custGeom>
              <a:avLst/>
              <a:gdLst/>
              <a:ahLst/>
              <a:cxnLst/>
              <a:rect l="l" t="t" r="r" b="b"/>
              <a:pathLst>
                <a:path w="386017" h="491457">
                  <a:moveTo>
                    <a:pt x="0" y="0"/>
                  </a:moveTo>
                  <a:lnTo>
                    <a:pt x="386018" y="0"/>
                  </a:lnTo>
                  <a:lnTo>
                    <a:pt x="386018" y="491457"/>
                  </a:lnTo>
                  <a:lnTo>
                    <a:pt x="0" y="49145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9" name="Freeform 9"/>
            <p:cNvSpPr/>
            <p:nvPr/>
          </p:nvSpPr>
          <p:spPr>
            <a:xfrm>
              <a:off x="5366961" y="1620403"/>
              <a:ext cx="386017" cy="491457"/>
            </a:xfrm>
            <a:custGeom>
              <a:avLst/>
              <a:gdLst/>
              <a:ahLst/>
              <a:cxnLst/>
              <a:rect l="l" t="t" r="r" b="b"/>
              <a:pathLst>
                <a:path w="386017" h="491457">
                  <a:moveTo>
                    <a:pt x="0" y="0"/>
                  </a:moveTo>
                  <a:lnTo>
                    <a:pt x="386017" y="0"/>
                  </a:lnTo>
                  <a:lnTo>
                    <a:pt x="386017" y="491457"/>
                  </a:lnTo>
                  <a:lnTo>
                    <a:pt x="0" y="49145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0" name="Freeform 10"/>
            <p:cNvSpPr/>
            <p:nvPr/>
          </p:nvSpPr>
          <p:spPr>
            <a:xfrm>
              <a:off x="7187186" y="1620403"/>
              <a:ext cx="386017" cy="491457"/>
            </a:xfrm>
            <a:custGeom>
              <a:avLst/>
              <a:gdLst/>
              <a:ahLst/>
              <a:cxnLst/>
              <a:rect l="l" t="t" r="r" b="b"/>
              <a:pathLst>
                <a:path w="386017" h="491457">
                  <a:moveTo>
                    <a:pt x="0" y="0"/>
                  </a:moveTo>
                  <a:lnTo>
                    <a:pt x="386018" y="0"/>
                  </a:lnTo>
                  <a:lnTo>
                    <a:pt x="386018" y="491457"/>
                  </a:lnTo>
                  <a:lnTo>
                    <a:pt x="0" y="49145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1" name="Freeform 11"/>
            <p:cNvSpPr/>
            <p:nvPr/>
          </p:nvSpPr>
          <p:spPr>
            <a:xfrm>
              <a:off x="7850293" y="1620403"/>
              <a:ext cx="386017" cy="491457"/>
            </a:xfrm>
            <a:custGeom>
              <a:avLst/>
              <a:gdLst/>
              <a:ahLst/>
              <a:cxnLst/>
              <a:rect l="l" t="t" r="r" b="b"/>
              <a:pathLst>
                <a:path w="386017" h="491457">
                  <a:moveTo>
                    <a:pt x="0" y="0"/>
                  </a:moveTo>
                  <a:lnTo>
                    <a:pt x="386017" y="0"/>
                  </a:lnTo>
                  <a:lnTo>
                    <a:pt x="386017" y="491457"/>
                  </a:lnTo>
                  <a:lnTo>
                    <a:pt x="0" y="49145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2" name="Freeform 12"/>
            <p:cNvSpPr/>
            <p:nvPr/>
          </p:nvSpPr>
          <p:spPr>
            <a:xfrm>
              <a:off x="8513399" y="1620403"/>
              <a:ext cx="386017" cy="491457"/>
            </a:xfrm>
            <a:custGeom>
              <a:avLst/>
              <a:gdLst/>
              <a:ahLst/>
              <a:cxnLst/>
              <a:rect l="l" t="t" r="r" b="b"/>
              <a:pathLst>
                <a:path w="386017" h="491457">
                  <a:moveTo>
                    <a:pt x="0" y="0"/>
                  </a:moveTo>
                  <a:lnTo>
                    <a:pt x="386017" y="0"/>
                  </a:lnTo>
                  <a:lnTo>
                    <a:pt x="386017" y="491457"/>
                  </a:lnTo>
                  <a:lnTo>
                    <a:pt x="0" y="49145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3" name="Freeform 13"/>
            <p:cNvSpPr/>
            <p:nvPr/>
          </p:nvSpPr>
          <p:spPr>
            <a:xfrm>
              <a:off x="10529564" y="1620403"/>
              <a:ext cx="386017" cy="491457"/>
            </a:xfrm>
            <a:custGeom>
              <a:avLst/>
              <a:gdLst/>
              <a:ahLst/>
              <a:cxnLst/>
              <a:rect l="l" t="t" r="r" b="b"/>
              <a:pathLst>
                <a:path w="386017" h="491457">
                  <a:moveTo>
                    <a:pt x="0" y="0"/>
                  </a:moveTo>
                  <a:lnTo>
                    <a:pt x="386017" y="0"/>
                  </a:lnTo>
                  <a:lnTo>
                    <a:pt x="386017" y="491457"/>
                  </a:lnTo>
                  <a:lnTo>
                    <a:pt x="0" y="49145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4" name="Freeform 14"/>
            <p:cNvSpPr/>
            <p:nvPr/>
          </p:nvSpPr>
          <p:spPr>
            <a:xfrm>
              <a:off x="11192670" y="1620403"/>
              <a:ext cx="386017" cy="491457"/>
            </a:xfrm>
            <a:custGeom>
              <a:avLst/>
              <a:gdLst/>
              <a:ahLst/>
              <a:cxnLst/>
              <a:rect l="l" t="t" r="r" b="b"/>
              <a:pathLst>
                <a:path w="386017" h="491457">
                  <a:moveTo>
                    <a:pt x="0" y="0"/>
                  </a:moveTo>
                  <a:lnTo>
                    <a:pt x="386017" y="0"/>
                  </a:lnTo>
                  <a:lnTo>
                    <a:pt x="386017" y="491457"/>
                  </a:lnTo>
                  <a:lnTo>
                    <a:pt x="0" y="49145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5" name="Freeform 15"/>
            <p:cNvSpPr/>
            <p:nvPr/>
          </p:nvSpPr>
          <p:spPr>
            <a:xfrm>
              <a:off x="14227667" y="1620403"/>
              <a:ext cx="386017" cy="491457"/>
            </a:xfrm>
            <a:custGeom>
              <a:avLst/>
              <a:gdLst/>
              <a:ahLst/>
              <a:cxnLst/>
              <a:rect l="l" t="t" r="r" b="b"/>
              <a:pathLst>
                <a:path w="386017" h="491457">
                  <a:moveTo>
                    <a:pt x="0" y="0"/>
                  </a:moveTo>
                  <a:lnTo>
                    <a:pt x="386017" y="0"/>
                  </a:lnTo>
                  <a:lnTo>
                    <a:pt x="386017" y="491457"/>
                  </a:lnTo>
                  <a:lnTo>
                    <a:pt x="0" y="491457"/>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6" name="Freeform 16"/>
            <p:cNvSpPr/>
            <p:nvPr/>
          </p:nvSpPr>
          <p:spPr>
            <a:xfrm>
              <a:off x="4120275" y="2893188"/>
              <a:ext cx="306491" cy="491457"/>
            </a:xfrm>
            <a:custGeom>
              <a:avLst/>
              <a:gdLst/>
              <a:ahLst/>
              <a:cxnLst/>
              <a:rect l="l" t="t" r="r" b="b"/>
              <a:pathLst>
                <a:path w="306491" h="491457">
                  <a:moveTo>
                    <a:pt x="0" y="0"/>
                  </a:moveTo>
                  <a:lnTo>
                    <a:pt x="306490" y="0"/>
                  </a:lnTo>
                  <a:lnTo>
                    <a:pt x="306490"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7" name="Freeform 17"/>
            <p:cNvSpPr/>
            <p:nvPr/>
          </p:nvSpPr>
          <p:spPr>
            <a:xfrm>
              <a:off x="4763499" y="2893188"/>
              <a:ext cx="306491" cy="491457"/>
            </a:xfrm>
            <a:custGeom>
              <a:avLst/>
              <a:gdLst/>
              <a:ahLst/>
              <a:cxnLst/>
              <a:rect l="l" t="t" r="r" b="b"/>
              <a:pathLst>
                <a:path w="306491" h="491457">
                  <a:moveTo>
                    <a:pt x="0" y="0"/>
                  </a:moveTo>
                  <a:lnTo>
                    <a:pt x="306491" y="0"/>
                  </a:lnTo>
                  <a:lnTo>
                    <a:pt x="306491"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8" name="Freeform 18"/>
            <p:cNvSpPr/>
            <p:nvPr/>
          </p:nvSpPr>
          <p:spPr>
            <a:xfrm>
              <a:off x="5406724" y="2893188"/>
              <a:ext cx="306491" cy="491457"/>
            </a:xfrm>
            <a:custGeom>
              <a:avLst/>
              <a:gdLst/>
              <a:ahLst/>
              <a:cxnLst/>
              <a:rect l="l" t="t" r="r" b="b"/>
              <a:pathLst>
                <a:path w="306491" h="491457">
                  <a:moveTo>
                    <a:pt x="0" y="0"/>
                  </a:moveTo>
                  <a:lnTo>
                    <a:pt x="306491" y="0"/>
                  </a:lnTo>
                  <a:lnTo>
                    <a:pt x="306491"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9" name="Freeform 19"/>
            <p:cNvSpPr/>
            <p:nvPr/>
          </p:nvSpPr>
          <p:spPr>
            <a:xfrm>
              <a:off x="10247715" y="2880393"/>
              <a:ext cx="306491" cy="491457"/>
            </a:xfrm>
            <a:custGeom>
              <a:avLst/>
              <a:gdLst/>
              <a:ahLst/>
              <a:cxnLst/>
              <a:rect l="l" t="t" r="r" b="b"/>
              <a:pathLst>
                <a:path w="306491" h="491457">
                  <a:moveTo>
                    <a:pt x="0" y="0"/>
                  </a:moveTo>
                  <a:lnTo>
                    <a:pt x="306490" y="0"/>
                  </a:lnTo>
                  <a:lnTo>
                    <a:pt x="306490"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0" name="Freeform 20"/>
            <p:cNvSpPr/>
            <p:nvPr/>
          </p:nvSpPr>
          <p:spPr>
            <a:xfrm>
              <a:off x="10890939" y="2880393"/>
              <a:ext cx="306491" cy="491457"/>
            </a:xfrm>
            <a:custGeom>
              <a:avLst/>
              <a:gdLst/>
              <a:ahLst/>
              <a:cxnLst/>
              <a:rect l="l" t="t" r="r" b="b"/>
              <a:pathLst>
                <a:path w="306491" h="491457">
                  <a:moveTo>
                    <a:pt x="0" y="0"/>
                  </a:moveTo>
                  <a:lnTo>
                    <a:pt x="306491" y="0"/>
                  </a:lnTo>
                  <a:lnTo>
                    <a:pt x="306491"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1" name="Freeform 21"/>
            <p:cNvSpPr/>
            <p:nvPr/>
          </p:nvSpPr>
          <p:spPr>
            <a:xfrm>
              <a:off x="11534164" y="2880393"/>
              <a:ext cx="306491" cy="491457"/>
            </a:xfrm>
            <a:custGeom>
              <a:avLst/>
              <a:gdLst/>
              <a:ahLst/>
              <a:cxnLst/>
              <a:rect l="l" t="t" r="r" b="b"/>
              <a:pathLst>
                <a:path w="306491" h="491457">
                  <a:moveTo>
                    <a:pt x="0" y="0"/>
                  </a:moveTo>
                  <a:lnTo>
                    <a:pt x="306491" y="0"/>
                  </a:lnTo>
                  <a:lnTo>
                    <a:pt x="306491"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2" name="Freeform 22"/>
            <p:cNvSpPr/>
            <p:nvPr/>
          </p:nvSpPr>
          <p:spPr>
            <a:xfrm>
              <a:off x="13624206" y="2893188"/>
              <a:ext cx="306491" cy="491457"/>
            </a:xfrm>
            <a:custGeom>
              <a:avLst/>
              <a:gdLst/>
              <a:ahLst/>
              <a:cxnLst/>
              <a:rect l="l" t="t" r="r" b="b"/>
              <a:pathLst>
                <a:path w="306491" h="491457">
                  <a:moveTo>
                    <a:pt x="0" y="0"/>
                  </a:moveTo>
                  <a:lnTo>
                    <a:pt x="306490" y="0"/>
                  </a:lnTo>
                  <a:lnTo>
                    <a:pt x="306490"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3" name="Freeform 23"/>
            <p:cNvSpPr/>
            <p:nvPr/>
          </p:nvSpPr>
          <p:spPr>
            <a:xfrm>
              <a:off x="14267430" y="2893188"/>
              <a:ext cx="306491" cy="491457"/>
            </a:xfrm>
            <a:custGeom>
              <a:avLst/>
              <a:gdLst/>
              <a:ahLst/>
              <a:cxnLst/>
              <a:rect l="l" t="t" r="r" b="b"/>
              <a:pathLst>
                <a:path w="306491" h="491457">
                  <a:moveTo>
                    <a:pt x="0" y="0"/>
                  </a:moveTo>
                  <a:lnTo>
                    <a:pt x="306491" y="0"/>
                  </a:lnTo>
                  <a:lnTo>
                    <a:pt x="306491"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4" name="Freeform 24"/>
            <p:cNvSpPr/>
            <p:nvPr/>
          </p:nvSpPr>
          <p:spPr>
            <a:xfrm>
              <a:off x="14910655" y="2893188"/>
              <a:ext cx="306491" cy="491457"/>
            </a:xfrm>
            <a:custGeom>
              <a:avLst/>
              <a:gdLst/>
              <a:ahLst/>
              <a:cxnLst/>
              <a:rect l="l" t="t" r="r" b="b"/>
              <a:pathLst>
                <a:path w="306491" h="491457">
                  <a:moveTo>
                    <a:pt x="0" y="0"/>
                  </a:moveTo>
                  <a:lnTo>
                    <a:pt x="306491" y="0"/>
                  </a:lnTo>
                  <a:lnTo>
                    <a:pt x="306491"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5" name="Freeform 25"/>
            <p:cNvSpPr/>
            <p:nvPr/>
          </p:nvSpPr>
          <p:spPr>
            <a:xfrm>
              <a:off x="7543707" y="2880393"/>
              <a:ext cx="306491" cy="491457"/>
            </a:xfrm>
            <a:custGeom>
              <a:avLst/>
              <a:gdLst/>
              <a:ahLst/>
              <a:cxnLst/>
              <a:rect l="l" t="t" r="r" b="b"/>
              <a:pathLst>
                <a:path w="306491" h="491457">
                  <a:moveTo>
                    <a:pt x="0" y="0"/>
                  </a:moveTo>
                  <a:lnTo>
                    <a:pt x="306491" y="0"/>
                  </a:lnTo>
                  <a:lnTo>
                    <a:pt x="306491"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26" name="Freeform 26"/>
            <p:cNvSpPr/>
            <p:nvPr/>
          </p:nvSpPr>
          <p:spPr>
            <a:xfrm>
              <a:off x="8186932" y="2880393"/>
              <a:ext cx="306491" cy="491457"/>
            </a:xfrm>
            <a:custGeom>
              <a:avLst/>
              <a:gdLst/>
              <a:ahLst/>
              <a:cxnLst/>
              <a:rect l="l" t="t" r="r" b="b"/>
              <a:pathLst>
                <a:path w="306491" h="491457">
                  <a:moveTo>
                    <a:pt x="0" y="0"/>
                  </a:moveTo>
                  <a:lnTo>
                    <a:pt x="306490" y="0"/>
                  </a:lnTo>
                  <a:lnTo>
                    <a:pt x="306490" y="491457"/>
                  </a:lnTo>
                  <a:lnTo>
                    <a:pt x="0" y="491457"/>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grpSp>
      <p:graphicFrame>
        <p:nvGraphicFramePr>
          <p:cNvPr id="6" name="Table 6"/>
          <p:cNvGraphicFramePr>
            <a:graphicFrameLocks noGrp="1"/>
          </p:cNvGraphicFramePr>
          <p:nvPr>
            <p:extLst>
              <p:ext uri="{D42A27DB-BD31-4B8C-83A1-F6EECF244321}">
                <p14:modId xmlns:p14="http://schemas.microsoft.com/office/powerpoint/2010/main" val="4035826246"/>
              </p:ext>
            </p:extLst>
          </p:nvPr>
        </p:nvGraphicFramePr>
        <p:xfrm>
          <a:off x="2788698" y="3695700"/>
          <a:ext cx="12182511" cy="5495925"/>
        </p:xfrm>
        <a:graphic>
          <a:graphicData uri="http://schemas.openxmlformats.org/drawingml/2006/table">
            <a:tbl>
              <a:tblPr/>
              <a:tblGrid>
                <a:gridCol w="2441610">
                  <a:extLst>
                    <a:ext uri="{9D8B030D-6E8A-4147-A177-3AD203B41FA5}">
                      <a16:colId xmlns:a16="http://schemas.microsoft.com/office/drawing/2014/main" val="20000"/>
                    </a:ext>
                  </a:extLst>
                </a:gridCol>
                <a:gridCol w="2441610">
                  <a:extLst>
                    <a:ext uri="{9D8B030D-6E8A-4147-A177-3AD203B41FA5}">
                      <a16:colId xmlns:a16="http://schemas.microsoft.com/office/drawing/2014/main" val="20001"/>
                    </a:ext>
                  </a:extLst>
                </a:gridCol>
                <a:gridCol w="2155100">
                  <a:extLst>
                    <a:ext uri="{9D8B030D-6E8A-4147-A177-3AD203B41FA5}">
                      <a16:colId xmlns:a16="http://schemas.microsoft.com/office/drawing/2014/main" val="20002"/>
                    </a:ext>
                  </a:extLst>
                </a:gridCol>
                <a:gridCol w="2450539">
                  <a:extLst>
                    <a:ext uri="{9D8B030D-6E8A-4147-A177-3AD203B41FA5}">
                      <a16:colId xmlns:a16="http://schemas.microsoft.com/office/drawing/2014/main" val="20003"/>
                    </a:ext>
                  </a:extLst>
                </a:gridCol>
                <a:gridCol w="2693652">
                  <a:extLst>
                    <a:ext uri="{9D8B030D-6E8A-4147-A177-3AD203B41FA5}">
                      <a16:colId xmlns:a16="http://schemas.microsoft.com/office/drawing/2014/main" val="20004"/>
                    </a:ext>
                  </a:extLst>
                </a:gridCol>
              </a:tblGrid>
              <a:tr h="936915">
                <a:tc>
                  <a:txBody>
                    <a:bodyPr/>
                    <a:lstStyle/>
                    <a:p>
                      <a:pPr algn="ctr">
                        <a:lnSpc>
                          <a:spcPts val="3219"/>
                        </a:lnSpc>
                        <a:defRPr/>
                      </a:pPr>
                      <a:r>
                        <a:rPr lang="en-US" sz="2299" b="1">
                          <a:solidFill>
                            <a:srgbClr val="FFFFFF"/>
                          </a:solidFill>
                          <a:latin typeface="DejaVu Serif Bold"/>
                          <a:ea typeface="DejaVu Serif Bold"/>
                          <a:cs typeface="DejaVu Serif Bold"/>
                          <a:sym typeface="DejaVu Serif Bold"/>
                        </a:rPr>
                        <a:t>Thuộc tính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b="1">
                          <a:solidFill>
                            <a:srgbClr val="FFFFFF"/>
                          </a:solidFill>
                          <a:latin typeface="DejaVu Serif Bold"/>
                          <a:ea typeface="DejaVu Serif Bold"/>
                          <a:cs typeface="DejaVu Serif Bold"/>
                          <a:sym typeface="DejaVu Serif Bold"/>
                        </a:rPr>
                        <a:t>GPT 5.5</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b="1">
                          <a:solidFill>
                            <a:srgbClr val="FFFFFF"/>
                          </a:solidFill>
                          <a:latin typeface="Muli Bold"/>
                          <a:ea typeface="Muli Bold"/>
                          <a:cs typeface="Muli Bold"/>
                          <a:sym typeface="Muli Bold"/>
                        </a:rPr>
                        <a:t>GPT 5.4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76200" cap="flat" cmpd="sng" algn="ctr">
                      <a:solidFill>
                        <a:srgbClr val="17E3B2"/>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b="1">
                          <a:solidFill>
                            <a:srgbClr val="FFFFFF"/>
                          </a:solidFill>
                          <a:latin typeface="Muli Bold"/>
                          <a:ea typeface="Muli Bold"/>
                          <a:cs typeface="Muli Bold"/>
                          <a:sym typeface="Muli Bold"/>
                        </a:rPr>
                        <a:t>GPT 5.4 mini</a:t>
                      </a:r>
                      <a:endParaRPr lang="en-US" sz="1100"/>
                    </a:p>
                  </a:txBody>
                  <a:tcPr marL="190500" marR="190500" marT="190500" marB="190500" anchor="ctr">
                    <a:lnL w="76200" cap="flat" cmpd="sng" algn="ctr">
                      <a:solidFill>
                        <a:srgbClr val="17E3B2"/>
                      </a:solidFill>
                      <a:prstDash val="solid"/>
                      <a:round/>
                      <a:headEnd type="none" w="med" len="med"/>
                      <a:tailEnd type="none" w="med" len="med"/>
                    </a:lnL>
                    <a:lnR w="76200" cap="flat" cmpd="sng" algn="ctr">
                      <a:solidFill>
                        <a:srgbClr val="17E3B2"/>
                      </a:solidFill>
                      <a:prstDash val="solid"/>
                      <a:round/>
                      <a:headEnd type="none" w="med" len="med"/>
                      <a:tailEnd type="none" w="med" len="med"/>
                    </a:lnR>
                    <a:lnT w="76200" cap="flat" cmpd="sng" algn="ctr">
                      <a:solidFill>
                        <a:srgbClr val="17E3B2"/>
                      </a:solidFill>
                      <a:prstDash val="solid"/>
                      <a:round/>
                      <a:headEnd type="none" w="med" len="med"/>
                      <a:tailEnd type="none" w="med" len="med"/>
                    </a:lnT>
                    <a:lnB w="76200" cap="flat" cmpd="sng" algn="ctr">
                      <a:solidFill>
                        <a:srgbClr val="17E3B2"/>
                      </a:solidFill>
                      <a:prstDash val="solid"/>
                      <a:round/>
                      <a:headEnd type="none" w="med" len="med"/>
                      <a:tailEnd type="none" w="med" len="med"/>
                    </a:lnB>
                  </a:tcPr>
                </a:tc>
                <a:tc>
                  <a:txBody>
                    <a:bodyPr/>
                    <a:lstStyle/>
                    <a:p>
                      <a:pPr algn="ctr">
                        <a:lnSpc>
                          <a:spcPts val="3219"/>
                        </a:lnSpc>
                        <a:defRPr/>
                      </a:pPr>
                      <a:r>
                        <a:rPr lang="en-US" sz="2299" b="1">
                          <a:solidFill>
                            <a:srgbClr val="FFFFFF"/>
                          </a:solidFill>
                          <a:latin typeface="Muli Bold"/>
                          <a:ea typeface="Muli Bold"/>
                          <a:cs typeface="Muli Bold"/>
                          <a:sym typeface="Muli Bold"/>
                        </a:rPr>
                        <a:t>GPT 5.4 nano</a:t>
                      </a:r>
                      <a:endParaRPr lang="en-US" sz="1100"/>
                    </a:p>
                  </a:txBody>
                  <a:tcPr marL="190500" marR="190500" marT="190500" marB="190500" anchor="ctr">
                    <a:lnL w="76200" cap="flat" cmpd="sng" algn="ctr">
                      <a:solidFill>
                        <a:srgbClr val="17E3B2"/>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936915">
                <a:tc>
                  <a:txBody>
                    <a:bodyPr/>
                    <a:lstStyle/>
                    <a:p>
                      <a:pPr algn="ctr">
                        <a:lnSpc>
                          <a:spcPts val="3219"/>
                        </a:lnSpc>
                        <a:defRPr/>
                      </a:pPr>
                      <a:r>
                        <a:rPr lang="en-US" sz="2299" b="1">
                          <a:solidFill>
                            <a:srgbClr val="FFFFFF"/>
                          </a:solidFill>
                          <a:latin typeface="DejaVu Serif Bold"/>
                          <a:ea typeface="DejaVu Serif Bold"/>
                          <a:cs typeface="DejaVu Serif Bold"/>
                          <a:sym typeface="DejaVu Serif Bold"/>
                        </a:rPr>
                        <a:t>Reasoning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76200" cap="flat" cmpd="sng" algn="ctr">
                      <a:solidFill>
                        <a:srgbClr val="17E3B2"/>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endParaRPr lang="en-US" sz="1100"/>
                    </a:p>
                  </a:txBody>
                  <a:tcPr marL="190500" marR="190500" marT="190500" marB="190500" anchor="ctr">
                    <a:lnL w="76200" cap="flat" cmpd="sng" algn="ctr">
                      <a:solidFill>
                        <a:srgbClr val="17E3B2"/>
                      </a:solidFill>
                      <a:prstDash val="solid"/>
                      <a:round/>
                      <a:headEnd type="none" w="med" len="med"/>
                      <a:tailEnd type="none" w="med" len="med"/>
                    </a:lnL>
                    <a:lnR w="76200" cap="flat" cmpd="sng" algn="ctr">
                      <a:solidFill>
                        <a:srgbClr val="17E3B2"/>
                      </a:solidFill>
                      <a:prstDash val="solid"/>
                      <a:round/>
                      <a:headEnd type="none" w="med" len="med"/>
                      <a:tailEnd type="none" w="med" len="med"/>
                    </a:lnR>
                    <a:lnT w="76200" cap="flat" cmpd="sng" algn="ctr">
                      <a:solidFill>
                        <a:srgbClr val="17E3B2"/>
                      </a:solidFill>
                      <a:prstDash val="solid"/>
                      <a:round/>
                      <a:headEnd type="none" w="med" len="med"/>
                      <a:tailEnd type="none" w="med" len="med"/>
                    </a:lnT>
                    <a:lnB w="76200" cap="flat" cmpd="sng" algn="ctr">
                      <a:solidFill>
                        <a:srgbClr val="17E3B2"/>
                      </a:solidFill>
                      <a:prstDash val="solid"/>
                      <a:round/>
                      <a:headEnd type="none" w="med" len="med"/>
                      <a:tailEnd type="none" w="med" len="med"/>
                    </a:lnB>
                  </a:tcPr>
                </a:tc>
                <a:tc>
                  <a:txBody>
                    <a:bodyPr/>
                    <a:lstStyle/>
                    <a:p>
                      <a:pPr algn="ctr">
                        <a:lnSpc>
                          <a:spcPts val="3219"/>
                        </a:lnSpc>
                        <a:defRPr/>
                      </a:pPr>
                      <a:endParaRPr lang="en-US" sz="1100"/>
                    </a:p>
                  </a:txBody>
                  <a:tcPr marL="190500" marR="190500" marT="190500" marB="190500" anchor="ctr">
                    <a:lnL w="76200" cap="flat" cmpd="sng" algn="ctr">
                      <a:solidFill>
                        <a:srgbClr val="17E3B2"/>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936915">
                <a:tc>
                  <a:txBody>
                    <a:bodyPr/>
                    <a:lstStyle/>
                    <a:p>
                      <a:pPr algn="ctr">
                        <a:lnSpc>
                          <a:spcPts val="3219"/>
                        </a:lnSpc>
                        <a:defRPr/>
                      </a:pPr>
                      <a:r>
                        <a:rPr lang="en-US" sz="2299" b="1">
                          <a:solidFill>
                            <a:srgbClr val="FFFFFF"/>
                          </a:solidFill>
                          <a:latin typeface="DejaVu Serif Bold"/>
                          <a:ea typeface="DejaVu Serif Bold"/>
                          <a:cs typeface="DejaVu Serif Bold"/>
                          <a:sym typeface="DejaVu Serif Bold"/>
                        </a:rPr>
                        <a:t>Speed</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endParaRPr lang="en-US" sz="1100"/>
                    </a:p>
                  </a:txBody>
                  <a:tcPr marL="190500" marR="190500" marT="190500" marB="190500" anchor="ctr">
                    <a:lnL w="38100" cap="flat" cmpd="sng" algn="ctr">
                      <a:solidFill>
                        <a:srgbClr val="FFFFFF"/>
                      </a:solidFill>
                      <a:prstDash val="solid"/>
                      <a:round/>
                      <a:headEnd type="none" w="med" len="med"/>
                      <a:tailEnd type="none" w="med" len="med"/>
                    </a:lnL>
                    <a:lnR w="76200" cap="flat" cmpd="sng" algn="ctr">
                      <a:solidFill>
                        <a:srgbClr val="17E3B2"/>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endParaRPr lang="en-US" sz="1100"/>
                    </a:p>
                  </a:txBody>
                  <a:tcPr marL="190500" marR="190500" marT="190500" marB="190500" anchor="ctr">
                    <a:lnL w="76200" cap="flat" cmpd="sng" algn="ctr">
                      <a:solidFill>
                        <a:srgbClr val="17E3B2"/>
                      </a:solidFill>
                      <a:prstDash val="solid"/>
                      <a:round/>
                      <a:headEnd type="none" w="med" len="med"/>
                      <a:tailEnd type="none" w="med" len="med"/>
                    </a:lnL>
                    <a:lnR w="76200" cap="flat" cmpd="sng" algn="ctr">
                      <a:solidFill>
                        <a:srgbClr val="17E3B2"/>
                      </a:solidFill>
                      <a:prstDash val="solid"/>
                      <a:round/>
                      <a:headEnd type="none" w="med" len="med"/>
                      <a:tailEnd type="none" w="med" len="med"/>
                    </a:lnR>
                    <a:lnT w="76200" cap="flat" cmpd="sng" algn="ctr">
                      <a:solidFill>
                        <a:srgbClr val="17E3B2"/>
                      </a:solidFill>
                      <a:prstDash val="solid"/>
                      <a:round/>
                      <a:headEnd type="none" w="med" len="med"/>
                      <a:tailEnd type="none" w="med" len="med"/>
                    </a:lnT>
                    <a:lnB w="76200" cap="flat" cmpd="sng" algn="ctr">
                      <a:solidFill>
                        <a:srgbClr val="17E3B2"/>
                      </a:solidFill>
                      <a:prstDash val="solid"/>
                      <a:round/>
                      <a:headEnd type="none" w="med" len="med"/>
                      <a:tailEnd type="none" w="med" len="med"/>
                    </a:lnB>
                  </a:tcPr>
                </a:tc>
                <a:tc>
                  <a:txBody>
                    <a:bodyPr/>
                    <a:lstStyle/>
                    <a:p>
                      <a:pPr algn="ctr">
                        <a:lnSpc>
                          <a:spcPts val="3219"/>
                        </a:lnSpc>
                        <a:defRPr/>
                      </a:pPr>
                      <a:endParaRPr lang="en-US" sz="1100"/>
                    </a:p>
                  </a:txBody>
                  <a:tcPr marL="190500" marR="190500" marT="190500" marB="190500" anchor="ctr">
                    <a:lnL w="76200" cap="flat" cmpd="sng" algn="ctr">
                      <a:solidFill>
                        <a:srgbClr val="17E3B2"/>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342590">
                <a:tc>
                  <a:txBody>
                    <a:bodyPr/>
                    <a:lstStyle/>
                    <a:p>
                      <a:pPr algn="ctr">
                        <a:lnSpc>
                          <a:spcPts val="3219"/>
                        </a:lnSpc>
                        <a:defRPr/>
                      </a:pPr>
                      <a:r>
                        <a:rPr lang="en-US" sz="2299" b="1">
                          <a:solidFill>
                            <a:srgbClr val="FFFFFF"/>
                          </a:solidFill>
                          <a:latin typeface="DejaVu Serif Bold"/>
                          <a:ea typeface="DejaVu Serif Bold"/>
                          <a:cs typeface="DejaVu Serif Bold"/>
                          <a:sym typeface="DejaVu Serif Bold"/>
                        </a:rPr>
                        <a:t>Price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DejaVu Serif"/>
                          <a:ea typeface="DejaVu Serif"/>
                          <a:cs typeface="DejaVu Serif"/>
                          <a:sym typeface="DejaVu Serif"/>
                        </a:rPr>
                        <a:t>In:   $5</a:t>
                      </a:r>
                      <a:endParaRPr lang="en-US" sz="1100"/>
                    </a:p>
                    <a:p>
                      <a:pPr algn="l">
                        <a:lnSpc>
                          <a:spcPts val="3219"/>
                        </a:lnSpc>
                      </a:pPr>
                      <a:r>
                        <a:rPr lang="en-US" sz="2299">
                          <a:solidFill>
                            <a:srgbClr val="FFFFFF"/>
                          </a:solidFill>
                          <a:latin typeface="DejaVu Serif"/>
                          <a:ea typeface="DejaVu Serif"/>
                          <a:cs typeface="DejaVu Serif"/>
                          <a:sym typeface="DejaVu Serif"/>
                        </a:rPr>
                        <a:t>Out: $30</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Muli"/>
                          <a:ea typeface="Muli"/>
                          <a:cs typeface="Muli"/>
                          <a:sym typeface="Muli"/>
                        </a:rPr>
                        <a:t>In:    $2.50</a:t>
                      </a:r>
                      <a:endParaRPr lang="en-US" sz="1100"/>
                    </a:p>
                    <a:p>
                      <a:pPr algn="l">
                        <a:lnSpc>
                          <a:spcPts val="3219"/>
                        </a:lnSpc>
                      </a:pPr>
                      <a:r>
                        <a:rPr lang="en-US" sz="2299">
                          <a:solidFill>
                            <a:srgbClr val="FFFFFF"/>
                          </a:solidFill>
                          <a:latin typeface="Muli"/>
                          <a:ea typeface="Muli"/>
                          <a:cs typeface="Muli"/>
                          <a:sym typeface="Muli"/>
                        </a:rPr>
                        <a:t>Out: $15</a:t>
                      </a:r>
                    </a:p>
                  </a:txBody>
                  <a:tcPr marL="190500" marR="190500" marT="190500" marB="190500" anchor="ctr">
                    <a:lnL w="38100" cap="flat" cmpd="sng" algn="ctr">
                      <a:solidFill>
                        <a:srgbClr val="FFFFFF"/>
                      </a:solidFill>
                      <a:prstDash val="solid"/>
                      <a:round/>
                      <a:headEnd type="none" w="med" len="med"/>
                      <a:tailEnd type="none" w="med" len="med"/>
                    </a:lnL>
                    <a:lnR w="76200" cap="flat" cmpd="sng" algn="ctr">
                      <a:solidFill>
                        <a:srgbClr val="17E3B2"/>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Muli"/>
                          <a:ea typeface="Muli"/>
                          <a:cs typeface="Muli"/>
                          <a:sym typeface="Muli"/>
                        </a:rPr>
                        <a:t>In:    $0.75</a:t>
                      </a:r>
                      <a:endParaRPr lang="en-US" sz="1100"/>
                    </a:p>
                    <a:p>
                      <a:pPr algn="l">
                        <a:lnSpc>
                          <a:spcPts val="3219"/>
                        </a:lnSpc>
                      </a:pPr>
                      <a:r>
                        <a:rPr lang="en-US" sz="2299">
                          <a:solidFill>
                            <a:srgbClr val="FFFFFF"/>
                          </a:solidFill>
                          <a:latin typeface="Muli"/>
                          <a:ea typeface="Muli"/>
                          <a:cs typeface="Muli"/>
                          <a:sym typeface="Muli"/>
                        </a:rPr>
                        <a:t>Out: $4.50</a:t>
                      </a:r>
                    </a:p>
                  </a:txBody>
                  <a:tcPr marL="190500" marR="190500" marT="190500" marB="190500" anchor="ctr">
                    <a:lnL w="76200" cap="flat" cmpd="sng" algn="ctr">
                      <a:solidFill>
                        <a:srgbClr val="17E3B2"/>
                      </a:solidFill>
                      <a:prstDash val="solid"/>
                      <a:round/>
                      <a:headEnd type="none" w="med" len="med"/>
                      <a:tailEnd type="none" w="med" len="med"/>
                    </a:lnL>
                    <a:lnR w="76200" cap="flat" cmpd="sng" algn="ctr">
                      <a:solidFill>
                        <a:srgbClr val="17E3B2"/>
                      </a:solidFill>
                      <a:prstDash val="solid"/>
                      <a:round/>
                      <a:headEnd type="none" w="med" len="med"/>
                      <a:tailEnd type="none" w="med" len="med"/>
                    </a:lnR>
                    <a:lnT w="76200" cap="flat" cmpd="sng" algn="ctr">
                      <a:solidFill>
                        <a:srgbClr val="17E3B2"/>
                      </a:solidFill>
                      <a:prstDash val="solid"/>
                      <a:round/>
                      <a:headEnd type="none" w="med" len="med"/>
                      <a:tailEnd type="none" w="med" len="med"/>
                    </a:lnT>
                    <a:lnB w="76200" cap="flat" cmpd="sng" algn="ctr">
                      <a:solidFill>
                        <a:srgbClr val="17E3B2"/>
                      </a:solidFill>
                      <a:prstDash val="solid"/>
                      <a:round/>
                      <a:headEnd type="none" w="med" len="med"/>
                      <a:tailEnd type="none" w="med" len="med"/>
                    </a:lnB>
                  </a:tcPr>
                </a:tc>
                <a:tc>
                  <a:txBody>
                    <a:bodyPr/>
                    <a:lstStyle/>
                    <a:p>
                      <a:pPr algn="l">
                        <a:lnSpc>
                          <a:spcPts val="3219"/>
                        </a:lnSpc>
                        <a:defRPr/>
                      </a:pPr>
                      <a:r>
                        <a:rPr lang="en-US" sz="2299">
                          <a:solidFill>
                            <a:srgbClr val="FFFFFF"/>
                          </a:solidFill>
                          <a:latin typeface="Muli"/>
                          <a:ea typeface="Muli"/>
                          <a:cs typeface="Muli"/>
                          <a:sym typeface="Muli"/>
                        </a:rPr>
                        <a:t>In:    $0.20</a:t>
                      </a:r>
                      <a:endParaRPr lang="en-US" sz="1100"/>
                    </a:p>
                    <a:p>
                      <a:pPr algn="l">
                        <a:lnSpc>
                          <a:spcPts val="3219"/>
                        </a:lnSpc>
                      </a:pPr>
                      <a:r>
                        <a:rPr lang="en-US" sz="2299">
                          <a:solidFill>
                            <a:srgbClr val="FFFFFF"/>
                          </a:solidFill>
                          <a:latin typeface="Muli"/>
                          <a:ea typeface="Muli"/>
                          <a:cs typeface="Muli"/>
                          <a:sym typeface="Muli"/>
                        </a:rPr>
                        <a:t>Out: $1.25</a:t>
                      </a:r>
                    </a:p>
                  </a:txBody>
                  <a:tcPr marL="190500" marR="190500" marT="190500" marB="190500" anchor="ctr">
                    <a:lnL w="76200" cap="flat" cmpd="sng" algn="ctr">
                      <a:solidFill>
                        <a:srgbClr val="17E3B2"/>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342590">
                <a:tc>
                  <a:txBody>
                    <a:bodyPr/>
                    <a:lstStyle/>
                    <a:p>
                      <a:pPr algn="ctr">
                        <a:lnSpc>
                          <a:spcPts val="3219"/>
                        </a:lnSpc>
                        <a:defRPr/>
                      </a:pPr>
                      <a:r>
                        <a:rPr lang="en-US" sz="2299" b="1">
                          <a:solidFill>
                            <a:srgbClr val="FFFFFF"/>
                          </a:solidFill>
                          <a:latin typeface="DejaVu Serif Bold"/>
                          <a:ea typeface="DejaVu Serif Bold"/>
                          <a:cs typeface="DejaVu Serif Bold"/>
                          <a:sym typeface="DejaVu Serif Bold"/>
                        </a:rPr>
                        <a:t>Context Window</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DejaVu Serif"/>
                          <a:ea typeface="DejaVu Serif"/>
                          <a:cs typeface="DejaVu Serif"/>
                          <a:sym typeface="DejaVu Serif"/>
                        </a:rPr>
                        <a:t>1M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Muli"/>
                          <a:ea typeface="Muli"/>
                          <a:cs typeface="Muli"/>
                          <a:sym typeface="Muli"/>
                        </a:rPr>
                        <a:t>1M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76200" cap="flat" cmpd="sng" algn="ctr">
                      <a:solidFill>
                        <a:srgbClr val="17E3B2"/>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219"/>
                        </a:lnSpc>
                        <a:defRPr/>
                      </a:pPr>
                      <a:r>
                        <a:rPr lang="en-US" sz="2299">
                          <a:solidFill>
                            <a:srgbClr val="FFFFFF"/>
                          </a:solidFill>
                          <a:latin typeface="Muli"/>
                          <a:ea typeface="Muli"/>
                          <a:cs typeface="Muli"/>
                          <a:sym typeface="Muli"/>
                        </a:rPr>
                        <a:t>400K</a:t>
                      </a:r>
                      <a:endParaRPr lang="en-US" sz="1100"/>
                    </a:p>
                  </a:txBody>
                  <a:tcPr marL="190500" marR="190500" marT="190500" marB="190500" anchor="ctr">
                    <a:lnL w="76200" cap="flat" cmpd="sng" algn="ctr">
                      <a:solidFill>
                        <a:srgbClr val="17E3B2"/>
                      </a:solidFill>
                      <a:prstDash val="solid"/>
                      <a:round/>
                      <a:headEnd type="none" w="med" len="med"/>
                      <a:tailEnd type="none" w="med" len="med"/>
                    </a:lnL>
                    <a:lnR w="76200" cap="flat" cmpd="sng" algn="ctr">
                      <a:solidFill>
                        <a:srgbClr val="17E3B2"/>
                      </a:solidFill>
                      <a:prstDash val="solid"/>
                      <a:round/>
                      <a:headEnd type="none" w="med" len="med"/>
                      <a:tailEnd type="none" w="med" len="med"/>
                    </a:lnR>
                    <a:lnT w="76200" cap="flat" cmpd="sng" algn="ctr">
                      <a:solidFill>
                        <a:srgbClr val="17E3B2"/>
                      </a:solidFill>
                      <a:prstDash val="solid"/>
                      <a:round/>
                      <a:headEnd type="none" w="med" len="med"/>
                      <a:tailEnd type="none" w="med" len="med"/>
                    </a:lnT>
                    <a:lnB w="76200" cap="flat" cmpd="sng" algn="ctr">
                      <a:solidFill>
                        <a:srgbClr val="17E3B2"/>
                      </a:solidFill>
                      <a:prstDash val="solid"/>
                      <a:round/>
                      <a:headEnd type="none" w="med" len="med"/>
                      <a:tailEnd type="none" w="med" len="med"/>
                    </a:lnB>
                  </a:tcPr>
                </a:tc>
                <a:tc>
                  <a:txBody>
                    <a:bodyPr/>
                    <a:lstStyle/>
                    <a:p>
                      <a:pPr algn="ctr">
                        <a:lnSpc>
                          <a:spcPts val="3219"/>
                        </a:lnSpc>
                        <a:defRPr/>
                      </a:pPr>
                      <a:r>
                        <a:rPr lang="en-US" sz="2299" err="1">
                          <a:solidFill>
                            <a:srgbClr val="FFFFFF"/>
                          </a:solidFill>
                          <a:latin typeface="Muli"/>
                          <a:ea typeface="Muli"/>
                          <a:cs typeface="Muli"/>
                          <a:sym typeface="Muli"/>
                        </a:rPr>
                        <a:t>400K</a:t>
                      </a:r>
                      <a:endParaRPr lang="en-US" sz="1100"/>
                    </a:p>
                  </a:txBody>
                  <a:tcPr marL="190500" marR="190500" marT="190500" marB="190500" anchor="ctr">
                    <a:lnL w="76200" cap="flat" cmpd="sng" algn="ctr">
                      <a:solidFill>
                        <a:srgbClr val="17E3B2"/>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7" name="TextBox 27"/>
          <p:cNvSpPr txBox="1"/>
          <p:nvPr/>
        </p:nvSpPr>
        <p:spPr>
          <a:xfrm>
            <a:off x="446590" y="1296912"/>
            <a:ext cx="16264982" cy="1303019"/>
          </a:xfrm>
          <a:prstGeom prst="rect">
            <a:avLst/>
          </a:prstGeom>
        </p:spPr>
        <p:txBody>
          <a:bodyPr lIns="0" tIns="0" rIns="0" bIns="0" rtlCol="0" anchor="t">
            <a:spAutoFit/>
          </a:bodyPr>
          <a:lstStyle/>
          <a:p>
            <a:pPr marL="0" lvl="0" indent="0" algn="just">
              <a:lnSpc>
                <a:spcPts val="3450"/>
              </a:lnSpc>
              <a:spcBef>
                <a:spcPct val="0"/>
              </a:spcBef>
            </a:pPr>
            <a:r>
              <a:rPr lang="en-US" sz="2300">
                <a:solidFill>
                  <a:srgbClr val="FFFFFF"/>
                </a:solidFill>
                <a:latin typeface="DejaVu Serif"/>
                <a:ea typeface="DejaVu Serif"/>
                <a:cs typeface="DejaVu Serif"/>
                <a:sym typeface="DejaVu Serif"/>
              </a:rPr>
              <a:t>      </a:t>
            </a:r>
            <a:r>
              <a:rPr lang="en-US" sz="2300" u="none" strike="noStrike">
                <a:solidFill>
                  <a:srgbClr val="FFFFFF"/>
                </a:solidFill>
                <a:latin typeface="DejaVu Serif"/>
                <a:ea typeface="DejaVu Serif"/>
                <a:cs typeface="DejaVu Serif"/>
                <a:sym typeface="DejaVu Serif"/>
              </a:rPr>
              <a:t>Sau quá trình khảo sát 2 dịch vụ cung cấp, đề tài lựa chọn </a:t>
            </a:r>
            <a:r>
              <a:rPr lang="en-US" sz="2300" b="1" u="none" strike="noStrike">
                <a:solidFill>
                  <a:srgbClr val="17E3B2"/>
                </a:solidFill>
                <a:latin typeface="DejaVu Serif Bold"/>
                <a:ea typeface="DejaVu Serif Bold"/>
                <a:cs typeface="DejaVu Serif Bold"/>
                <a:sym typeface="DejaVu Serif Bold"/>
              </a:rPr>
              <a:t>GPT-5.4 mini</a:t>
            </a:r>
            <a:r>
              <a:rPr lang="en-US" sz="2300" u="none" strike="noStrike">
                <a:solidFill>
                  <a:srgbClr val="FFFFFF"/>
                </a:solidFill>
                <a:latin typeface="DejaVu Serif"/>
                <a:ea typeface="DejaVu Serif"/>
                <a:cs typeface="DejaVu Serif"/>
                <a:sym typeface="DejaVu Serif"/>
              </a:rPr>
              <a:t> do OpenAI cung cấp làm mô hình AI cho hệ thống chatbot. Mô hình được lựa chọn nhờ khả năng cân bằng giữa hiệu năng, tốc độ phản hồi, chi phí sử dụng và khả năng hỗ trợ các tác vụ lập trình, phù hợp với phạm vị đề tài.</a:t>
            </a:r>
          </a:p>
        </p:txBody>
      </p:sp>
      <p:sp>
        <p:nvSpPr>
          <p:cNvPr id="28" name="TextBox 28"/>
          <p:cNvSpPr txBox="1"/>
          <p:nvPr/>
        </p:nvSpPr>
        <p:spPr>
          <a:xfrm>
            <a:off x="4895674" y="3122485"/>
            <a:ext cx="8972726" cy="359073"/>
          </a:xfrm>
          <a:prstGeom prst="rect">
            <a:avLst/>
          </a:prstGeom>
        </p:spPr>
        <p:txBody>
          <a:bodyPr wrap="square" lIns="0" tIns="0" rIns="0" bIns="0" rtlCol="0" anchor="t">
            <a:spAutoFit/>
          </a:bodyPr>
          <a:lstStyle/>
          <a:p>
            <a:pPr algn="ctr">
              <a:lnSpc>
                <a:spcPts val="2760"/>
              </a:lnSpc>
              <a:spcBef>
                <a:spcPct val="0"/>
              </a:spcBef>
            </a:pPr>
            <a:r>
              <a:rPr lang="en-US" sz="2300" spc="69">
                <a:solidFill>
                  <a:srgbClr val="FFFFFF"/>
                </a:solidFill>
                <a:latin typeface="Muli"/>
                <a:ea typeface="Muli"/>
                <a:cs typeface="Muli"/>
                <a:sym typeface="Muli"/>
              </a:rPr>
              <a:t>So </a:t>
            </a:r>
            <a:r>
              <a:rPr lang="en-US" sz="2300" spc="69" err="1">
                <a:solidFill>
                  <a:srgbClr val="FFFFFF"/>
                </a:solidFill>
                <a:latin typeface="Muli"/>
                <a:ea typeface="Muli"/>
                <a:cs typeface="Muli"/>
                <a:sym typeface="Muli"/>
              </a:rPr>
              <a:t>sánh</a:t>
            </a:r>
            <a:r>
              <a:rPr lang="en-US" sz="2300" spc="69">
                <a:solidFill>
                  <a:srgbClr val="FFFFFF"/>
                </a:solidFill>
                <a:latin typeface="Muli"/>
                <a:ea typeface="Muli"/>
                <a:cs typeface="Muli"/>
                <a:sym typeface="Muli"/>
              </a:rPr>
              <a:t> </a:t>
            </a:r>
            <a:r>
              <a:rPr lang="en-US" sz="2300" spc="69" err="1">
                <a:solidFill>
                  <a:srgbClr val="FFFFFF"/>
                </a:solidFill>
                <a:latin typeface="Muli"/>
                <a:ea typeface="Muli"/>
                <a:cs typeface="Muli"/>
                <a:sym typeface="Muli"/>
              </a:rPr>
              <a:t>mô</a:t>
            </a:r>
            <a:r>
              <a:rPr lang="en-US" sz="2300" spc="69">
                <a:solidFill>
                  <a:srgbClr val="FFFFFF"/>
                </a:solidFill>
                <a:latin typeface="Muli"/>
                <a:ea typeface="Muli"/>
                <a:cs typeface="Muli"/>
                <a:sym typeface="Muli"/>
              </a:rPr>
              <a:t> </a:t>
            </a:r>
            <a:r>
              <a:rPr lang="en-US" sz="2300" spc="69" err="1">
                <a:solidFill>
                  <a:srgbClr val="FFFFFF"/>
                </a:solidFill>
                <a:latin typeface="Muli"/>
                <a:ea typeface="Muli"/>
                <a:cs typeface="Muli"/>
                <a:sym typeface="Muli"/>
              </a:rPr>
              <a:t>hình</a:t>
            </a:r>
            <a:r>
              <a:rPr lang="en-US" sz="2300" b="1" spc="69">
                <a:solidFill>
                  <a:srgbClr val="FFFFFF"/>
                </a:solidFill>
                <a:latin typeface="Muli Bold"/>
                <a:ea typeface="Muli Bold"/>
                <a:cs typeface="Muli Bold"/>
                <a:sym typeface="Muli Bold"/>
              </a:rPr>
              <a:t> </a:t>
            </a:r>
            <a:r>
              <a:rPr lang="en-US" sz="2300" b="1" spc="69" err="1">
                <a:solidFill>
                  <a:srgbClr val="17E3B2"/>
                </a:solidFill>
                <a:latin typeface="Muli Bold"/>
                <a:ea typeface="Muli Bold"/>
                <a:cs typeface="Muli Bold"/>
                <a:sym typeface="Muli Bold"/>
              </a:rPr>
              <a:t>GPT</a:t>
            </a:r>
            <a:r>
              <a:rPr lang="en-US" sz="2300" b="1" spc="69">
                <a:solidFill>
                  <a:srgbClr val="17E3B2"/>
                </a:solidFill>
                <a:latin typeface="Muli Bold"/>
                <a:ea typeface="Muli Bold"/>
                <a:cs typeface="Muli Bold"/>
                <a:sym typeface="Muli Bold"/>
              </a:rPr>
              <a:t>-5.4 mini</a:t>
            </a:r>
            <a:r>
              <a:rPr lang="en-US" sz="2300" b="1" spc="69">
                <a:solidFill>
                  <a:srgbClr val="FFFFFF"/>
                </a:solidFill>
                <a:latin typeface="Muli Bold"/>
                <a:ea typeface="Muli Bold"/>
                <a:cs typeface="Muli Bold"/>
                <a:sym typeface="Muli Bold"/>
              </a:rPr>
              <a:t> </a:t>
            </a:r>
            <a:r>
              <a:rPr lang="en-US" sz="2300" spc="69" err="1">
                <a:solidFill>
                  <a:srgbClr val="FFFFFF"/>
                </a:solidFill>
                <a:latin typeface="Muli"/>
                <a:ea typeface="Muli"/>
                <a:cs typeface="Muli"/>
                <a:sym typeface="Muli"/>
              </a:rPr>
              <a:t>với</a:t>
            </a:r>
            <a:r>
              <a:rPr lang="en-US" sz="2300" spc="69">
                <a:solidFill>
                  <a:srgbClr val="FFFFFF"/>
                </a:solidFill>
                <a:latin typeface="Muli"/>
                <a:ea typeface="Muli"/>
                <a:cs typeface="Muli"/>
                <a:sym typeface="Muli"/>
              </a:rPr>
              <a:t> </a:t>
            </a:r>
            <a:r>
              <a:rPr lang="en-US" sz="2300" spc="69" err="1">
                <a:solidFill>
                  <a:srgbClr val="FFFFFF"/>
                </a:solidFill>
                <a:latin typeface="Muli"/>
                <a:ea typeface="Muli"/>
                <a:cs typeface="Muli"/>
                <a:sym typeface="Muli"/>
              </a:rPr>
              <a:t>các</a:t>
            </a:r>
            <a:r>
              <a:rPr lang="en-US" sz="2300" spc="69">
                <a:solidFill>
                  <a:srgbClr val="FFFFFF"/>
                </a:solidFill>
                <a:latin typeface="Muli"/>
                <a:ea typeface="Muli"/>
                <a:cs typeface="Muli"/>
                <a:sym typeface="Muli"/>
              </a:rPr>
              <a:t> </a:t>
            </a:r>
            <a:r>
              <a:rPr lang="en-US" sz="2300" spc="69" err="1">
                <a:solidFill>
                  <a:srgbClr val="FFFFFF"/>
                </a:solidFill>
                <a:latin typeface="Muli"/>
                <a:ea typeface="Muli"/>
                <a:cs typeface="Muli"/>
                <a:sym typeface="Muli"/>
              </a:rPr>
              <a:t>mô</a:t>
            </a:r>
            <a:r>
              <a:rPr lang="en-US" sz="2300" spc="69">
                <a:solidFill>
                  <a:srgbClr val="FFFFFF"/>
                </a:solidFill>
                <a:latin typeface="Muli"/>
                <a:ea typeface="Muli"/>
                <a:cs typeface="Muli"/>
                <a:sym typeface="Muli"/>
              </a:rPr>
              <a:t> </a:t>
            </a:r>
            <a:r>
              <a:rPr lang="en-US" sz="2300" spc="69" err="1">
                <a:solidFill>
                  <a:srgbClr val="FFFFFF"/>
                </a:solidFill>
                <a:latin typeface="Muli"/>
                <a:ea typeface="Muli"/>
                <a:cs typeface="Muli"/>
                <a:sym typeface="Muli"/>
              </a:rPr>
              <a:t>hình</a:t>
            </a:r>
            <a:r>
              <a:rPr lang="en-US" sz="2300" spc="69">
                <a:solidFill>
                  <a:srgbClr val="FFFFFF"/>
                </a:solidFill>
                <a:latin typeface="Muli"/>
                <a:ea typeface="Muli"/>
                <a:cs typeface="Muli"/>
                <a:sym typeface="Muli"/>
              </a:rPr>
              <a:t> </a:t>
            </a:r>
            <a:r>
              <a:rPr lang="en-US" sz="2300" spc="69" err="1">
                <a:solidFill>
                  <a:srgbClr val="FFFFFF"/>
                </a:solidFill>
                <a:latin typeface="Muli"/>
                <a:ea typeface="Muli"/>
                <a:cs typeface="Muli"/>
                <a:sym typeface="Muli"/>
              </a:rPr>
              <a:t>GPT</a:t>
            </a:r>
            <a:r>
              <a:rPr lang="en-US" sz="2300" spc="69">
                <a:solidFill>
                  <a:srgbClr val="FFFFFF"/>
                </a:solidFill>
                <a:latin typeface="Muli"/>
                <a:ea typeface="Muli"/>
                <a:cs typeface="Muli"/>
                <a:sym typeface="Muli"/>
              </a:rPr>
              <a:t> </a:t>
            </a:r>
            <a:r>
              <a:rPr lang="en-US" sz="2300" spc="69" err="1">
                <a:solidFill>
                  <a:srgbClr val="FFFFFF"/>
                </a:solidFill>
                <a:latin typeface="Muli"/>
                <a:ea typeface="Muli"/>
                <a:cs typeface="Muli"/>
                <a:sym typeface="Muli"/>
              </a:rPr>
              <a:t>khác</a:t>
            </a:r>
            <a:r>
              <a:rPr lang="en-US" sz="2300" spc="69">
                <a:solidFill>
                  <a:srgbClr val="FFFFFF"/>
                </a:solidFill>
                <a:latin typeface="Muli"/>
                <a:ea typeface="Muli"/>
                <a:cs typeface="Muli"/>
                <a:sym typeface="Muli"/>
              </a:rPr>
              <a:t>:</a:t>
            </a:r>
          </a:p>
        </p:txBody>
      </p:sp>
      <p:sp>
        <p:nvSpPr>
          <p:cNvPr id="29" name="TextBox 29"/>
          <p:cNvSpPr txBox="1"/>
          <p:nvPr/>
        </p:nvSpPr>
        <p:spPr>
          <a:xfrm>
            <a:off x="446590" y="409521"/>
            <a:ext cx="10461369" cy="619179"/>
          </a:xfrm>
          <a:prstGeom prst="rect">
            <a:avLst/>
          </a:prstGeom>
        </p:spPr>
        <p:txBody>
          <a:bodyPr lIns="0" tIns="0" rIns="0" bIns="0" rtlCol="0" anchor="t">
            <a:spAutoFit/>
          </a:bodyPr>
          <a:lstStyle/>
          <a:p>
            <a:pPr marL="0" lvl="0" indent="0" algn="l">
              <a:lnSpc>
                <a:spcPts val="4800"/>
              </a:lnSpc>
              <a:spcBef>
                <a:spcPct val="0"/>
              </a:spcBef>
            </a:pPr>
            <a:r>
              <a:rPr lang="en-US" sz="4000" b="1" u="none" strike="noStrike">
                <a:solidFill>
                  <a:srgbClr val="FF9A00"/>
                </a:solidFill>
                <a:latin typeface="Muli Bold"/>
                <a:ea typeface="Muli Bold"/>
                <a:cs typeface="Muli Bold"/>
                <a:sym typeface="Muli Bold"/>
              </a:rPr>
              <a:t>KHẢO SÁT LỰA VÀ CHỌN MÔ HÌNH AI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3432573" y="5938190"/>
            <a:ext cx="7480405" cy="7480405"/>
          </a:xfrm>
          <a:custGeom>
            <a:avLst/>
            <a:gdLst/>
            <a:ahLst/>
            <a:cxnLst/>
            <a:rect l="l" t="t" r="r" b="b"/>
            <a:pathLst>
              <a:path w="7480405" h="7480405">
                <a:moveTo>
                  <a:pt x="0" y="0"/>
                </a:moveTo>
                <a:lnTo>
                  <a:pt x="7480404" y="0"/>
                </a:lnTo>
                <a:lnTo>
                  <a:pt x="7480404" y="7480404"/>
                </a:lnTo>
                <a:lnTo>
                  <a:pt x="0" y="748040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11130677" y="1028700"/>
            <a:ext cx="6559274" cy="5132875"/>
          </a:xfrm>
          <a:custGeom>
            <a:avLst/>
            <a:gdLst/>
            <a:ahLst/>
            <a:cxnLst/>
            <a:rect l="l" t="t" r="r" b="b"/>
            <a:pathLst>
              <a:path w="6559274" h="5132875">
                <a:moveTo>
                  <a:pt x="0" y="0"/>
                </a:moveTo>
                <a:lnTo>
                  <a:pt x="6559274" y="0"/>
                </a:lnTo>
                <a:lnTo>
                  <a:pt x="6559274" y="5132875"/>
                </a:lnTo>
                <a:lnTo>
                  <a:pt x="0" y="5132875"/>
                </a:lnTo>
                <a:lnTo>
                  <a:pt x="0" y="0"/>
                </a:lnTo>
                <a:close/>
              </a:path>
            </a:pathLst>
          </a:custGeom>
          <a:blipFill>
            <a:blip r:embed="rId5"/>
            <a:stretch>
              <a:fillRect/>
            </a:stretch>
          </a:blipFill>
        </p:spPr>
      </p:sp>
      <p:sp>
        <p:nvSpPr>
          <p:cNvPr id="6" name="Freeform 6"/>
          <p:cNvSpPr/>
          <p:nvPr/>
        </p:nvSpPr>
        <p:spPr>
          <a:xfrm>
            <a:off x="10877691" y="6859150"/>
            <a:ext cx="7065247" cy="2991381"/>
          </a:xfrm>
          <a:custGeom>
            <a:avLst/>
            <a:gdLst/>
            <a:ahLst/>
            <a:cxnLst/>
            <a:rect l="l" t="t" r="r" b="b"/>
            <a:pathLst>
              <a:path w="7065247" h="2991381">
                <a:moveTo>
                  <a:pt x="0" y="0"/>
                </a:moveTo>
                <a:lnTo>
                  <a:pt x="7065247" y="0"/>
                </a:lnTo>
                <a:lnTo>
                  <a:pt x="7065247" y="2991381"/>
                </a:lnTo>
                <a:lnTo>
                  <a:pt x="0" y="2991381"/>
                </a:lnTo>
                <a:lnTo>
                  <a:pt x="0" y="0"/>
                </a:lnTo>
                <a:close/>
              </a:path>
            </a:pathLst>
          </a:custGeom>
          <a:blipFill>
            <a:blip r:embed="rId6"/>
            <a:stretch>
              <a:fillRect/>
            </a:stretch>
          </a:blipFill>
        </p:spPr>
      </p:sp>
      <p:sp>
        <p:nvSpPr>
          <p:cNvPr id="7" name="Freeform 7"/>
          <p:cNvSpPr/>
          <p:nvPr/>
        </p:nvSpPr>
        <p:spPr>
          <a:xfrm>
            <a:off x="1552610" y="5000252"/>
            <a:ext cx="7549025" cy="4850280"/>
          </a:xfrm>
          <a:custGeom>
            <a:avLst/>
            <a:gdLst/>
            <a:ahLst/>
            <a:cxnLst/>
            <a:rect l="l" t="t" r="r" b="b"/>
            <a:pathLst>
              <a:path w="7549025" h="4850280">
                <a:moveTo>
                  <a:pt x="0" y="0"/>
                </a:moveTo>
                <a:lnTo>
                  <a:pt x="7549025" y="0"/>
                </a:lnTo>
                <a:lnTo>
                  <a:pt x="7549025" y="4850279"/>
                </a:lnTo>
                <a:lnTo>
                  <a:pt x="0" y="4850279"/>
                </a:lnTo>
                <a:lnTo>
                  <a:pt x="0" y="0"/>
                </a:lnTo>
                <a:close/>
              </a:path>
            </a:pathLst>
          </a:custGeom>
          <a:blipFill>
            <a:blip r:embed="rId7"/>
            <a:stretch>
              <a:fillRect/>
            </a:stretch>
          </a:blipFill>
        </p:spPr>
      </p:sp>
      <p:sp>
        <p:nvSpPr>
          <p:cNvPr id="8" name="TextBox 8"/>
          <p:cNvSpPr txBox="1"/>
          <p:nvPr/>
        </p:nvSpPr>
        <p:spPr>
          <a:xfrm>
            <a:off x="446590" y="409521"/>
            <a:ext cx="9761066" cy="619179"/>
          </a:xfrm>
          <a:prstGeom prst="rect">
            <a:avLst/>
          </a:prstGeom>
        </p:spPr>
        <p:txBody>
          <a:bodyPr lIns="0" tIns="0" rIns="0" bIns="0" rtlCol="0" anchor="t">
            <a:spAutoFit/>
          </a:bodyPr>
          <a:lstStyle/>
          <a:p>
            <a:pPr marL="0" lvl="0" indent="0" algn="l">
              <a:lnSpc>
                <a:spcPts val="4800"/>
              </a:lnSpc>
              <a:spcBef>
                <a:spcPct val="0"/>
              </a:spcBef>
            </a:pPr>
            <a:r>
              <a:rPr lang="en-US" sz="4000" b="1">
                <a:solidFill>
                  <a:srgbClr val="FF9A00"/>
                </a:solidFill>
                <a:latin typeface="Muli Bold"/>
                <a:ea typeface="Muli Bold"/>
                <a:cs typeface="Muli Bold"/>
                <a:sym typeface="Muli Bold"/>
              </a:rPr>
              <a:t>CẤU HÌNH MOODLE</a:t>
            </a:r>
          </a:p>
        </p:txBody>
      </p:sp>
      <p:sp>
        <p:nvSpPr>
          <p:cNvPr id="9" name="TextBox 9"/>
          <p:cNvSpPr txBox="1"/>
          <p:nvPr/>
        </p:nvSpPr>
        <p:spPr>
          <a:xfrm>
            <a:off x="514350" y="1215127"/>
            <a:ext cx="9922806" cy="3055240"/>
          </a:xfrm>
          <a:prstGeom prst="rect">
            <a:avLst/>
          </a:prstGeom>
        </p:spPr>
        <p:txBody>
          <a:bodyPr lIns="0" tIns="0" rIns="0" bIns="0" rtlCol="0" anchor="t">
            <a:spAutoFit/>
          </a:bodyPr>
          <a:lstStyle/>
          <a:p>
            <a:pPr marL="0" lvl="0" indent="0" algn="just">
              <a:lnSpc>
                <a:spcPts val="3450"/>
              </a:lnSpc>
              <a:spcBef>
                <a:spcPct val="0"/>
              </a:spcBef>
            </a:pPr>
            <a:r>
              <a:rPr lang="en-US" sz="2300">
                <a:solidFill>
                  <a:srgbClr val="FFFFFF"/>
                </a:solidFill>
                <a:latin typeface="DejaVu Serif"/>
                <a:ea typeface="DejaVu Serif"/>
                <a:cs typeface="DejaVu Serif"/>
                <a:sym typeface="DejaVu Serif"/>
              </a:rPr>
              <a:t>     T</a:t>
            </a:r>
            <a:r>
              <a:rPr lang="en-US" sz="2300" u="none" strike="noStrike">
                <a:solidFill>
                  <a:srgbClr val="FFFFFF"/>
                </a:solidFill>
                <a:latin typeface="DejaVu Serif"/>
                <a:ea typeface="DejaVu Serif"/>
                <a:cs typeface="DejaVu Serif"/>
                <a:sym typeface="DejaVu Serif"/>
              </a:rPr>
              <a:t>hực hiện cấu hình dịch vụ ngoài (External Service) trong Moodle, thêm người dùng thử nghiệm để xác thực cho dịch vụ ngoài, thêm các hàm API cần thiết và tạo token xác thực. </a:t>
            </a:r>
          </a:p>
          <a:p>
            <a:pPr marL="0" lvl="0" indent="0" algn="just">
              <a:lnSpc>
                <a:spcPts val="3450"/>
              </a:lnSpc>
              <a:spcBef>
                <a:spcPct val="0"/>
              </a:spcBef>
            </a:pPr>
            <a:r>
              <a:rPr lang="en-US" sz="2300" u="none" strike="noStrike">
                <a:solidFill>
                  <a:srgbClr val="FFFFFF"/>
                </a:solidFill>
                <a:latin typeface="DejaVu Serif"/>
                <a:ea typeface="DejaVu Serif"/>
                <a:cs typeface="DejaVu Serif"/>
                <a:sym typeface="DejaVu Serif"/>
              </a:rPr>
              <a:t>      Thông qua Moodle Web Service API, backend có thể truy xuất dữ liệu khóa học, bài tập, bài nộp và thông tin người dùng, tạo nền tảng cho các chức năng gợi ý học tập, phân tích bài làm và hỗ trợ hội thoại theo ngữ cảnh.</a:t>
            </a:r>
          </a:p>
        </p:txBody>
      </p:sp>
      <p:sp>
        <p:nvSpPr>
          <p:cNvPr id="10" name="TextBox 10"/>
          <p:cNvSpPr txBox="1"/>
          <p:nvPr/>
        </p:nvSpPr>
        <p:spPr>
          <a:xfrm>
            <a:off x="11837977" y="649660"/>
            <a:ext cx="5144674" cy="340940"/>
          </a:xfrm>
          <a:prstGeom prst="rect">
            <a:avLst/>
          </a:prstGeom>
        </p:spPr>
        <p:txBody>
          <a:bodyPr lIns="0" tIns="0" rIns="0" bIns="0" rtlCol="0" anchor="t">
            <a:spAutoFit/>
          </a:bodyPr>
          <a:lstStyle/>
          <a:p>
            <a:pPr marL="0" lvl="0" indent="0" algn="ctr">
              <a:lnSpc>
                <a:spcPts val="2700"/>
              </a:lnSpc>
              <a:spcBef>
                <a:spcPct val="0"/>
              </a:spcBef>
            </a:pPr>
            <a:r>
              <a:rPr lang="en-US" sz="1800" u="none" strike="noStrike">
                <a:solidFill>
                  <a:srgbClr val="FFFFFF"/>
                </a:solidFill>
                <a:latin typeface="DejaVu Serif"/>
                <a:ea typeface="DejaVu Serif"/>
                <a:cs typeface="DejaVu Serif"/>
                <a:sym typeface="DejaVu Serif"/>
              </a:rPr>
              <a:t>Tạo dịch vụ ngoài cho Moodle</a:t>
            </a:r>
          </a:p>
        </p:txBody>
      </p:sp>
      <p:sp>
        <p:nvSpPr>
          <p:cNvPr id="11" name="TextBox 11"/>
          <p:cNvSpPr txBox="1"/>
          <p:nvPr/>
        </p:nvSpPr>
        <p:spPr>
          <a:xfrm>
            <a:off x="10891092" y="6480110"/>
            <a:ext cx="7051846" cy="340940"/>
          </a:xfrm>
          <a:prstGeom prst="rect">
            <a:avLst/>
          </a:prstGeom>
        </p:spPr>
        <p:txBody>
          <a:bodyPr lIns="0" tIns="0" rIns="0" bIns="0" rtlCol="0" anchor="t">
            <a:spAutoFit/>
          </a:bodyPr>
          <a:lstStyle/>
          <a:p>
            <a:pPr marL="0" lvl="0" indent="0" algn="ctr">
              <a:lnSpc>
                <a:spcPts val="2700"/>
              </a:lnSpc>
              <a:spcBef>
                <a:spcPct val="0"/>
              </a:spcBef>
            </a:pPr>
            <a:r>
              <a:rPr lang="en-US" sz="1800">
                <a:solidFill>
                  <a:srgbClr val="FFFFFF"/>
                </a:solidFill>
                <a:latin typeface="DejaVu Serif"/>
                <a:ea typeface="DejaVu Serif"/>
                <a:cs typeface="DejaVu Serif"/>
                <a:sym typeface="DejaVu Serif"/>
              </a:rPr>
              <a:t>Xác thực người dùng thử nghiệm cho dịch vụ </a:t>
            </a:r>
          </a:p>
        </p:txBody>
      </p:sp>
      <p:sp>
        <p:nvSpPr>
          <p:cNvPr id="12" name="TextBox 12"/>
          <p:cNvSpPr txBox="1"/>
          <p:nvPr/>
        </p:nvSpPr>
        <p:spPr>
          <a:xfrm>
            <a:off x="1801200" y="4565297"/>
            <a:ext cx="7051846" cy="340940"/>
          </a:xfrm>
          <a:prstGeom prst="rect">
            <a:avLst/>
          </a:prstGeom>
        </p:spPr>
        <p:txBody>
          <a:bodyPr lIns="0" tIns="0" rIns="0" bIns="0" rtlCol="0" anchor="t">
            <a:spAutoFit/>
          </a:bodyPr>
          <a:lstStyle/>
          <a:p>
            <a:pPr marL="0" lvl="0" indent="0" algn="ctr">
              <a:lnSpc>
                <a:spcPts val="2700"/>
              </a:lnSpc>
              <a:spcBef>
                <a:spcPct val="0"/>
              </a:spcBef>
            </a:pPr>
            <a:r>
              <a:rPr lang="en-US" sz="1800">
                <a:solidFill>
                  <a:srgbClr val="FFFFFF"/>
                </a:solidFill>
                <a:latin typeface="DejaVu Serif"/>
                <a:ea typeface="DejaVu Serif"/>
                <a:cs typeface="DejaVu Serif"/>
                <a:sym typeface="DejaVu Serif"/>
              </a:rPr>
              <a:t>Thêm các hàm cần thiết cho dịch vụ</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3293613" y="9970789"/>
            <a:ext cx="3815200" cy="3815200"/>
          </a:xfrm>
          <a:custGeom>
            <a:avLst/>
            <a:gdLst/>
            <a:ahLst/>
            <a:cxnLst/>
            <a:rect l="l" t="t" r="r" b="b"/>
            <a:pathLst>
              <a:path w="3815200" h="3815200">
                <a:moveTo>
                  <a:pt x="0" y="0"/>
                </a:moveTo>
                <a:lnTo>
                  <a:pt x="3815200" y="0"/>
                </a:lnTo>
                <a:lnTo>
                  <a:pt x="3815200" y="3815201"/>
                </a:lnTo>
                <a:lnTo>
                  <a:pt x="0" y="3815201"/>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8612553" y="2448411"/>
            <a:ext cx="9365619" cy="6809889"/>
          </a:xfrm>
          <a:custGeom>
            <a:avLst/>
            <a:gdLst/>
            <a:ahLst/>
            <a:cxnLst/>
            <a:rect l="l" t="t" r="r" b="b"/>
            <a:pathLst>
              <a:path w="9365619" h="6809889">
                <a:moveTo>
                  <a:pt x="0" y="0"/>
                </a:moveTo>
                <a:lnTo>
                  <a:pt x="9365619" y="0"/>
                </a:lnTo>
                <a:lnTo>
                  <a:pt x="9365619" y="6809889"/>
                </a:lnTo>
                <a:lnTo>
                  <a:pt x="0" y="6809889"/>
                </a:lnTo>
                <a:lnTo>
                  <a:pt x="0" y="0"/>
                </a:lnTo>
                <a:close/>
              </a:path>
            </a:pathLst>
          </a:custGeom>
          <a:blipFill>
            <a:blip r:embed="rId5"/>
            <a:stretch>
              <a:fillRect/>
            </a:stretch>
          </a:blipFill>
        </p:spPr>
      </p:sp>
      <p:sp>
        <p:nvSpPr>
          <p:cNvPr id="6" name="TextBox 6"/>
          <p:cNvSpPr txBox="1"/>
          <p:nvPr/>
        </p:nvSpPr>
        <p:spPr>
          <a:xfrm>
            <a:off x="446590" y="409521"/>
            <a:ext cx="9761066" cy="619179"/>
          </a:xfrm>
          <a:prstGeom prst="rect">
            <a:avLst/>
          </a:prstGeom>
        </p:spPr>
        <p:txBody>
          <a:bodyPr lIns="0" tIns="0" rIns="0" bIns="0" rtlCol="0" anchor="t">
            <a:spAutoFit/>
          </a:bodyPr>
          <a:lstStyle/>
          <a:p>
            <a:pPr marL="0" lvl="0" indent="0" algn="l">
              <a:lnSpc>
                <a:spcPts val="4800"/>
              </a:lnSpc>
              <a:spcBef>
                <a:spcPct val="0"/>
              </a:spcBef>
            </a:pPr>
            <a:r>
              <a:rPr lang="en-US" sz="4000" b="1">
                <a:solidFill>
                  <a:srgbClr val="FF9A00"/>
                </a:solidFill>
                <a:latin typeface="Muli Bold"/>
                <a:ea typeface="Muli Bold"/>
                <a:cs typeface="Muli Bold"/>
                <a:sym typeface="Muli Bold"/>
              </a:rPr>
              <a:t>KIẾN TRÚC TỔNG THỂ HỆ THỐNG</a:t>
            </a:r>
          </a:p>
        </p:txBody>
      </p:sp>
      <p:sp>
        <p:nvSpPr>
          <p:cNvPr id="7" name="TextBox 7"/>
          <p:cNvSpPr txBox="1"/>
          <p:nvPr/>
        </p:nvSpPr>
        <p:spPr>
          <a:xfrm>
            <a:off x="809731" y="1122230"/>
            <a:ext cx="16038717" cy="897682"/>
          </a:xfrm>
          <a:prstGeom prst="rect">
            <a:avLst/>
          </a:prstGeom>
        </p:spPr>
        <p:txBody>
          <a:bodyPr lIns="0" tIns="0" rIns="0" bIns="0" rtlCol="0" anchor="t">
            <a:spAutoFit/>
          </a:bodyPr>
          <a:lstStyle/>
          <a:p>
            <a:pPr marL="0" lvl="0" indent="0" algn="just">
              <a:lnSpc>
                <a:spcPts val="3450"/>
              </a:lnSpc>
              <a:spcBef>
                <a:spcPct val="0"/>
              </a:spcBef>
            </a:pPr>
            <a:r>
              <a:rPr lang="en-US" sz="2300" u="none" strike="noStrike">
                <a:solidFill>
                  <a:srgbClr val="FFFFFF"/>
                </a:solidFill>
                <a:latin typeface="DejaVu Serif"/>
                <a:ea typeface="DejaVu Serif"/>
                <a:cs typeface="DejaVu Serif"/>
                <a:sym typeface="DejaVu Serif"/>
              </a:rPr>
              <a:t>Hệ thống được xây dựng gồm các thành phần chính là: Frontend, Backend, Moodle, Database và </a:t>
            </a:r>
            <a:r>
              <a:rPr lang="en-US" sz="2300" u="none" strike="noStrike" smtClean="0">
                <a:solidFill>
                  <a:srgbClr val="FFFFFF"/>
                </a:solidFill>
                <a:latin typeface="DejaVu Serif"/>
                <a:ea typeface="DejaVu Serif"/>
                <a:cs typeface="DejaVu Serif"/>
                <a:sym typeface="DejaVu Serif"/>
              </a:rPr>
              <a:t>Spring AI để gọi </a:t>
            </a:r>
            <a:r>
              <a:rPr lang="en-US" sz="2300" u="none" strike="noStrike">
                <a:solidFill>
                  <a:srgbClr val="FFFFFF"/>
                </a:solidFill>
                <a:latin typeface="DejaVu Serif"/>
                <a:ea typeface="DejaVu Serif"/>
                <a:cs typeface="DejaVu Serif"/>
                <a:sym typeface="DejaVu Serif"/>
              </a:rPr>
              <a:t>đến mô hình ngôn ngữ lớn GPT-5.4 mini để sinh phản hồi</a:t>
            </a:r>
          </a:p>
        </p:txBody>
      </p:sp>
      <p:sp>
        <p:nvSpPr>
          <p:cNvPr id="8" name="TextBox 8"/>
          <p:cNvSpPr txBox="1"/>
          <p:nvPr/>
        </p:nvSpPr>
        <p:spPr>
          <a:xfrm>
            <a:off x="3713903" y="2381736"/>
            <a:ext cx="4540428" cy="1026631"/>
          </a:xfrm>
          <a:prstGeom prst="rect">
            <a:avLst/>
          </a:prstGeom>
        </p:spPr>
        <p:txBody>
          <a:bodyPr lIns="0" tIns="0" rIns="0" bIns="0" rtlCol="0" anchor="t">
            <a:spAutoFit/>
          </a:bodyPr>
          <a:lstStyle/>
          <a:p>
            <a:pPr marL="0" lvl="0" indent="0" algn="just">
              <a:lnSpc>
                <a:spcPts val="2700"/>
              </a:lnSpc>
              <a:spcBef>
                <a:spcPct val="0"/>
              </a:spcBef>
            </a:pPr>
            <a:r>
              <a:rPr lang="en-US" sz="1800" u="none" strike="noStrike">
                <a:solidFill>
                  <a:srgbClr val="FFFFFF"/>
                </a:solidFill>
                <a:latin typeface="DejaVu Serif"/>
                <a:ea typeface="DejaVu Serif"/>
                <a:cs typeface="DejaVu Serif"/>
                <a:sym typeface="DejaVu Serif"/>
              </a:rPr>
              <a:t>Cung cấp giao diện chatbot, tiếp nhận yêu cầu từ người dùng và giao tiếp với backend thông qua REST API.</a:t>
            </a:r>
          </a:p>
        </p:txBody>
      </p:sp>
      <p:sp>
        <p:nvSpPr>
          <p:cNvPr id="9" name="TextBox 9"/>
          <p:cNvSpPr txBox="1"/>
          <p:nvPr/>
        </p:nvSpPr>
        <p:spPr>
          <a:xfrm>
            <a:off x="3713903" y="3797145"/>
            <a:ext cx="4540428" cy="1038746"/>
          </a:xfrm>
          <a:prstGeom prst="rect">
            <a:avLst/>
          </a:prstGeom>
        </p:spPr>
        <p:txBody>
          <a:bodyPr lIns="0" tIns="0" rIns="0" bIns="0" rtlCol="0" anchor="t">
            <a:spAutoFit/>
          </a:bodyPr>
          <a:lstStyle/>
          <a:p>
            <a:pPr marL="0" lvl="0" indent="0" algn="just">
              <a:lnSpc>
                <a:spcPts val="2700"/>
              </a:lnSpc>
              <a:spcBef>
                <a:spcPct val="0"/>
              </a:spcBef>
            </a:pPr>
            <a:r>
              <a:rPr lang="en-US" sz="1800">
                <a:solidFill>
                  <a:srgbClr val="FFFFFF"/>
                </a:solidFill>
                <a:latin typeface="DejaVu Serif"/>
                <a:ea typeface="DejaVu Serif"/>
                <a:cs typeface="DejaVu Serif"/>
                <a:sym typeface="DejaVu Serif"/>
              </a:rPr>
              <a:t>Đ</a:t>
            </a:r>
            <a:r>
              <a:rPr lang="en-US" sz="1800" u="none" strike="noStrike">
                <a:solidFill>
                  <a:srgbClr val="FFFFFF"/>
                </a:solidFill>
                <a:latin typeface="DejaVu Serif"/>
                <a:ea typeface="DejaVu Serif"/>
                <a:cs typeface="DejaVu Serif"/>
                <a:sym typeface="DejaVu Serif"/>
              </a:rPr>
              <a:t>óng vai trò trung tâm, xử lý nghiệp vụ, xây dựng prompt, </a:t>
            </a:r>
            <a:r>
              <a:rPr lang="en-US" smtClean="0">
                <a:solidFill>
                  <a:srgbClr val="FFFFFF"/>
                </a:solidFill>
                <a:latin typeface="DejaVu Serif"/>
                <a:ea typeface="DejaVu Serif"/>
                <a:cs typeface="DejaVu Serif"/>
                <a:sym typeface="DejaVu Serif"/>
              </a:rPr>
              <a:t>làm trung gian giữa hệ thống với mô hình AI</a:t>
            </a:r>
            <a:r>
              <a:rPr lang="en-US" sz="1800" u="none" strike="noStrike" smtClean="0">
                <a:solidFill>
                  <a:srgbClr val="FFFFFF"/>
                </a:solidFill>
                <a:latin typeface="DejaVu Serif"/>
                <a:ea typeface="DejaVu Serif"/>
                <a:cs typeface="DejaVu Serif"/>
                <a:sym typeface="DejaVu Serif"/>
              </a:rPr>
              <a:t>.</a:t>
            </a:r>
            <a:endParaRPr lang="en-US" sz="1800" u="none" strike="noStrike">
              <a:solidFill>
                <a:srgbClr val="FFFFFF"/>
              </a:solidFill>
              <a:latin typeface="DejaVu Serif"/>
              <a:ea typeface="DejaVu Serif"/>
              <a:cs typeface="DejaVu Serif"/>
              <a:sym typeface="DejaVu Serif"/>
            </a:endParaRPr>
          </a:p>
        </p:txBody>
      </p:sp>
      <p:sp>
        <p:nvSpPr>
          <p:cNvPr id="10" name="TextBox 10"/>
          <p:cNvSpPr txBox="1"/>
          <p:nvPr/>
        </p:nvSpPr>
        <p:spPr>
          <a:xfrm>
            <a:off x="3713903" y="5221214"/>
            <a:ext cx="4540428" cy="1038746"/>
          </a:xfrm>
          <a:prstGeom prst="rect">
            <a:avLst/>
          </a:prstGeom>
        </p:spPr>
        <p:txBody>
          <a:bodyPr lIns="0" tIns="0" rIns="0" bIns="0" rtlCol="0" anchor="t">
            <a:spAutoFit/>
          </a:bodyPr>
          <a:lstStyle/>
          <a:p>
            <a:pPr marL="0" lvl="0" indent="0" algn="just">
              <a:lnSpc>
                <a:spcPts val="2700"/>
              </a:lnSpc>
              <a:spcBef>
                <a:spcPct val="0"/>
              </a:spcBef>
            </a:pPr>
            <a:r>
              <a:rPr lang="en-US" sz="1800" u="none" strike="noStrike">
                <a:solidFill>
                  <a:srgbClr val="FFFFFF"/>
                </a:solidFill>
                <a:latin typeface="DejaVu Serif"/>
                <a:ea typeface="DejaVu Serif"/>
                <a:cs typeface="DejaVu Serif"/>
                <a:sym typeface="DejaVu Serif"/>
              </a:rPr>
              <a:t>Web Service API được sử dụng để khai thác dữ liệu khóa học, bài tập và bài nộp phục </a:t>
            </a:r>
            <a:r>
              <a:rPr lang="en-US" sz="1800" u="none" strike="noStrike" smtClean="0">
                <a:solidFill>
                  <a:srgbClr val="FFFFFF"/>
                </a:solidFill>
                <a:latin typeface="DejaVu Serif"/>
                <a:ea typeface="DejaVu Serif"/>
                <a:cs typeface="DejaVu Serif"/>
                <a:sym typeface="DejaVu Serif"/>
              </a:rPr>
              <a:t>vụ các chức năng chính.</a:t>
            </a:r>
            <a:endParaRPr lang="en-US" sz="1800" u="none" strike="noStrike">
              <a:solidFill>
                <a:srgbClr val="FFFFFF"/>
              </a:solidFill>
              <a:latin typeface="DejaVu Serif"/>
              <a:ea typeface="DejaVu Serif"/>
              <a:cs typeface="DejaVu Serif"/>
              <a:sym typeface="DejaVu Serif"/>
            </a:endParaRPr>
          </a:p>
        </p:txBody>
      </p:sp>
      <p:sp>
        <p:nvSpPr>
          <p:cNvPr id="11" name="TextBox 11"/>
          <p:cNvSpPr txBox="1"/>
          <p:nvPr/>
        </p:nvSpPr>
        <p:spPr>
          <a:xfrm>
            <a:off x="3713903" y="6627962"/>
            <a:ext cx="4540428" cy="1384995"/>
          </a:xfrm>
          <a:prstGeom prst="rect">
            <a:avLst/>
          </a:prstGeom>
        </p:spPr>
        <p:txBody>
          <a:bodyPr lIns="0" tIns="0" rIns="0" bIns="0" rtlCol="0" anchor="t">
            <a:spAutoFit/>
          </a:bodyPr>
          <a:lstStyle/>
          <a:p>
            <a:pPr marL="0" lvl="0" indent="0" algn="just">
              <a:lnSpc>
                <a:spcPts val="2700"/>
              </a:lnSpc>
              <a:spcBef>
                <a:spcPct val="0"/>
              </a:spcBef>
            </a:pPr>
            <a:r>
              <a:rPr lang="en-US" sz="1800">
                <a:solidFill>
                  <a:srgbClr val="FFFFFF"/>
                </a:solidFill>
                <a:latin typeface="DejaVu Serif"/>
                <a:ea typeface="DejaVu Serif"/>
                <a:cs typeface="DejaVu Serif"/>
                <a:sym typeface="DejaVu Serif"/>
              </a:rPr>
              <a:t>Sử dụng ChatClient </a:t>
            </a:r>
            <a:r>
              <a:rPr lang="en-US" sz="1800" smtClean="0">
                <a:solidFill>
                  <a:srgbClr val="FFFFFF"/>
                </a:solidFill>
                <a:latin typeface="DejaVu Serif"/>
                <a:ea typeface="DejaVu Serif"/>
                <a:cs typeface="DejaVu Serif"/>
                <a:sym typeface="DejaVu Serif"/>
              </a:rPr>
              <a:t>gửi </a:t>
            </a:r>
            <a:r>
              <a:rPr lang="en-US" sz="1800">
                <a:solidFill>
                  <a:srgbClr val="FFFFFF"/>
                </a:solidFill>
                <a:latin typeface="DejaVu Serif"/>
                <a:ea typeface="DejaVu Serif"/>
                <a:cs typeface="DejaVu Serif"/>
                <a:sym typeface="DejaVu Serif"/>
              </a:rPr>
              <a:t>đến mô hình</a:t>
            </a:r>
            <a:r>
              <a:rPr lang="en-US" sz="1800" u="none" strike="noStrike">
                <a:solidFill>
                  <a:srgbClr val="FFFFFF"/>
                </a:solidFill>
                <a:latin typeface="DejaVu Serif"/>
                <a:ea typeface="DejaVu Serif"/>
                <a:cs typeface="DejaVu Serif"/>
                <a:sym typeface="DejaVu Serif"/>
              </a:rPr>
              <a:t> GPT-5.4 mini </a:t>
            </a:r>
            <a:r>
              <a:rPr lang="en-US" smtClean="0">
                <a:solidFill>
                  <a:srgbClr val="FFFFFF"/>
                </a:solidFill>
                <a:latin typeface="DejaVu Serif"/>
                <a:ea typeface="DejaVu Serif"/>
                <a:cs typeface="DejaVu Serif"/>
                <a:sym typeface="DejaVu Serif"/>
              </a:rPr>
              <a:t>sinh</a:t>
            </a:r>
            <a:r>
              <a:rPr lang="en-US" sz="1800" u="none" strike="noStrike" smtClean="0">
                <a:solidFill>
                  <a:srgbClr val="FFFFFF"/>
                </a:solidFill>
                <a:latin typeface="DejaVu Serif"/>
                <a:ea typeface="DejaVu Serif"/>
                <a:cs typeface="DejaVu Serif"/>
                <a:sym typeface="DejaVu Serif"/>
              </a:rPr>
              <a:t> </a:t>
            </a:r>
            <a:r>
              <a:rPr lang="en-US" sz="1800" u="none" strike="noStrike">
                <a:solidFill>
                  <a:srgbClr val="FFFFFF"/>
                </a:solidFill>
                <a:latin typeface="DejaVu Serif"/>
                <a:ea typeface="DejaVu Serif"/>
                <a:cs typeface="DejaVu Serif"/>
                <a:sym typeface="DejaVu Serif"/>
              </a:rPr>
              <a:t>phản hồi thông minh như gợi ý thực hiện bài tập, phân tích mã nguồn và hỗ trợ hỏi </a:t>
            </a:r>
            <a:r>
              <a:rPr lang="en-US" sz="1800" u="none" strike="noStrike" smtClean="0">
                <a:solidFill>
                  <a:srgbClr val="FFFFFF"/>
                </a:solidFill>
                <a:latin typeface="DejaVu Serif"/>
                <a:ea typeface="DejaVu Serif"/>
                <a:cs typeface="DejaVu Serif"/>
                <a:sym typeface="DejaVu Serif"/>
              </a:rPr>
              <a:t>đáp.</a:t>
            </a:r>
            <a:endParaRPr lang="en-US" sz="1800" u="none" strike="noStrike">
              <a:solidFill>
                <a:srgbClr val="FFFFFF"/>
              </a:solidFill>
              <a:latin typeface="DejaVu Serif"/>
              <a:ea typeface="DejaVu Serif"/>
              <a:cs typeface="DejaVu Serif"/>
              <a:sym typeface="DejaVu Serif"/>
            </a:endParaRPr>
          </a:p>
        </p:txBody>
      </p:sp>
      <p:sp>
        <p:nvSpPr>
          <p:cNvPr id="12" name="TextBox 12"/>
          <p:cNvSpPr txBox="1"/>
          <p:nvPr/>
        </p:nvSpPr>
        <p:spPr>
          <a:xfrm>
            <a:off x="3713903" y="8386216"/>
            <a:ext cx="4540428" cy="1369694"/>
          </a:xfrm>
          <a:prstGeom prst="rect">
            <a:avLst/>
          </a:prstGeom>
        </p:spPr>
        <p:txBody>
          <a:bodyPr lIns="0" tIns="0" rIns="0" bIns="0" rtlCol="0" anchor="t">
            <a:spAutoFit/>
          </a:bodyPr>
          <a:lstStyle/>
          <a:p>
            <a:pPr marL="0" lvl="0" indent="0" algn="just">
              <a:lnSpc>
                <a:spcPts val="2700"/>
              </a:lnSpc>
              <a:spcBef>
                <a:spcPct val="0"/>
              </a:spcBef>
            </a:pPr>
            <a:r>
              <a:rPr lang="en-US" sz="1800" u="none" strike="noStrike">
                <a:solidFill>
                  <a:srgbClr val="FFFFFF"/>
                </a:solidFill>
                <a:latin typeface="DejaVu Serif"/>
                <a:ea typeface="DejaVu Serif"/>
                <a:cs typeface="DejaVu Serif"/>
                <a:sym typeface="DejaVu Serif"/>
              </a:rPr>
              <a:t>PostgreSQL đóng vai trò lưu trữ duy trì ngữ cảnh hội thoại (Chat Memory), trong khi MongoDB lưu kết quả phân tích và dữ liệu gợi ý.</a:t>
            </a:r>
          </a:p>
        </p:txBody>
      </p:sp>
      <p:grpSp>
        <p:nvGrpSpPr>
          <p:cNvPr id="13" name="Group 13"/>
          <p:cNvGrpSpPr/>
          <p:nvPr/>
        </p:nvGrpSpPr>
        <p:grpSpPr>
          <a:xfrm>
            <a:off x="195096" y="2604726"/>
            <a:ext cx="2988606" cy="647381"/>
            <a:chOff x="0" y="0"/>
            <a:chExt cx="3984809" cy="863174"/>
          </a:xfrm>
        </p:grpSpPr>
        <p:grpSp>
          <p:nvGrpSpPr>
            <p:cNvPr id="14" name="Group 14"/>
            <p:cNvGrpSpPr/>
            <p:nvPr/>
          </p:nvGrpSpPr>
          <p:grpSpPr>
            <a:xfrm>
              <a:off x="0" y="0"/>
              <a:ext cx="3984809" cy="863174"/>
              <a:chOff x="0" y="0"/>
              <a:chExt cx="544115" cy="117864"/>
            </a:xfrm>
          </p:grpSpPr>
          <p:sp>
            <p:nvSpPr>
              <p:cNvPr id="15" name="Freeform 15"/>
              <p:cNvSpPr/>
              <p:nvPr/>
            </p:nvSpPr>
            <p:spPr>
              <a:xfrm>
                <a:off x="0" y="0"/>
                <a:ext cx="544115" cy="117864"/>
              </a:xfrm>
              <a:custGeom>
                <a:avLst/>
                <a:gdLst/>
                <a:ahLst/>
                <a:cxnLst/>
                <a:rect l="l" t="t" r="r" b="b"/>
                <a:pathLst>
                  <a:path w="544115" h="117864">
                    <a:moveTo>
                      <a:pt x="272057" y="0"/>
                    </a:moveTo>
                    <a:cubicBezTo>
                      <a:pt x="121804" y="0"/>
                      <a:pt x="0" y="26385"/>
                      <a:pt x="0" y="58932"/>
                    </a:cubicBezTo>
                    <a:cubicBezTo>
                      <a:pt x="0" y="91479"/>
                      <a:pt x="121804" y="117864"/>
                      <a:pt x="272057" y="117864"/>
                    </a:cubicBezTo>
                    <a:cubicBezTo>
                      <a:pt x="422310" y="117864"/>
                      <a:pt x="544115" y="91479"/>
                      <a:pt x="544115" y="58932"/>
                    </a:cubicBezTo>
                    <a:cubicBezTo>
                      <a:pt x="544115" y="26385"/>
                      <a:pt x="422310" y="0"/>
                      <a:pt x="272057" y="0"/>
                    </a:cubicBezTo>
                    <a:close/>
                  </a:path>
                </a:pathLst>
              </a:custGeom>
              <a:blipFill>
                <a:blip r:embed="rId4"/>
                <a:stretch>
                  <a:fillRect t="-15496" b="-15496"/>
                </a:stretch>
              </a:blipFill>
            </p:spPr>
          </p:sp>
        </p:grpSp>
        <p:sp>
          <p:nvSpPr>
            <p:cNvPr id="16" name="TextBox 16"/>
            <p:cNvSpPr txBox="1"/>
            <p:nvPr/>
          </p:nvSpPr>
          <p:spPr>
            <a:xfrm>
              <a:off x="592281" y="121707"/>
              <a:ext cx="2800247" cy="543559"/>
            </a:xfrm>
            <a:prstGeom prst="rect">
              <a:avLst/>
            </a:prstGeom>
          </p:spPr>
          <p:txBody>
            <a:bodyPr lIns="0" tIns="0" rIns="0" bIns="0" rtlCol="0" anchor="t">
              <a:spAutoFit/>
            </a:bodyPr>
            <a:lstStyle/>
            <a:p>
              <a:pPr marL="0" lvl="0" indent="0" algn="ctr">
                <a:lnSpc>
                  <a:spcPts val="3450"/>
                </a:lnSpc>
                <a:spcBef>
                  <a:spcPct val="0"/>
                </a:spcBef>
              </a:pPr>
              <a:r>
                <a:rPr lang="en-US" sz="2300" u="none" strike="noStrike">
                  <a:solidFill>
                    <a:srgbClr val="17E3B2"/>
                  </a:solidFill>
                  <a:latin typeface="DejaVu Serif"/>
                  <a:ea typeface="DejaVu Serif"/>
                  <a:cs typeface="DejaVu Serif"/>
                  <a:sym typeface="DejaVu Serif"/>
                </a:rPr>
                <a:t>Frontend</a:t>
              </a:r>
            </a:p>
          </p:txBody>
        </p:sp>
      </p:grpSp>
      <p:grpSp>
        <p:nvGrpSpPr>
          <p:cNvPr id="17" name="Group 17"/>
          <p:cNvGrpSpPr/>
          <p:nvPr/>
        </p:nvGrpSpPr>
        <p:grpSpPr>
          <a:xfrm>
            <a:off x="195096" y="4020135"/>
            <a:ext cx="2988606" cy="647381"/>
            <a:chOff x="0" y="0"/>
            <a:chExt cx="3984809" cy="863174"/>
          </a:xfrm>
        </p:grpSpPr>
        <p:grpSp>
          <p:nvGrpSpPr>
            <p:cNvPr id="18" name="Group 18"/>
            <p:cNvGrpSpPr/>
            <p:nvPr/>
          </p:nvGrpSpPr>
          <p:grpSpPr>
            <a:xfrm>
              <a:off x="0" y="0"/>
              <a:ext cx="3984809" cy="863174"/>
              <a:chOff x="0" y="0"/>
              <a:chExt cx="544115" cy="117864"/>
            </a:xfrm>
          </p:grpSpPr>
          <p:sp>
            <p:nvSpPr>
              <p:cNvPr id="19" name="Freeform 19"/>
              <p:cNvSpPr/>
              <p:nvPr/>
            </p:nvSpPr>
            <p:spPr>
              <a:xfrm>
                <a:off x="0" y="0"/>
                <a:ext cx="544115" cy="117864"/>
              </a:xfrm>
              <a:custGeom>
                <a:avLst/>
                <a:gdLst/>
                <a:ahLst/>
                <a:cxnLst/>
                <a:rect l="l" t="t" r="r" b="b"/>
                <a:pathLst>
                  <a:path w="544115" h="117864">
                    <a:moveTo>
                      <a:pt x="272057" y="0"/>
                    </a:moveTo>
                    <a:cubicBezTo>
                      <a:pt x="121804" y="0"/>
                      <a:pt x="0" y="26385"/>
                      <a:pt x="0" y="58932"/>
                    </a:cubicBezTo>
                    <a:cubicBezTo>
                      <a:pt x="0" y="91479"/>
                      <a:pt x="121804" y="117864"/>
                      <a:pt x="272057" y="117864"/>
                    </a:cubicBezTo>
                    <a:cubicBezTo>
                      <a:pt x="422310" y="117864"/>
                      <a:pt x="544115" y="91479"/>
                      <a:pt x="544115" y="58932"/>
                    </a:cubicBezTo>
                    <a:cubicBezTo>
                      <a:pt x="544115" y="26385"/>
                      <a:pt x="422310" y="0"/>
                      <a:pt x="272057" y="0"/>
                    </a:cubicBezTo>
                    <a:close/>
                  </a:path>
                </a:pathLst>
              </a:custGeom>
              <a:blipFill>
                <a:blip r:embed="rId4"/>
                <a:stretch>
                  <a:fillRect t="-15496" b="-15496"/>
                </a:stretch>
              </a:blipFill>
            </p:spPr>
          </p:sp>
        </p:grpSp>
        <p:sp>
          <p:nvSpPr>
            <p:cNvPr id="20" name="TextBox 20"/>
            <p:cNvSpPr txBox="1"/>
            <p:nvPr/>
          </p:nvSpPr>
          <p:spPr>
            <a:xfrm>
              <a:off x="648622" y="121707"/>
              <a:ext cx="2687565" cy="543559"/>
            </a:xfrm>
            <a:prstGeom prst="rect">
              <a:avLst/>
            </a:prstGeom>
          </p:spPr>
          <p:txBody>
            <a:bodyPr lIns="0" tIns="0" rIns="0" bIns="0" rtlCol="0" anchor="t">
              <a:spAutoFit/>
            </a:bodyPr>
            <a:lstStyle/>
            <a:p>
              <a:pPr marL="0" lvl="0" indent="0" algn="ctr">
                <a:lnSpc>
                  <a:spcPts val="3450"/>
                </a:lnSpc>
                <a:spcBef>
                  <a:spcPct val="0"/>
                </a:spcBef>
              </a:pPr>
              <a:r>
                <a:rPr lang="en-US" sz="2300" u="none" strike="noStrike">
                  <a:solidFill>
                    <a:srgbClr val="17E3B2"/>
                  </a:solidFill>
                  <a:latin typeface="DejaVu Serif"/>
                  <a:ea typeface="DejaVu Serif"/>
                  <a:cs typeface="DejaVu Serif"/>
                  <a:sym typeface="DejaVu Serif"/>
                </a:rPr>
                <a:t>Backend</a:t>
              </a:r>
            </a:p>
          </p:txBody>
        </p:sp>
      </p:grpSp>
      <p:grpSp>
        <p:nvGrpSpPr>
          <p:cNvPr id="21" name="Group 21"/>
          <p:cNvGrpSpPr/>
          <p:nvPr/>
        </p:nvGrpSpPr>
        <p:grpSpPr>
          <a:xfrm>
            <a:off x="195096" y="5444204"/>
            <a:ext cx="2988606" cy="647381"/>
            <a:chOff x="0" y="0"/>
            <a:chExt cx="3984809" cy="863174"/>
          </a:xfrm>
        </p:grpSpPr>
        <p:grpSp>
          <p:nvGrpSpPr>
            <p:cNvPr id="22" name="Group 22"/>
            <p:cNvGrpSpPr/>
            <p:nvPr/>
          </p:nvGrpSpPr>
          <p:grpSpPr>
            <a:xfrm>
              <a:off x="0" y="0"/>
              <a:ext cx="3984809" cy="863174"/>
              <a:chOff x="0" y="0"/>
              <a:chExt cx="544115" cy="117864"/>
            </a:xfrm>
          </p:grpSpPr>
          <p:sp>
            <p:nvSpPr>
              <p:cNvPr id="23" name="Freeform 23"/>
              <p:cNvSpPr/>
              <p:nvPr/>
            </p:nvSpPr>
            <p:spPr>
              <a:xfrm>
                <a:off x="0" y="0"/>
                <a:ext cx="544115" cy="117864"/>
              </a:xfrm>
              <a:custGeom>
                <a:avLst/>
                <a:gdLst/>
                <a:ahLst/>
                <a:cxnLst/>
                <a:rect l="l" t="t" r="r" b="b"/>
                <a:pathLst>
                  <a:path w="544115" h="117864">
                    <a:moveTo>
                      <a:pt x="272057" y="0"/>
                    </a:moveTo>
                    <a:cubicBezTo>
                      <a:pt x="121804" y="0"/>
                      <a:pt x="0" y="26385"/>
                      <a:pt x="0" y="58932"/>
                    </a:cubicBezTo>
                    <a:cubicBezTo>
                      <a:pt x="0" y="91479"/>
                      <a:pt x="121804" y="117864"/>
                      <a:pt x="272057" y="117864"/>
                    </a:cubicBezTo>
                    <a:cubicBezTo>
                      <a:pt x="422310" y="117864"/>
                      <a:pt x="544115" y="91479"/>
                      <a:pt x="544115" y="58932"/>
                    </a:cubicBezTo>
                    <a:cubicBezTo>
                      <a:pt x="544115" y="26385"/>
                      <a:pt x="422310" y="0"/>
                      <a:pt x="272057" y="0"/>
                    </a:cubicBezTo>
                    <a:close/>
                  </a:path>
                </a:pathLst>
              </a:custGeom>
              <a:blipFill>
                <a:blip r:embed="rId4"/>
                <a:stretch>
                  <a:fillRect t="-15496" b="-15496"/>
                </a:stretch>
              </a:blipFill>
            </p:spPr>
          </p:sp>
        </p:grpSp>
        <p:sp>
          <p:nvSpPr>
            <p:cNvPr id="24" name="TextBox 24"/>
            <p:cNvSpPr txBox="1"/>
            <p:nvPr/>
          </p:nvSpPr>
          <p:spPr>
            <a:xfrm>
              <a:off x="754251" y="121707"/>
              <a:ext cx="2476306" cy="543559"/>
            </a:xfrm>
            <a:prstGeom prst="rect">
              <a:avLst/>
            </a:prstGeom>
          </p:spPr>
          <p:txBody>
            <a:bodyPr lIns="0" tIns="0" rIns="0" bIns="0" rtlCol="0" anchor="t">
              <a:spAutoFit/>
            </a:bodyPr>
            <a:lstStyle/>
            <a:p>
              <a:pPr marL="0" lvl="0" indent="0" algn="ctr">
                <a:lnSpc>
                  <a:spcPts val="3450"/>
                </a:lnSpc>
                <a:spcBef>
                  <a:spcPct val="0"/>
                </a:spcBef>
              </a:pPr>
              <a:r>
                <a:rPr lang="en-US" sz="2300" u="none" strike="noStrike">
                  <a:solidFill>
                    <a:srgbClr val="17E3B2"/>
                  </a:solidFill>
                  <a:latin typeface="DejaVu Serif"/>
                  <a:ea typeface="DejaVu Serif"/>
                  <a:cs typeface="DejaVu Serif"/>
                  <a:sym typeface="DejaVu Serif"/>
                </a:rPr>
                <a:t>Moodle</a:t>
              </a:r>
            </a:p>
          </p:txBody>
        </p:sp>
      </p:grpSp>
      <p:grpSp>
        <p:nvGrpSpPr>
          <p:cNvPr id="25" name="Group 25"/>
          <p:cNvGrpSpPr/>
          <p:nvPr/>
        </p:nvGrpSpPr>
        <p:grpSpPr>
          <a:xfrm>
            <a:off x="195096" y="7022375"/>
            <a:ext cx="2988606" cy="647381"/>
            <a:chOff x="0" y="0"/>
            <a:chExt cx="3984809" cy="863174"/>
          </a:xfrm>
        </p:grpSpPr>
        <p:grpSp>
          <p:nvGrpSpPr>
            <p:cNvPr id="26" name="Group 26"/>
            <p:cNvGrpSpPr/>
            <p:nvPr/>
          </p:nvGrpSpPr>
          <p:grpSpPr>
            <a:xfrm>
              <a:off x="0" y="0"/>
              <a:ext cx="3984809" cy="863174"/>
              <a:chOff x="0" y="0"/>
              <a:chExt cx="544115" cy="117864"/>
            </a:xfrm>
          </p:grpSpPr>
          <p:sp>
            <p:nvSpPr>
              <p:cNvPr id="27" name="Freeform 27"/>
              <p:cNvSpPr/>
              <p:nvPr/>
            </p:nvSpPr>
            <p:spPr>
              <a:xfrm>
                <a:off x="0" y="0"/>
                <a:ext cx="544115" cy="117864"/>
              </a:xfrm>
              <a:custGeom>
                <a:avLst/>
                <a:gdLst/>
                <a:ahLst/>
                <a:cxnLst/>
                <a:rect l="l" t="t" r="r" b="b"/>
                <a:pathLst>
                  <a:path w="544115" h="117864">
                    <a:moveTo>
                      <a:pt x="272057" y="0"/>
                    </a:moveTo>
                    <a:cubicBezTo>
                      <a:pt x="121804" y="0"/>
                      <a:pt x="0" y="26385"/>
                      <a:pt x="0" y="58932"/>
                    </a:cubicBezTo>
                    <a:cubicBezTo>
                      <a:pt x="0" y="91479"/>
                      <a:pt x="121804" y="117864"/>
                      <a:pt x="272057" y="117864"/>
                    </a:cubicBezTo>
                    <a:cubicBezTo>
                      <a:pt x="422310" y="117864"/>
                      <a:pt x="544115" y="91479"/>
                      <a:pt x="544115" y="58932"/>
                    </a:cubicBezTo>
                    <a:cubicBezTo>
                      <a:pt x="544115" y="26385"/>
                      <a:pt x="422310" y="0"/>
                      <a:pt x="272057" y="0"/>
                    </a:cubicBezTo>
                    <a:close/>
                  </a:path>
                </a:pathLst>
              </a:custGeom>
              <a:blipFill>
                <a:blip r:embed="rId4"/>
                <a:stretch>
                  <a:fillRect t="-15496" b="-15496"/>
                </a:stretch>
              </a:blipFill>
            </p:spPr>
          </p:sp>
        </p:grpSp>
        <p:sp>
          <p:nvSpPr>
            <p:cNvPr id="28" name="TextBox 28"/>
            <p:cNvSpPr txBox="1"/>
            <p:nvPr/>
          </p:nvSpPr>
          <p:spPr>
            <a:xfrm>
              <a:off x="641484" y="121707"/>
              <a:ext cx="2701840" cy="543559"/>
            </a:xfrm>
            <a:prstGeom prst="rect">
              <a:avLst/>
            </a:prstGeom>
          </p:spPr>
          <p:txBody>
            <a:bodyPr lIns="0" tIns="0" rIns="0" bIns="0" rtlCol="0" anchor="t">
              <a:spAutoFit/>
            </a:bodyPr>
            <a:lstStyle/>
            <a:p>
              <a:pPr marL="0" lvl="0" indent="0" algn="ctr">
                <a:lnSpc>
                  <a:spcPts val="3450"/>
                </a:lnSpc>
                <a:spcBef>
                  <a:spcPct val="0"/>
                </a:spcBef>
              </a:pPr>
              <a:r>
                <a:rPr lang="en-US" sz="2300" u="none" strike="noStrike">
                  <a:solidFill>
                    <a:srgbClr val="17E3B2"/>
                  </a:solidFill>
                  <a:latin typeface="DejaVu Serif"/>
                  <a:ea typeface="DejaVu Serif"/>
                  <a:cs typeface="DejaVu Serif"/>
                  <a:sym typeface="DejaVu Serif"/>
                </a:rPr>
                <a:t>Spring AI</a:t>
              </a:r>
            </a:p>
          </p:txBody>
        </p:sp>
      </p:grpSp>
      <p:grpSp>
        <p:nvGrpSpPr>
          <p:cNvPr id="29" name="Group 29"/>
          <p:cNvGrpSpPr/>
          <p:nvPr/>
        </p:nvGrpSpPr>
        <p:grpSpPr>
          <a:xfrm>
            <a:off x="195096" y="8780737"/>
            <a:ext cx="2988606" cy="647381"/>
            <a:chOff x="0" y="0"/>
            <a:chExt cx="3984809" cy="863174"/>
          </a:xfrm>
        </p:grpSpPr>
        <p:grpSp>
          <p:nvGrpSpPr>
            <p:cNvPr id="30" name="Group 30"/>
            <p:cNvGrpSpPr/>
            <p:nvPr/>
          </p:nvGrpSpPr>
          <p:grpSpPr>
            <a:xfrm>
              <a:off x="0" y="0"/>
              <a:ext cx="3984809" cy="863174"/>
              <a:chOff x="0" y="0"/>
              <a:chExt cx="544115" cy="117864"/>
            </a:xfrm>
          </p:grpSpPr>
          <p:sp>
            <p:nvSpPr>
              <p:cNvPr id="31" name="Freeform 31"/>
              <p:cNvSpPr/>
              <p:nvPr/>
            </p:nvSpPr>
            <p:spPr>
              <a:xfrm>
                <a:off x="0" y="0"/>
                <a:ext cx="544115" cy="117864"/>
              </a:xfrm>
              <a:custGeom>
                <a:avLst/>
                <a:gdLst/>
                <a:ahLst/>
                <a:cxnLst/>
                <a:rect l="l" t="t" r="r" b="b"/>
                <a:pathLst>
                  <a:path w="544115" h="117864">
                    <a:moveTo>
                      <a:pt x="272057" y="0"/>
                    </a:moveTo>
                    <a:cubicBezTo>
                      <a:pt x="121804" y="0"/>
                      <a:pt x="0" y="26385"/>
                      <a:pt x="0" y="58932"/>
                    </a:cubicBezTo>
                    <a:cubicBezTo>
                      <a:pt x="0" y="91479"/>
                      <a:pt x="121804" y="117864"/>
                      <a:pt x="272057" y="117864"/>
                    </a:cubicBezTo>
                    <a:cubicBezTo>
                      <a:pt x="422310" y="117864"/>
                      <a:pt x="544115" y="91479"/>
                      <a:pt x="544115" y="58932"/>
                    </a:cubicBezTo>
                    <a:cubicBezTo>
                      <a:pt x="544115" y="26385"/>
                      <a:pt x="422310" y="0"/>
                      <a:pt x="272057" y="0"/>
                    </a:cubicBezTo>
                    <a:close/>
                  </a:path>
                </a:pathLst>
              </a:custGeom>
              <a:blipFill>
                <a:blip r:embed="rId4"/>
                <a:stretch>
                  <a:fillRect t="-15496" b="-15496"/>
                </a:stretch>
              </a:blipFill>
            </p:spPr>
          </p:sp>
        </p:grpSp>
        <p:sp>
          <p:nvSpPr>
            <p:cNvPr id="32" name="TextBox 32"/>
            <p:cNvSpPr txBox="1"/>
            <p:nvPr/>
          </p:nvSpPr>
          <p:spPr>
            <a:xfrm>
              <a:off x="661959" y="121707"/>
              <a:ext cx="2660890" cy="543559"/>
            </a:xfrm>
            <a:prstGeom prst="rect">
              <a:avLst/>
            </a:prstGeom>
          </p:spPr>
          <p:txBody>
            <a:bodyPr lIns="0" tIns="0" rIns="0" bIns="0" rtlCol="0" anchor="t">
              <a:spAutoFit/>
            </a:bodyPr>
            <a:lstStyle/>
            <a:p>
              <a:pPr marL="0" lvl="0" indent="0" algn="ctr">
                <a:lnSpc>
                  <a:spcPts val="3450"/>
                </a:lnSpc>
                <a:spcBef>
                  <a:spcPct val="0"/>
                </a:spcBef>
              </a:pPr>
              <a:r>
                <a:rPr lang="en-US" sz="2300">
                  <a:solidFill>
                    <a:srgbClr val="17E3B2"/>
                  </a:solidFill>
                  <a:latin typeface="DejaVu Serif"/>
                  <a:ea typeface="DejaVu Serif"/>
                  <a:cs typeface="DejaVu Serif"/>
                  <a:sym typeface="DejaVu Serif"/>
                </a:rPr>
                <a:t>Database</a:t>
              </a: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6114705" y="1403298"/>
            <a:ext cx="7480405" cy="7480405"/>
          </a:xfrm>
          <a:custGeom>
            <a:avLst/>
            <a:gdLst/>
            <a:ahLst/>
            <a:cxnLst/>
            <a:rect l="l" t="t" r="r" b="b"/>
            <a:pathLst>
              <a:path w="7480405" h="7480405">
                <a:moveTo>
                  <a:pt x="0" y="0"/>
                </a:moveTo>
                <a:lnTo>
                  <a:pt x="7480404" y="0"/>
                </a:lnTo>
                <a:lnTo>
                  <a:pt x="7480404" y="7480404"/>
                </a:lnTo>
                <a:lnTo>
                  <a:pt x="0" y="748040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8619736" y="1403298"/>
            <a:ext cx="9178199" cy="8346566"/>
          </a:xfrm>
          <a:custGeom>
            <a:avLst/>
            <a:gdLst/>
            <a:ahLst/>
            <a:cxnLst/>
            <a:rect l="l" t="t" r="r" b="b"/>
            <a:pathLst>
              <a:path w="9178199" h="8346566">
                <a:moveTo>
                  <a:pt x="0" y="0"/>
                </a:moveTo>
                <a:lnTo>
                  <a:pt x="9178198" y="0"/>
                </a:lnTo>
                <a:lnTo>
                  <a:pt x="9178198" y="8346566"/>
                </a:lnTo>
                <a:lnTo>
                  <a:pt x="0" y="8346566"/>
                </a:lnTo>
                <a:lnTo>
                  <a:pt x="0" y="0"/>
                </a:lnTo>
                <a:close/>
              </a:path>
            </a:pathLst>
          </a:custGeom>
          <a:blipFill>
            <a:blip r:embed="rId5"/>
            <a:stretch>
              <a:fillRect/>
            </a:stretch>
          </a:blipFill>
        </p:spPr>
      </p:sp>
      <p:sp>
        <p:nvSpPr>
          <p:cNvPr id="6" name="TextBox 6"/>
          <p:cNvSpPr txBox="1"/>
          <p:nvPr/>
        </p:nvSpPr>
        <p:spPr>
          <a:xfrm>
            <a:off x="446590" y="409521"/>
            <a:ext cx="14375825" cy="619179"/>
          </a:xfrm>
          <a:prstGeom prst="rect">
            <a:avLst/>
          </a:prstGeom>
        </p:spPr>
        <p:txBody>
          <a:bodyPr lIns="0" tIns="0" rIns="0" bIns="0" rtlCol="0" anchor="t">
            <a:spAutoFit/>
          </a:bodyPr>
          <a:lstStyle/>
          <a:p>
            <a:pPr marL="0" lvl="0" indent="0" algn="l">
              <a:lnSpc>
                <a:spcPts val="4800"/>
              </a:lnSpc>
              <a:spcBef>
                <a:spcPct val="0"/>
              </a:spcBef>
            </a:pPr>
            <a:r>
              <a:rPr lang="en-US" sz="4000" b="1">
                <a:solidFill>
                  <a:srgbClr val="FF9A00"/>
                </a:solidFill>
                <a:latin typeface="Muli Bold"/>
                <a:ea typeface="Muli Bold"/>
                <a:cs typeface="Muli Bold"/>
                <a:sym typeface="Muli Bold"/>
              </a:rPr>
              <a:t>LUỒNG HOẠT ĐỘNG CHỨC NĂNG GỢI Ý BÀI TẬP</a:t>
            </a:r>
          </a:p>
        </p:txBody>
      </p:sp>
      <p:sp>
        <p:nvSpPr>
          <p:cNvPr id="7" name="TextBox 7"/>
          <p:cNvSpPr txBox="1"/>
          <p:nvPr/>
        </p:nvSpPr>
        <p:spPr>
          <a:xfrm>
            <a:off x="446590" y="1308048"/>
            <a:ext cx="7705539" cy="4076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1/ Sinh viên gửi yêu cầu gợi ý bài tập từ giao diện.</a:t>
            </a:r>
          </a:p>
        </p:txBody>
      </p:sp>
      <p:sp>
        <p:nvSpPr>
          <p:cNvPr id="8" name="TextBox 8"/>
          <p:cNvSpPr txBox="1"/>
          <p:nvPr/>
        </p:nvSpPr>
        <p:spPr>
          <a:xfrm>
            <a:off x="446590" y="1888716"/>
            <a:ext cx="7705539"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2/ Backend kiểm tra xem nội dung gợi ý bài tập đã được lưu trong MongoDB hay chưa.</a:t>
            </a:r>
          </a:p>
        </p:txBody>
      </p:sp>
      <p:sp>
        <p:nvSpPr>
          <p:cNvPr id="9" name="TextBox 9"/>
          <p:cNvSpPr txBox="1"/>
          <p:nvPr/>
        </p:nvSpPr>
        <p:spPr>
          <a:xfrm>
            <a:off x="446590" y="2888485"/>
            <a:ext cx="7705539"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3/ Nếu gợi ý đã tồn tại, hệ thống trả về kết quả ngay cho sinh viên.</a:t>
            </a:r>
          </a:p>
        </p:txBody>
      </p:sp>
      <p:sp>
        <p:nvSpPr>
          <p:cNvPr id="10" name="TextBox 10"/>
          <p:cNvSpPr txBox="1"/>
          <p:nvPr/>
        </p:nvSpPr>
        <p:spPr>
          <a:xfrm>
            <a:off x="446590" y="3888254"/>
            <a:ext cx="7705539"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4/ Nếu chưa có, backend lấy thông tin bài tập từ Moodle thông qua Web Service API.</a:t>
            </a:r>
          </a:p>
        </p:txBody>
      </p:sp>
      <p:sp>
        <p:nvSpPr>
          <p:cNvPr id="11" name="TextBox 11"/>
          <p:cNvSpPr txBox="1"/>
          <p:nvPr/>
        </p:nvSpPr>
        <p:spPr>
          <a:xfrm>
            <a:off x="446590" y="4888023"/>
            <a:ext cx="7705539"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5/ Backend xử lý và chuẩn hóa dữ liệu bài tập để làm đầu vào cho AI.</a:t>
            </a:r>
          </a:p>
        </p:txBody>
      </p:sp>
      <p:sp>
        <p:nvSpPr>
          <p:cNvPr id="12" name="TextBox 12"/>
          <p:cNvSpPr txBox="1"/>
          <p:nvPr/>
        </p:nvSpPr>
        <p:spPr>
          <a:xfrm>
            <a:off x="446590" y="5887791"/>
            <a:ext cx="7705539" cy="4076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6/ Backend xây dựng Prompt dựa trên đề bài.</a:t>
            </a:r>
          </a:p>
        </p:txBody>
      </p:sp>
      <p:sp>
        <p:nvSpPr>
          <p:cNvPr id="13" name="TextBox 13"/>
          <p:cNvSpPr txBox="1"/>
          <p:nvPr/>
        </p:nvSpPr>
        <p:spPr>
          <a:xfrm>
            <a:off x="446590" y="6468460"/>
            <a:ext cx="7705539" cy="4076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7/ ChatClient gửi prompt đến mô hình GPT-5.4 mini.</a:t>
            </a:r>
          </a:p>
        </p:txBody>
      </p:sp>
      <p:sp>
        <p:nvSpPr>
          <p:cNvPr id="14" name="TextBox 14"/>
          <p:cNvSpPr txBox="1"/>
          <p:nvPr/>
        </p:nvSpPr>
        <p:spPr>
          <a:xfrm>
            <a:off x="446590" y="7049129"/>
            <a:ext cx="7705539" cy="4076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8/ Mô hình AI sinh nội dung gợi ý.</a:t>
            </a:r>
          </a:p>
        </p:txBody>
      </p:sp>
      <p:sp>
        <p:nvSpPr>
          <p:cNvPr id="15" name="TextBox 15"/>
          <p:cNvSpPr txBox="1"/>
          <p:nvPr/>
        </p:nvSpPr>
        <p:spPr>
          <a:xfrm>
            <a:off x="446590" y="7629798"/>
            <a:ext cx="7705539"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9/ Kết quả gợi ý được lưu vào MongoDB để truy vấn tái sử dụng cho các chức năng sau.</a:t>
            </a:r>
          </a:p>
        </p:txBody>
      </p:sp>
      <p:sp>
        <p:nvSpPr>
          <p:cNvPr id="16" name="TextBox 16"/>
          <p:cNvSpPr txBox="1"/>
          <p:nvPr/>
        </p:nvSpPr>
        <p:spPr>
          <a:xfrm>
            <a:off x="446590" y="8629566"/>
            <a:ext cx="7705539"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10/ Backend trả kết quả về giao diện và hiển thị cho sinh viên.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3071049" y="5938190"/>
            <a:ext cx="7480405" cy="7480405"/>
          </a:xfrm>
          <a:custGeom>
            <a:avLst/>
            <a:gdLst/>
            <a:ahLst/>
            <a:cxnLst/>
            <a:rect l="l" t="t" r="r" b="b"/>
            <a:pathLst>
              <a:path w="7480405" h="7480405">
                <a:moveTo>
                  <a:pt x="0" y="0"/>
                </a:moveTo>
                <a:lnTo>
                  <a:pt x="7480405" y="0"/>
                </a:lnTo>
                <a:lnTo>
                  <a:pt x="7480405" y="7480404"/>
                </a:lnTo>
                <a:lnTo>
                  <a:pt x="0" y="748040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8199056" y="1162156"/>
            <a:ext cx="9537556" cy="8516236"/>
          </a:xfrm>
          <a:custGeom>
            <a:avLst/>
            <a:gdLst/>
            <a:ahLst/>
            <a:cxnLst/>
            <a:rect l="l" t="t" r="r" b="b"/>
            <a:pathLst>
              <a:path w="9537556" h="8516236">
                <a:moveTo>
                  <a:pt x="0" y="0"/>
                </a:moveTo>
                <a:lnTo>
                  <a:pt x="9537556" y="0"/>
                </a:lnTo>
                <a:lnTo>
                  <a:pt x="9537556" y="8516236"/>
                </a:lnTo>
                <a:lnTo>
                  <a:pt x="0" y="8516236"/>
                </a:lnTo>
                <a:lnTo>
                  <a:pt x="0" y="0"/>
                </a:lnTo>
                <a:close/>
              </a:path>
            </a:pathLst>
          </a:custGeom>
          <a:blipFill>
            <a:blip r:embed="rId5"/>
            <a:stretch>
              <a:fillRect/>
            </a:stretch>
          </a:blipFill>
        </p:spPr>
      </p:sp>
      <p:sp>
        <p:nvSpPr>
          <p:cNvPr id="6" name="TextBox 6"/>
          <p:cNvSpPr txBox="1"/>
          <p:nvPr/>
        </p:nvSpPr>
        <p:spPr>
          <a:xfrm>
            <a:off x="446590" y="291449"/>
            <a:ext cx="16438644" cy="533346"/>
          </a:xfrm>
          <a:prstGeom prst="rect">
            <a:avLst/>
          </a:prstGeom>
        </p:spPr>
        <p:txBody>
          <a:bodyPr lIns="0" tIns="0" rIns="0" bIns="0" rtlCol="0" anchor="t">
            <a:spAutoFit/>
          </a:bodyPr>
          <a:lstStyle/>
          <a:p>
            <a:pPr marL="0" lvl="0" indent="0" algn="l">
              <a:lnSpc>
                <a:spcPts val="4200"/>
              </a:lnSpc>
              <a:spcBef>
                <a:spcPct val="0"/>
              </a:spcBef>
            </a:pPr>
            <a:r>
              <a:rPr lang="en-US" sz="3500" b="1">
                <a:solidFill>
                  <a:srgbClr val="FF9A00"/>
                </a:solidFill>
                <a:latin typeface="Muli Bold"/>
                <a:ea typeface="Muli Bold"/>
                <a:cs typeface="Muli Bold"/>
                <a:sym typeface="Muli Bold"/>
              </a:rPr>
              <a:t>LUỒNG HOẠT ĐỘNG CHỨC NĂNG HỎI ĐÁP HƯỚNG DẪN THỰC HÀNH</a:t>
            </a:r>
          </a:p>
        </p:txBody>
      </p:sp>
      <p:sp>
        <p:nvSpPr>
          <p:cNvPr id="7" name="TextBox 7"/>
          <p:cNvSpPr txBox="1"/>
          <p:nvPr/>
        </p:nvSpPr>
        <p:spPr>
          <a:xfrm>
            <a:off x="446590" y="1106545"/>
            <a:ext cx="7545820"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1/ Sinh viên gửi câu hỏi hoặc yêu cầu hỗ trợ thông qua giao diện chatbot.</a:t>
            </a:r>
          </a:p>
        </p:txBody>
      </p:sp>
      <p:sp>
        <p:nvSpPr>
          <p:cNvPr id="8" name="TextBox 8"/>
          <p:cNvSpPr txBox="1"/>
          <p:nvPr/>
        </p:nvSpPr>
        <p:spPr>
          <a:xfrm>
            <a:off x="446590" y="2287681"/>
            <a:ext cx="7545820" cy="4076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2/ Backend truy xuất nội dung gợi ý bài tập đã lưu.</a:t>
            </a:r>
          </a:p>
        </p:txBody>
      </p:sp>
      <p:sp>
        <p:nvSpPr>
          <p:cNvPr id="9" name="TextBox 9"/>
          <p:cNvSpPr txBox="1"/>
          <p:nvPr/>
        </p:nvSpPr>
        <p:spPr>
          <a:xfrm>
            <a:off x="446590" y="3049718"/>
            <a:ext cx="7545820" cy="4076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3/ Backend chuẩn bị dữ liệu để làm đầu vào cho AI.</a:t>
            </a:r>
          </a:p>
        </p:txBody>
      </p:sp>
      <p:sp>
        <p:nvSpPr>
          <p:cNvPr id="10" name="TextBox 10"/>
          <p:cNvSpPr txBox="1"/>
          <p:nvPr/>
        </p:nvSpPr>
        <p:spPr>
          <a:xfrm>
            <a:off x="446590" y="3811754"/>
            <a:ext cx="7545820"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4/ Backend xây dựng Prompt dựa trên câu hỏi, nội dung gợi ý và System Prompt thiết kế sẳn.</a:t>
            </a:r>
          </a:p>
        </p:txBody>
      </p:sp>
      <p:sp>
        <p:nvSpPr>
          <p:cNvPr id="11" name="TextBox 11"/>
          <p:cNvSpPr txBox="1"/>
          <p:nvPr/>
        </p:nvSpPr>
        <p:spPr>
          <a:xfrm>
            <a:off x="446590" y="4992890"/>
            <a:ext cx="7545820"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5/ ChatClient gửi Prompt kèm Chat Memory(ngữ cảnh hội thoại) đến mô hình GPT-5.4 mini.</a:t>
            </a:r>
          </a:p>
        </p:txBody>
      </p:sp>
      <p:sp>
        <p:nvSpPr>
          <p:cNvPr id="12" name="TextBox 12"/>
          <p:cNvSpPr txBox="1"/>
          <p:nvPr/>
        </p:nvSpPr>
        <p:spPr>
          <a:xfrm>
            <a:off x="446590" y="6174027"/>
            <a:ext cx="7545820"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6/ Mô hình AI sinh phản hồi hướng dẫn hoặc giải đáp phù hợp với ngữ cảnh bài tập.</a:t>
            </a:r>
          </a:p>
        </p:txBody>
      </p:sp>
      <p:sp>
        <p:nvSpPr>
          <p:cNvPr id="13" name="TextBox 13"/>
          <p:cNvSpPr txBox="1"/>
          <p:nvPr/>
        </p:nvSpPr>
        <p:spPr>
          <a:xfrm>
            <a:off x="446590" y="7355163"/>
            <a:ext cx="7545820"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7/ Nội dung trao đổi được lưu vào cơ sở dữ liệu để duy trì lịch sử hội thoại.</a:t>
            </a:r>
          </a:p>
        </p:txBody>
      </p:sp>
      <p:sp>
        <p:nvSpPr>
          <p:cNvPr id="14" name="TextBox 14"/>
          <p:cNvSpPr txBox="1"/>
          <p:nvPr/>
        </p:nvSpPr>
        <p:spPr>
          <a:xfrm>
            <a:off x="446590" y="8536299"/>
            <a:ext cx="7545820" cy="826769"/>
          </a:xfrm>
          <a:prstGeom prst="rect">
            <a:avLst/>
          </a:prstGeom>
        </p:spPr>
        <p:txBody>
          <a:bodyPr lIns="0" tIns="0" rIns="0" bIns="0" rtlCol="0" anchor="t">
            <a:spAutoFit/>
          </a:bodyPr>
          <a:lstStyle/>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8/ Backend trả kết quả về giao diện và hiển thị cho sinh viên.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2711502" y="593284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9805975" y="1190625"/>
            <a:ext cx="7980786" cy="8966880"/>
          </a:xfrm>
          <a:custGeom>
            <a:avLst/>
            <a:gdLst/>
            <a:ahLst/>
            <a:cxnLst/>
            <a:rect l="l" t="t" r="r" b="b"/>
            <a:pathLst>
              <a:path w="7980786" h="8966880">
                <a:moveTo>
                  <a:pt x="0" y="0"/>
                </a:moveTo>
                <a:lnTo>
                  <a:pt x="7980787" y="0"/>
                </a:lnTo>
                <a:lnTo>
                  <a:pt x="7980787" y="8966880"/>
                </a:lnTo>
                <a:lnTo>
                  <a:pt x="0" y="8966880"/>
                </a:lnTo>
                <a:lnTo>
                  <a:pt x="0" y="0"/>
                </a:lnTo>
                <a:close/>
              </a:path>
            </a:pathLst>
          </a:custGeom>
          <a:blipFill>
            <a:blip r:embed="rId5"/>
            <a:stretch>
              <a:fillRect/>
            </a:stretch>
          </a:blipFill>
        </p:spPr>
      </p:sp>
      <p:sp>
        <p:nvSpPr>
          <p:cNvPr id="6" name="TextBox 6"/>
          <p:cNvSpPr txBox="1"/>
          <p:nvPr/>
        </p:nvSpPr>
        <p:spPr>
          <a:xfrm>
            <a:off x="446590" y="291449"/>
            <a:ext cx="16438644" cy="533346"/>
          </a:xfrm>
          <a:prstGeom prst="rect">
            <a:avLst/>
          </a:prstGeom>
        </p:spPr>
        <p:txBody>
          <a:bodyPr lIns="0" tIns="0" rIns="0" bIns="0" rtlCol="0" anchor="t">
            <a:spAutoFit/>
          </a:bodyPr>
          <a:lstStyle/>
          <a:p>
            <a:pPr marL="0" lvl="0" indent="0" algn="l">
              <a:lnSpc>
                <a:spcPts val="4200"/>
              </a:lnSpc>
              <a:spcBef>
                <a:spcPct val="0"/>
              </a:spcBef>
            </a:pPr>
            <a:r>
              <a:rPr lang="en-US" sz="3500" b="1">
                <a:solidFill>
                  <a:srgbClr val="FF9A00"/>
                </a:solidFill>
                <a:latin typeface="Muli Bold"/>
                <a:ea typeface="Muli Bold"/>
                <a:cs typeface="Muli Bold"/>
                <a:sym typeface="Muli Bold"/>
              </a:rPr>
              <a:t>LUỒNG HOẠT ĐỘNG CHỨC NĂNG PHÂN TÍCH BÀI LÀM CỦA SINH VIÊN</a:t>
            </a:r>
          </a:p>
        </p:txBody>
      </p:sp>
      <p:sp>
        <p:nvSpPr>
          <p:cNvPr id="7" name="TextBox 7"/>
          <p:cNvSpPr txBox="1"/>
          <p:nvPr/>
        </p:nvSpPr>
        <p:spPr>
          <a:xfrm>
            <a:off x="303715" y="1076325"/>
            <a:ext cx="9200173" cy="407669"/>
          </a:xfrm>
          <a:prstGeom prst="rect">
            <a:avLst/>
          </a:prstGeom>
        </p:spPr>
        <p:txBody>
          <a:bodyPr lIns="0" tIns="0" rIns="0" bIns="0" rtlCol="0" anchor="t">
            <a:spAutoFit/>
          </a:bodyPr>
          <a:lstStyle/>
          <a:p>
            <a:pPr marL="0" lvl="0" indent="0" algn="l">
              <a:lnSpc>
                <a:spcPts val="3360"/>
              </a:lnSpc>
              <a:spcBef>
                <a:spcPct val="0"/>
              </a:spcBef>
            </a:pPr>
            <a:r>
              <a:rPr lang="en-US" sz="2100">
                <a:solidFill>
                  <a:srgbClr val="FFFFFF"/>
                </a:solidFill>
                <a:latin typeface="DejaVu Serif"/>
                <a:ea typeface="DejaVu Serif"/>
                <a:cs typeface="DejaVu Serif"/>
                <a:sym typeface="DejaVu Serif"/>
              </a:rPr>
              <a:t>1/ </a:t>
            </a:r>
            <a:r>
              <a:rPr lang="en-US" sz="2100" u="none" strike="noStrike">
                <a:solidFill>
                  <a:srgbClr val="FFFFFF"/>
                </a:solidFill>
                <a:latin typeface="DejaVu Serif"/>
                <a:ea typeface="DejaVu Serif"/>
                <a:cs typeface="DejaVu Serif"/>
                <a:sym typeface="DejaVu Serif"/>
              </a:rPr>
              <a:t>Sinh viên gửi yêu cầu phân tích bài làm từ giao diện.</a:t>
            </a:r>
          </a:p>
        </p:txBody>
      </p:sp>
      <p:sp>
        <p:nvSpPr>
          <p:cNvPr id="8" name="TextBox 8"/>
          <p:cNvSpPr txBox="1"/>
          <p:nvPr/>
        </p:nvSpPr>
        <p:spPr>
          <a:xfrm>
            <a:off x="303715" y="1678245"/>
            <a:ext cx="9200173" cy="8267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2/ Backend kiểm tra xem kết quả phân tích đã được lưu trong MongoDB hay chưa.</a:t>
            </a:r>
          </a:p>
        </p:txBody>
      </p:sp>
      <p:sp>
        <p:nvSpPr>
          <p:cNvPr id="9" name="TextBox 9"/>
          <p:cNvSpPr txBox="1"/>
          <p:nvPr/>
        </p:nvSpPr>
        <p:spPr>
          <a:xfrm>
            <a:off x="303715" y="2699264"/>
            <a:ext cx="9200173" cy="8267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3/ Nếu kết quả phân tích đã tồn tại và bài làm không thay đổi, hệ thống trả về kết quả ngay.</a:t>
            </a:r>
          </a:p>
        </p:txBody>
      </p:sp>
      <p:sp>
        <p:nvSpPr>
          <p:cNvPr id="10" name="TextBox 10"/>
          <p:cNvSpPr txBox="1"/>
          <p:nvPr/>
        </p:nvSpPr>
        <p:spPr>
          <a:xfrm>
            <a:off x="303715" y="3720284"/>
            <a:ext cx="9200173" cy="12458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4/ Nếu chưa có kết quả phân tích, hệ thống thu thập mã nguồn:</a:t>
            </a:r>
          </a:p>
          <a:p>
            <a:pPr algn="l">
              <a:lnSpc>
                <a:spcPts val="3360"/>
              </a:lnSpc>
              <a:spcBef>
                <a:spcPct val="0"/>
              </a:spcBef>
            </a:pPr>
            <a:r>
              <a:rPr lang="en-US" sz="2100">
                <a:solidFill>
                  <a:srgbClr val="FFFFFF"/>
                </a:solidFill>
                <a:latin typeface="DejaVu Serif"/>
                <a:ea typeface="DejaVu Serif"/>
                <a:cs typeface="DejaVu Serif"/>
                <a:sym typeface="DejaVu Serif"/>
              </a:rPr>
              <a:t>     Lấy bài nộp từ Moodle nếu sinh viên đã nộp bài.</a:t>
            </a:r>
          </a:p>
          <a:p>
            <a:pPr algn="l">
              <a:lnSpc>
                <a:spcPts val="3360"/>
              </a:lnSpc>
              <a:spcBef>
                <a:spcPct val="0"/>
              </a:spcBef>
            </a:pPr>
            <a:r>
              <a:rPr lang="en-US" sz="2100">
                <a:solidFill>
                  <a:srgbClr val="FFFFFF"/>
                </a:solidFill>
                <a:latin typeface="DejaVu Serif"/>
                <a:ea typeface="DejaVu Serif"/>
                <a:cs typeface="DejaVu Serif"/>
                <a:sym typeface="DejaVu Serif"/>
              </a:rPr>
              <a:t>     Hoặc nhận các tệp mã nguồn do sinh viên tải lên.</a:t>
            </a:r>
          </a:p>
        </p:txBody>
      </p:sp>
      <p:sp>
        <p:nvSpPr>
          <p:cNvPr id="11" name="TextBox 11"/>
          <p:cNvSpPr txBox="1"/>
          <p:nvPr/>
        </p:nvSpPr>
        <p:spPr>
          <a:xfrm>
            <a:off x="303715" y="5160403"/>
            <a:ext cx="9200173" cy="4076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5/ Backend lấy thông tin bài tập và nội dung gợi ý đã lưu.</a:t>
            </a:r>
          </a:p>
        </p:txBody>
      </p:sp>
      <p:sp>
        <p:nvSpPr>
          <p:cNvPr id="12" name="TextBox 12"/>
          <p:cNvSpPr txBox="1"/>
          <p:nvPr/>
        </p:nvSpPr>
        <p:spPr>
          <a:xfrm>
            <a:off x="303715" y="5762323"/>
            <a:ext cx="9200173" cy="8267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6/ Backend chuẩn hóa dữ liệu và kết hợp đề bài, gợi ý cùng mã nguồn làm ngữ cảnh phân tích.</a:t>
            </a:r>
          </a:p>
        </p:txBody>
      </p:sp>
      <p:sp>
        <p:nvSpPr>
          <p:cNvPr id="13" name="TextBox 13"/>
          <p:cNvSpPr txBox="1"/>
          <p:nvPr/>
        </p:nvSpPr>
        <p:spPr>
          <a:xfrm>
            <a:off x="303715" y="6783342"/>
            <a:ext cx="9200173" cy="8267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7/ Backend xây dựng Prompt và gửi đến GPT-5.4 mini thông qua Spring AI.</a:t>
            </a:r>
          </a:p>
        </p:txBody>
      </p:sp>
      <p:sp>
        <p:nvSpPr>
          <p:cNvPr id="14" name="TextBox 14"/>
          <p:cNvSpPr txBox="1"/>
          <p:nvPr/>
        </p:nvSpPr>
        <p:spPr>
          <a:xfrm>
            <a:off x="303715" y="7804362"/>
            <a:ext cx="9200173" cy="4076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8/ Mô hình AI phân tích mã nguồn và sinh nội dung phân tích.</a:t>
            </a:r>
          </a:p>
        </p:txBody>
      </p:sp>
      <p:sp>
        <p:nvSpPr>
          <p:cNvPr id="15" name="TextBox 15"/>
          <p:cNvSpPr txBox="1"/>
          <p:nvPr/>
        </p:nvSpPr>
        <p:spPr>
          <a:xfrm>
            <a:off x="303715" y="8406281"/>
            <a:ext cx="9200173" cy="4076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9/ Kết quả phân tích được lưu vào MongoDB.</a:t>
            </a:r>
          </a:p>
        </p:txBody>
      </p:sp>
      <p:sp>
        <p:nvSpPr>
          <p:cNvPr id="16" name="TextBox 16"/>
          <p:cNvSpPr txBox="1"/>
          <p:nvPr/>
        </p:nvSpPr>
        <p:spPr>
          <a:xfrm>
            <a:off x="303715" y="9008201"/>
            <a:ext cx="9200173" cy="8267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10/ Backend trả kết quả phân tích về giao diện để hiển thị cho sinh viên.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6947553" y="1191508"/>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9699512" y="1191508"/>
            <a:ext cx="7915926" cy="8698390"/>
          </a:xfrm>
          <a:custGeom>
            <a:avLst/>
            <a:gdLst/>
            <a:ahLst/>
            <a:cxnLst/>
            <a:rect l="l" t="t" r="r" b="b"/>
            <a:pathLst>
              <a:path w="7915926" h="8698390">
                <a:moveTo>
                  <a:pt x="0" y="0"/>
                </a:moveTo>
                <a:lnTo>
                  <a:pt x="7915927" y="0"/>
                </a:lnTo>
                <a:lnTo>
                  <a:pt x="7915927" y="8698390"/>
                </a:lnTo>
                <a:lnTo>
                  <a:pt x="0" y="8698390"/>
                </a:lnTo>
                <a:lnTo>
                  <a:pt x="0" y="0"/>
                </a:lnTo>
                <a:close/>
              </a:path>
            </a:pathLst>
          </a:custGeom>
          <a:blipFill>
            <a:blip r:embed="rId5"/>
            <a:stretch>
              <a:fillRect/>
            </a:stretch>
          </a:blipFill>
        </p:spPr>
      </p:sp>
      <p:sp>
        <p:nvSpPr>
          <p:cNvPr id="6" name="TextBox 6"/>
          <p:cNvSpPr txBox="1"/>
          <p:nvPr/>
        </p:nvSpPr>
        <p:spPr>
          <a:xfrm>
            <a:off x="446590" y="300974"/>
            <a:ext cx="16438644" cy="504879"/>
          </a:xfrm>
          <a:prstGeom prst="rect">
            <a:avLst/>
          </a:prstGeom>
        </p:spPr>
        <p:txBody>
          <a:bodyPr lIns="0" tIns="0" rIns="0" bIns="0" rtlCol="0" anchor="t">
            <a:spAutoFit/>
          </a:bodyPr>
          <a:lstStyle/>
          <a:p>
            <a:pPr marL="0" lvl="0" indent="0" algn="l">
              <a:lnSpc>
                <a:spcPts val="4080"/>
              </a:lnSpc>
              <a:spcBef>
                <a:spcPct val="0"/>
              </a:spcBef>
            </a:pPr>
            <a:r>
              <a:rPr lang="en-US" sz="3400" b="1">
                <a:solidFill>
                  <a:srgbClr val="FF9A00"/>
                </a:solidFill>
                <a:latin typeface="Muli Bold"/>
                <a:ea typeface="Muli Bold"/>
                <a:cs typeface="Muli Bold"/>
                <a:sym typeface="Muli Bold"/>
              </a:rPr>
              <a:t>LUỒNG HOẠT ĐỘNG CHỨC NĂNG HỎI ĐÁP VỀ KẾT QUẢ PHÂN TÍCH BÀI LÀM</a:t>
            </a:r>
          </a:p>
        </p:txBody>
      </p:sp>
      <p:sp>
        <p:nvSpPr>
          <p:cNvPr id="7" name="TextBox 7"/>
          <p:cNvSpPr txBox="1"/>
          <p:nvPr/>
        </p:nvSpPr>
        <p:spPr>
          <a:xfrm>
            <a:off x="441750" y="1096258"/>
            <a:ext cx="9037038" cy="407669"/>
          </a:xfrm>
          <a:prstGeom prst="rect">
            <a:avLst/>
          </a:prstGeom>
        </p:spPr>
        <p:txBody>
          <a:bodyPr lIns="0" tIns="0" rIns="0" bIns="0" rtlCol="0" anchor="t">
            <a:spAutoFit/>
          </a:bodyPr>
          <a:lstStyle/>
          <a:p>
            <a:pPr marL="0" lvl="0" indent="0" algn="l">
              <a:lnSpc>
                <a:spcPts val="3360"/>
              </a:lnSpc>
              <a:spcBef>
                <a:spcPct val="0"/>
              </a:spcBef>
            </a:pPr>
            <a:r>
              <a:rPr lang="en-US" sz="2100">
                <a:solidFill>
                  <a:srgbClr val="FFFFFF"/>
                </a:solidFill>
                <a:latin typeface="DejaVu Serif"/>
                <a:ea typeface="DejaVu Serif"/>
                <a:cs typeface="DejaVu Serif"/>
                <a:sym typeface="DejaVu Serif"/>
              </a:rPr>
              <a:t>1/ </a:t>
            </a:r>
            <a:r>
              <a:rPr lang="en-US" sz="2100" u="none" strike="noStrike">
                <a:solidFill>
                  <a:srgbClr val="FFFFFF"/>
                </a:solidFill>
                <a:latin typeface="DejaVu Serif"/>
                <a:ea typeface="DejaVu Serif"/>
                <a:cs typeface="DejaVu Serif"/>
                <a:sym typeface="DejaVu Serif"/>
              </a:rPr>
              <a:t>Sinh viên gửi câu hỏi hoặc yêu cầu.</a:t>
            </a:r>
          </a:p>
        </p:txBody>
      </p:sp>
      <p:sp>
        <p:nvSpPr>
          <p:cNvPr id="8" name="TextBox 8"/>
          <p:cNvSpPr txBox="1"/>
          <p:nvPr/>
        </p:nvSpPr>
        <p:spPr>
          <a:xfrm>
            <a:off x="441750" y="1725022"/>
            <a:ext cx="9037038" cy="4076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2/ Backend truy xuất kết quả phân tích bài làm đã được lưu.</a:t>
            </a:r>
          </a:p>
        </p:txBody>
      </p:sp>
      <p:sp>
        <p:nvSpPr>
          <p:cNvPr id="9" name="TextBox 9"/>
          <p:cNvSpPr txBox="1"/>
          <p:nvPr/>
        </p:nvSpPr>
        <p:spPr>
          <a:xfrm>
            <a:off x="441750" y="5078276"/>
            <a:ext cx="9037038" cy="8267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5/ Backend xây dựng prompt với câu hỏi của sinh viên, kết quả phân tích, nội dung gợi ý, thông tin bài tập và System Prompt.</a:t>
            </a:r>
          </a:p>
        </p:txBody>
      </p:sp>
      <p:sp>
        <p:nvSpPr>
          <p:cNvPr id="10" name="TextBox 10"/>
          <p:cNvSpPr txBox="1"/>
          <p:nvPr/>
        </p:nvSpPr>
        <p:spPr>
          <a:xfrm>
            <a:off x="441750" y="2353785"/>
            <a:ext cx="9037038" cy="8267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3/ AI đánh giá nội dung câu hỏi để xác định có cần sử dụng mã nguồn chi tiết bài làm hay không.</a:t>
            </a:r>
          </a:p>
        </p:txBody>
      </p:sp>
      <p:sp>
        <p:nvSpPr>
          <p:cNvPr id="11" name="TextBox 11"/>
          <p:cNvSpPr txBox="1"/>
          <p:nvPr/>
        </p:nvSpPr>
        <p:spPr>
          <a:xfrm>
            <a:off x="441750" y="3401649"/>
            <a:ext cx="9037038" cy="8267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4/ Nếu cần phân tích chi tiết chương trình, hệ thống lấy thêm mã nguồn bài làm từ Moodle.</a:t>
            </a:r>
          </a:p>
        </p:txBody>
      </p:sp>
      <p:sp>
        <p:nvSpPr>
          <p:cNvPr id="12" name="TextBox 12"/>
          <p:cNvSpPr txBox="1"/>
          <p:nvPr/>
        </p:nvSpPr>
        <p:spPr>
          <a:xfrm>
            <a:off x="441750" y="4449513"/>
            <a:ext cx="9037038" cy="4076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6/ Backend lấy thông tin bài tập và nội dung gợi ý đã lưu.</a:t>
            </a:r>
          </a:p>
        </p:txBody>
      </p:sp>
      <p:sp>
        <p:nvSpPr>
          <p:cNvPr id="13" name="TextBox 13"/>
          <p:cNvSpPr txBox="1"/>
          <p:nvPr/>
        </p:nvSpPr>
        <p:spPr>
          <a:xfrm>
            <a:off x="441750" y="6126140"/>
            <a:ext cx="9037038" cy="826769"/>
          </a:xfrm>
          <a:prstGeom prst="rect">
            <a:avLst/>
          </a:prstGeom>
        </p:spPr>
        <p:txBody>
          <a:bodyPr lIns="0" tIns="0" rIns="0" bIns="0" rtlCol="0" anchor="t">
            <a:spAutoFit/>
          </a:bodyPr>
          <a:lstStyle/>
          <a:p>
            <a:pPr marL="0" lvl="0" indent="0" algn="l">
              <a:lnSpc>
                <a:spcPts val="3360"/>
              </a:lnSpc>
              <a:spcBef>
                <a:spcPct val="0"/>
              </a:spcBef>
            </a:pPr>
            <a:r>
              <a:rPr lang="en-US" sz="2100">
                <a:solidFill>
                  <a:srgbClr val="FFFFFF"/>
                </a:solidFill>
                <a:latin typeface="DejaVu Serif"/>
                <a:ea typeface="DejaVu Serif"/>
                <a:cs typeface="DejaVu Serif"/>
                <a:sym typeface="DejaVu Serif"/>
              </a:rPr>
              <a:t>6</a:t>
            </a:r>
            <a:r>
              <a:rPr lang="en-US" sz="2100" u="none" strike="noStrike">
                <a:solidFill>
                  <a:srgbClr val="FFFFFF"/>
                </a:solidFill>
                <a:latin typeface="DejaVu Serif"/>
                <a:ea typeface="DejaVu Serif"/>
                <a:cs typeface="DejaVu Serif"/>
                <a:sym typeface="DejaVu Serif"/>
              </a:rPr>
              <a:t>/ ChatClient gửi Prompt kèm Chat Memory(ngữ cảnh hội thoại) đến mô hình GPT-5.4 mini.</a:t>
            </a:r>
          </a:p>
        </p:txBody>
      </p:sp>
      <p:sp>
        <p:nvSpPr>
          <p:cNvPr id="14" name="TextBox 14"/>
          <p:cNvSpPr txBox="1"/>
          <p:nvPr/>
        </p:nvSpPr>
        <p:spPr>
          <a:xfrm>
            <a:off x="441750" y="7174004"/>
            <a:ext cx="9032198" cy="4076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7/ Mô hình AI sinh phản hồi liên quan đến kết quả phân tích</a:t>
            </a:r>
          </a:p>
        </p:txBody>
      </p:sp>
      <p:sp>
        <p:nvSpPr>
          <p:cNvPr id="15" name="TextBox 15"/>
          <p:cNvSpPr txBox="1"/>
          <p:nvPr/>
        </p:nvSpPr>
        <p:spPr>
          <a:xfrm>
            <a:off x="441750" y="7802767"/>
            <a:ext cx="9010972" cy="826769"/>
          </a:xfrm>
          <a:prstGeom prst="rect">
            <a:avLst/>
          </a:prstGeom>
        </p:spPr>
        <p:txBody>
          <a:bodyPr lIns="0" tIns="0" rIns="0" bIns="0" rtlCol="0" anchor="t">
            <a:spAutoFit/>
          </a:bodyPr>
          <a:lstStyle/>
          <a:p>
            <a:pPr marL="0" lvl="0" indent="0" algn="l">
              <a:lnSpc>
                <a:spcPts val="3360"/>
              </a:lnSpc>
              <a:spcBef>
                <a:spcPct val="0"/>
              </a:spcBef>
            </a:pPr>
            <a:r>
              <a:rPr lang="en-US" sz="2100">
                <a:solidFill>
                  <a:srgbClr val="FFFFFF"/>
                </a:solidFill>
                <a:latin typeface="DejaVu Serif"/>
                <a:ea typeface="DejaVu Serif"/>
                <a:cs typeface="DejaVu Serif"/>
                <a:sym typeface="DejaVu Serif"/>
              </a:rPr>
              <a:t>8</a:t>
            </a:r>
            <a:r>
              <a:rPr lang="en-US" sz="2100" u="none" strike="noStrike">
                <a:solidFill>
                  <a:srgbClr val="FFFFFF"/>
                </a:solidFill>
                <a:latin typeface="DejaVu Serif"/>
                <a:ea typeface="DejaVu Serif"/>
                <a:cs typeface="DejaVu Serif"/>
                <a:sym typeface="DejaVu Serif"/>
              </a:rPr>
              <a:t>/ Nội dung trao đổi được lưu vào cơ sở dữ liệu để duy trì lịch sử hội thoại.</a:t>
            </a:r>
          </a:p>
        </p:txBody>
      </p:sp>
      <p:sp>
        <p:nvSpPr>
          <p:cNvPr id="16" name="TextBox 16"/>
          <p:cNvSpPr txBox="1"/>
          <p:nvPr/>
        </p:nvSpPr>
        <p:spPr>
          <a:xfrm>
            <a:off x="441750" y="8850631"/>
            <a:ext cx="9010972" cy="826769"/>
          </a:xfrm>
          <a:prstGeom prst="rect">
            <a:avLst/>
          </a:prstGeom>
        </p:spPr>
        <p:txBody>
          <a:bodyPr lIns="0" tIns="0" rIns="0" bIns="0" rtlCol="0" anchor="t">
            <a:spAutoFit/>
          </a:bodyPr>
          <a:lstStyle/>
          <a:p>
            <a:pPr algn="l">
              <a:lnSpc>
                <a:spcPts val="3360"/>
              </a:lnSpc>
              <a:spcBef>
                <a:spcPct val="0"/>
              </a:spcBef>
            </a:pPr>
            <a:r>
              <a:rPr lang="en-US" sz="2100">
                <a:solidFill>
                  <a:srgbClr val="FFFFFF"/>
                </a:solidFill>
                <a:latin typeface="DejaVu Serif"/>
                <a:ea typeface="DejaVu Serif"/>
                <a:cs typeface="DejaVu Serif"/>
                <a:sym typeface="DejaVu Serif"/>
              </a:rPr>
              <a:t>9/ Backend trả kết nội dung phản hồi về giao diện và hiển thị cho sinh viên.</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28026" y="670377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9804900" y="726586"/>
            <a:ext cx="4459905" cy="5206256"/>
          </a:xfrm>
          <a:custGeom>
            <a:avLst/>
            <a:gdLst/>
            <a:ahLst/>
            <a:cxnLst/>
            <a:rect l="l" t="t" r="r" b="b"/>
            <a:pathLst>
              <a:path w="4459905" h="5206256">
                <a:moveTo>
                  <a:pt x="0" y="0"/>
                </a:moveTo>
                <a:lnTo>
                  <a:pt x="4459905" y="0"/>
                </a:lnTo>
                <a:lnTo>
                  <a:pt x="4459905" y="5206256"/>
                </a:lnTo>
                <a:lnTo>
                  <a:pt x="0" y="5206256"/>
                </a:lnTo>
                <a:lnTo>
                  <a:pt x="0" y="0"/>
                </a:lnTo>
                <a:close/>
              </a:path>
            </a:pathLst>
          </a:custGeom>
          <a:blipFill>
            <a:blip r:embed="rId5"/>
            <a:stretch>
              <a:fillRect/>
            </a:stretch>
          </a:blipFill>
        </p:spPr>
      </p:sp>
      <p:sp>
        <p:nvSpPr>
          <p:cNvPr id="6" name="Freeform 6"/>
          <p:cNvSpPr/>
          <p:nvPr/>
        </p:nvSpPr>
        <p:spPr>
          <a:xfrm>
            <a:off x="446590" y="6703772"/>
            <a:ext cx="8475083" cy="3155468"/>
          </a:xfrm>
          <a:custGeom>
            <a:avLst/>
            <a:gdLst/>
            <a:ahLst/>
            <a:cxnLst/>
            <a:rect l="l" t="t" r="r" b="b"/>
            <a:pathLst>
              <a:path w="8475083" h="3155468">
                <a:moveTo>
                  <a:pt x="0" y="0"/>
                </a:moveTo>
                <a:lnTo>
                  <a:pt x="8475083" y="0"/>
                </a:lnTo>
                <a:lnTo>
                  <a:pt x="8475083" y="3155467"/>
                </a:lnTo>
                <a:lnTo>
                  <a:pt x="0" y="3155467"/>
                </a:lnTo>
                <a:lnTo>
                  <a:pt x="0" y="0"/>
                </a:lnTo>
                <a:close/>
              </a:path>
            </a:pathLst>
          </a:custGeom>
          <a:blipFill>
            <a:blip r:embed="rId6"/>
            <a:stretch>
              <a:fillRect/>
            </a:stretch>
          </a:blipFill>
        </p:spPr>
      </p:sp>
      <p:sp>
        <p:nvSpPr>
          <p:cNvPr id="7" name="TextBox 7"/>
          <p:cNvSpPr txBox="1"/>
          <p:nvPr/>
        </p:nvSpPr>
        <p:spPr>
          <a:xfrm>
            <a:off x="446590" y="281924"/>
            <a:ext cx="16438644" cy="619179"/>
          </a:xfrm>
          <a:prstGeom prst="rect">
            <a:avLst/>
          </a:prstGeom>
        </p:spPr>
        <p:txBody>
          <a:bodyPr lIns="0" tIns="0" rIns="0" bIns="0" rtlCol="0" anchor="t">
            <a:spAutoFit/>
          </a:bodyPr>
          <a:lstStyle/>
          <a:p>
            <a:pPr marL="0" lvl="0" indent="0" algn="l">
              <a:lnSpc>
                <a:spcPts val="4800"/>
              </a:lnSpc>
              <a:spcBef>
                <a:spcPct val="0"/>
              </a:spcBef>
            </a:pPr>
            <a:r>
              <a:rPr lang="en-US" sz="4000" b="1">
                <a:solidFill>
                  <a:srgbClr val="FF9A00"/>
                </a:solidFill>
                <a:latin typeface="Muli Bold"/>
                <a:ea typeface="Muli Bold"/>
                <a:cs typeface="Muli Bold"/>
                <a:sym typeface="Muli Bold"/>
              </a:rPr>
              <a:t>CƠ SỞ DỮ LIỆU</a:t>
            </a:r>
          </a:p>
        </p:txBody>
      </p:sp>
      <p:sp>
        <p:nvSpPr>
          <p:cNvPr id="8" name="TextBox 8"/>
          <p:cNvSpPr txBox="1"/>
          <p:nvPr/>
        </p:nvSpPr>
        <p:spPr>
          <a:xfrm>
            <a:off x="1028700" y="2205022"/>
            <a:ext cx="8218184" cy="2503169"/>
          </a:xfrm>
          <a:prstGeom prst="rect">
            <a:avLst/>
          </a:prstGeom>
        </p:spPr>
        <p:txBody>
          <a:bodyPr lIns="0" tIns="0" rIns="0" bIns="0" rtlCol="0" anchor="t">
            <a:spAutoFit/>
          </a:bodyPr>
          <a:lstStyle/>
          <a:p>
            <a:pPr marL="0" lvl="0" indent="0" algn="l">
              <a:lnSpc>
                <a:spcPts val="3360"/>
              </a:lnSpc>
              <a:spcBef>
                <a:spcPct val="0"/>
              </a:spcBef>
            </a:pPr>
            <a:r>
              <a:rPr lang="en-US" sz="2100">
                <a:solidFill>
                  <a:srgbClr val="FFFFFF"/>
                </a:solidFill>
                <a:latin typeface="DejaVu Serif"/>
                <a:ea typeface="DejaVu Serif"/>
                <a:cs typeface="DejaVu Serif"/>
                <a:sym typeface="DejaVu Serif"/>
              </a:rPr>
              <a:t>      </a:t>
            </a:r>
            <a:r>
              <a:rPr lang="en-US" sz="2100" u="none" strike="noStrike">
                <a:solidFill>
                  <a:srgbClr val="FFFFFF"/>
                </a:solidFill>
                <a:latin typeface="DejaVu Serif"/>
                <a:ea typeface="DejaVu Serif"/>
                <a:cs typeface="DejaVu Serif"/>
                <a:sym typeface="DejaVu Serif"/>
              </a:rPr>
              <a:t>Lưu trữ nội dung gợi ý bài tập được sinh từ thông tin đề bài lấy.</a:t>
            </a:r>
          </a:p>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      Mỗi bài tập chỉ sinh gợi ý một lần và có thể tái sử dụng cho các lần truy cập sau.</a:t>
            </a:r>
          </a:p>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      Được sử dụng làm ngữ cảnh cho các chức năng hỏi đáp và phân tích bài làm.</a:t>
            </a:r>
          </a:p>
        </p:txBody>
      </p:sp>
      <p:sp>
        <p:nvSpPr>
          <p:cNvPr id="9" name="TextBox 9"/>
          <p:cNvSpPr txBox="1"/>
          <p:nvPr/>
        </p:nvSpPr>
        <p:spPr>
          <a:xfrm>
            <a:off x="2604819" y="1556085"/>
            <a:ext cx="4653443" cy="426719"/>
          </a:xfrm>
          <a:prstGeom prst="rect">
            <a:avLst/>
          </a:prstGeom>
        </p:spPr>
        <p:txBody>
          <a:bodyPr lIns="0" tIns="0" rIns="0" bIns="0" rtlCol="0" anchor="t">
            <a:spAutoFit/>
          </a:bodyPr>
          <a:lstStyle/>
          <a:p>
            <a:pPr marL="0" lvl="0" indent="0" algn="ctr">
              <a:lnSpc>
                <a:spcPts val="3450"/>
              </a:lnSpc>
              <a:spcBef>
                <a:spcPct val="0"/>
              </a:spcBef>
            </a:pPr>
            <a:r>
              <a:rPr lang="en-US" sz="2300" b="1">
                <a:solidFill>
                  <a:srgbClr val="17E3B2"/>
                </a:solidFill>
                <a:latin typeface="DejaVu Serif Bold"/>
                <a:ea typeface="DejaVu Serif Bold"/>
                <a:cs typeface="DejaVu Serif Bold"/>
                <a:sym typeface="DejaVu Serif Bold"/>
              </a:rPr>
              <a:t>Collection suggestion</a:t>
            </a:r>
          </a:p>
        </p:txBody>
      </p:sp>
      <p:sp>
        <p:nvSpPr>
          <p:cNvPr id="10" name="TextBox 10"/>
          <p:cNvSpPr txBox="1"/>
          <p:nvPr/>
        </p:nvSpPr>
        <p:spPr>
          <a:xfrm>
            <a:off x="9246884" y="6627572"/>
            <a:ext cx="7721311" cy="426719"/>
          </a:xfrm>
          <a:prstGeom prst="rect">
            <a:avLst/>
          </a:prstGeom>
        </p:spPr>
        <p:txBody>
          <a:bodyPr lIns="0" tIns="0" rIns="0" bIns="0" rtlCol="0" anchor="t">
            <a:spAutoFit/>
          </a:bodyPr>
          <a:lstStyle/>
          <a:p>
            <a:pPr marL="0" lvl="0" indent="0" algn="ctr">
              <a:lnSpc>
                <a:spcPts val="3450"/>
              </a:lnSpc>
              <a:spcBef>
                <a:spcPct val="0"/>
              </a:spcBef>
            </a:pPr>
            <a:r>
              <a:rPr lang="en-US" sz="2300" b="1">
                <a:solidFill>
                  <a:srgbClr val="17E3B2"/>
                </a:solidFill>
                <a:latin typeface="DejaVu Serif Bold"/>
                <a:ea typeface="DejaVu Serif Bold"/>
                <a:cs typeface="DejaVu Serif Bold"/>
                <a:sym typeface="DejaVu Serif Bold"/>
              </a:rPr>
              <a:t>Collection chat_message và conversation</a:t>
            </a:r>
          </a:p>
        </p:txBody>
      </p:sp>
      <p:sp>
        <p:nvSpPr>
          <p:cNvPr id="11" name="TextBox 11"/>
          <p:cNvSpPr txBox="1"/>
          <p:nvPr/>
        </p:nvSpPr>
        <p:spPr>
          <a:xfrm>
            <a:off x="9246884" y="7356071"/>
            <a:ext cx="8218184" cy="1664969"/>
          </a:xfrm>
          <a:prstGeom prst="rect">
            <a:avLst/>
          </a:prstGeom>
        </p:spPr>
        <p:txBody>
          <a:bodyPr lIns="0" tIns="0" rIns="0" bIns="0" rtlCol="0" anchor="t">
            <a:spAutoFit/>
          </a:bodyPr>
          <a:lstStyle/>
          <a:p>
            <a:pPr marL="0" lvl="0" indent="0" algn="l">
              <a:lnSpc>
                <a:spcPts val="3360"/>
              </a:lnSpc>
              <a:spcBef>
                <a:spcPct val="0"/>
              </a:spcBef>
            </a:pPr>
            <a:r>
              <a:rPr lang="en-US" sz="2100">
                <a:solidFill>
                  <a:srgbClr val="FFFFFF"/>
                </a:solidFill>
                <a:latin typeface="DejaVu Serif"/>
                <a:ea typeface="DejaVu Serif"/>
                <a:cs typeface="DejaVu Serif"/>
                <a:sym typeface="DejaVu Serif"/>
              </a:rPr>
              <a:t>      </a:t>
            </a:r>
            <a:r>
              <a:rPr lang="en-US" sz="2100" u="none" strike="noStrike">
                <a:solidFill>
                  <a:srgbClr val="FFFFFF"/>
                </a:solidFill>
                <a:latin typeface="DejaVu Serif"/>
                <a:ea typeface="DejaVu Serif"/>
                <a:cs typeface="DejaVu Serif"/>
                <a:sym typeface="DejaVu Serif"/>
              </a:rPr>
              <a:t>Lưu trữ và quản lý lịch sử trao đổi của người dùng với Chatbot. </a:t>
            </a:r>
          </a:p>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      Hỗ trợ truy xuất và hiển thị lại các cuộc trao đổi tương ứng với từng bài tập và chức năng.</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28026" y="670377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7001606" y="1187899"/>
            <a:ext cx="10942809" cy="8211658"/>
          </a:xfrm>
          <a:custGeom>
            <a:avLst/>
            <a:gdLst/>
            <a:ahLst/>
            <a:cxnLst/>
            <a:rect l="l" t="t" r="r" b="b"/>
            <a:pathLst>
              <a:path w="10942809" h="8211658">
                <a:moveTo>
                  <a:pt x="0" y="0"/>
                </a:moveTo>
                <a:lnTo>
                  <a:pt x="10942809" y="0"/>
                </a:lnTo>
                <a:lnTo>
                  <a:pt x="10942809" y="8211658"/>
                </a:lnTo>
                <a:lnTo>
                  <a:pt x="0" y="8211658"/>
                </a:lnTo>
                <a:lnTo>
                  <a:pt x="0" y="0"/>
                </a:lnTo>
                <a:close/>
              </a:path>
            </a:pathLst>
          </a:custGeom>
          <a:blipFill>
            <a:blip r:embed="rId5"/>
            <a:stretch>
              <a:fillRect/>
            </a:stretch>
          </a:blipFill>
        </p:spPr>
      </p:sp>
      <p:sp>
        <p:nvSpPr>
          <p:cNvPr id="6" name="TextBox 6"/>
          <p:cNvSpPr txBox="1"/>
          <p:nvPr/>
        </p:nvSpPr>
        <p:spPr>
          <a:xfrm>
            <a:off x="446590" y="281924"/>
            <a:ext cx="16438644" cy="619179"/>
          </a:xfrm>
          <a:prstGeom prst="rect">
            <a:avLst/>
          </a:prstGeom>
        </p:spPr>
        <p:txBody>
          <a:bodyPr lIns="0" tIns="0" rIns="0" bIns="0" rtlCol="0" anchor="t">
            <a:spAutoFit/>
          </a:bodyPr>
          <a:lstStyle/>
          <a:p>
            <a:pPr marL="0" lvl="0" indent="0" algn="l">
              <a:lnSpc>
                <a:spcPts val="4800"/>
              </a:lnSpc>
              <a:spcBef>
                <a:spcPct val="0"/>
              </a:spcBef>
            </a:pPr>
            <a:r>
              <a:rPr lang="en-US" sz="4000" b="1">
                <a:solidFill>
                  <a:srgbClr val="FF9A00"/>
                </a:solidFill>
                <a:latin typeface="Muli Bold"/>
                <a:ea typeface="Muli Bold"/>
                <a:cs typeface="Muli Bold"/>
                <a:sym typeface="Muli Bold"/>
              </a:rPr>
              <a:t>CƠ SỞ DỮ LIỆU</a:t>
            </a:r>
          </a:p>
        </p:txBody>
      </p:sp>
      <p:sp>
        <p:nvSpPr>
          <p:cNvPr id="7" name="TextBox 7"/>
          <p:cNvSpPr txBox="1"/>
          <p:nvPr/>
        </p:nvSpPr>
        <p:spPr>
          <a:xfrm>
            <a:off x="354285" y="1952359"/>
            <a:ext cx="6196187" cy="3341369"/>
          </a:xfrm>
          <a:prstGeom prst="rect">
            <a:avLst/>
          </a:prstGeom>
        </p:spPr>
        <p:txBody>
          <a:bodyPr lIns="0" tIns="0" rIns="0" bIns="0" rtlCol="0" anchor="t">
            <a:spAutoFit/>
          </a:bodyPr>
          <a:lstStyle/>
          <a:p>
            <a:pPr marL="0" lvl="0" indent="0" algn="l">
              <a:lnSpc>
                <a:spcPts val="3360"/>
              </a:lnSpc>
              <a:spcBef>
                <a:spcPct val="0"/>
              </a:spcBef>
            </a:pPr>
            <a:r>
              <a:rPr lang="en-US" sz="2100">
                <a:solidFill>
                  <a:srgbClr val="FFFFFF"/>
                </a:solidFill>
                <a:latin typeface="DejaVu Serif"/>
                <a:ea typeface="DejaVu Serif"/>
                <a:cs typeface="DejaVu Serif"/>
                <a:sym typeface="DejaVu Serif"/>
              </a:rPr>
              <a:t>     </a:t>
            </a:r>
            <a:r>
              <a:rPr lang="en-US" sz="2100" u="none" strike="noStrike">
                <a:solidFill>
                  <a:srgbClr val="FFFFFF"/>
                </a:solidFill>
                <a:latin typeface="DejaVu Serif"/>
                <a:ea typeface="DejaVu Serif"/>
                <a:cs typeface="DejaVu Serif"/>
                <a:sym typeface="DejaVu Serif"/>
              </a:rPr>
              <a:t>Lưu kết quả phân tích mã nguồn bài làm. </a:t>
            </a:r>
          </a:p>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     Mỗi tài liệu trong collection tương ứng với một lần phân tích của một sinh viên đối với một bài tập cụ thể.</a:t>
            </a:r>
          </a:p>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     Làm dữ liệu đầu vào chính cho Chatbot hỏi đáp về phân tích bài làm.</a:t>
            </a:r>
          </a:p>
          <a:p>
            <a:pPr marL="0" lvl="0" indent="0" algn="l">
              <a:lnSpc>
                <a:spcPts val="3360"/>
              </a:lnSpc>
              <a:spcBef>
                <a:spcPct val="0"/>
              </a:spcBef>
            </a:pPr>
            <a:r>
              <a:rPr lang="en-US" sz="2100" u="none" strike="noStrike">
                <a:solidFill>
                  <a:srgbClr val="FFFFFF"/>
                </a:solidFill>
                <a:latin typeface="DejaVu Serif"/>
                <a:ea typeface="DejaVu Serif"/>
                <a:cs typeface="DejaVu Serif"/>
                <a:sym typeface="DejaVu Serif"/>
              </a:rPr>
              <a:t>     Giúp tránh phân tích lại nếu bài đã nộp không có thay đổi.</a:t>
            </a:r>
          </a:p>
        </p:txBody>
      </p:sp>
      <p:sp>
        <p:nvSpPr>
          <p:cNvPr id="8" name="TextBox 8"/>
          <p:cNvSpPr txBox="1"/>
          <p:nvPr/>
        </p:nvSpPr>
        <p:spPr>
          <a:xfrm>
            <a:off x="1028700" y="1396066"/>
            <a:ext cx="4653443" cy="426719"/>
          </a:xfrm>
          <a:prstGeom prst="rect">
            <a:avLst/>
          </a:prstGeom>
        </p:spPr>
        <p:txBody>
          <a:bodyPr lIns="0" tIns="0" rIns="0" bIns="0" rtlCol="0" anchor="t">
            <a:spAutoFit/>
          </a:bodyPr>
          <a:lstStyle/>
          <a:p>
            <a:pPr marL="0" lvl="0" indent="0" algn="ctr">
              <a:lnSpc>
                <a:spcPts val="3450"/>
              </a:lnSpc>
              <a:spcBef>
                <a:spcPct val="0"/>
              </a:spcBef>
            </a:pPr>
            <a:r>
              <a:rPr lang="en-US" sz="2300" b="1">
                <a:solidFill>
                  <a:srgbClr val="17E3B2"/>
                </a:solidFill>
                <a:latin typeface="DejaVu Serif Bold"/>
                <a:ea typeface="DejaVu Serif Bold"/>
                <a:cs typeface="DejaVu Serif Bold"/>
                <a:sym typeface="DejaVu Serif Bold"/>
              </a:rPr>
              <a:t>Collection analysis_codes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28026" y="670377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9144000" y="1313607"/>
            <a:ext cx="8636201" cy="8229600"/>
          </a:xfrm>
          <a:custGeom>
            <a:avLst/>
            <a:gdLst/>
            <a:ahLst/>
            <a:cxnLst/>
            <a:rect l="l" t="t" r="r" b="b"/>
            <a:pathLst>
              <a:path w="8636201" h="8229600">
                <a:moveTo>
                  <a:pt x="0" y="0"/>
                </a:moveTo>
                <a:lnTo>
                  <a:pt x="8636201" y="0"/>
                </a:lnTo>
                <a:lnTo>
                  <a:pt x="8636201" y="8229600"/>
                </a:lnTo>
                <a:lnTo>
                  <a:pt x="0" y="8229600"/>
                </a:lnTo>
                <a:lnTo>
                  <a:pt x="0" y="0"/>
                </a:lnTo>
                <a:close/>
              </a:path>
            </a:pathLst>
          </a:custGeom>
          <a:blipFill>
            <a:blip r:embed="rId5"/>
            <a:stretch>
              <a:fillRect/>
            </a:stretch>
          </a:blipFill>
        </p:spPr>
      </p:sp>
      <p:sp>
        <p:nvSpPr>
          <p:cNvPr id="6" name="TextBox 6"/>
          <p:cNvSpPr txBox="1"/>
          <p:nvPr/>
        </p:nvSpPr>
        <p:spPr>
          <a:xfrm>
            <a:off x="446590" y="300974"/>
            <a:ext cx="16438644" cy="504825"/>
          </a:xfrm>
          <a:prstGeom prst="rect">
            <a:avLst/>
          </a:prstGeom>
        </p:spPr>
        <p:txBody>
          <a:bodyPr lIns="0" tIns="0" rIns="0" bIns="0" rtlCol="0" anchor="t">
            <a:spAutoFit/>
          </a:bodyPr>
          <a:lstStyle/>
          <a:p>
            <a:pPr marL="0" lvl="0" indent="0" algn="l">
              <a:lnSpc>
                <a:spcPts val="4080"/>
              </a:lnSpc>
              <a:spcBef>
                <a:spcPct val="0"/>
              </a:spcBef>
            </a:pPr>
            <a:r>
              <a:rPr lang="en-US" sz="3400" b="1">
                <a:solidFill>
                  <a:srgbClr val="FF9A00"/>
                </a:solidFill>
                <a:latin typeface="Muli Bold"/>
                <a:ea typeface="Muli Bold"/>
                <a:cs typeface="Muli Bold"/>
                <a:sym typeface="Muli Bold"/>
              </a:rPr>
              <a:t>XÂY DỰNG PROMPT CHỨC NĂNG GỢI Ý BÀI TẬP</a:t>
            </a:r>
          </a:p>
        </p:txBody>
      </p:sp>
      <p:sp>
        <p:nvSpPr>
          <p:cNvPr id="7" name="TextBox 7"/>
          <p:cNvSpPr txBox="1"/>
          <p:nvPr/>
        </p:nvSpPr>
        <p:spPr>
          <a:xfrm>
            <a:off x="446590" y="1764411"/>
            <a:ext cx="8345209" cy="381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1/ </a:t>
            </a:r>
            <a:r>
              <a:rPr lang="en-US" sz="2000" u="none" strike="noStrike">
                <a:solidFill>
                  <a:srgbClr val="FFFFFF"/>
                </a:solidFill>
                <a:latin typeface="DejaVu Serif"/>
                <a:ea typeface="DejaVu Serif"/>
                <a:cs typeface="DejaVu Serif"/>
                <a:sym typeface="DejaVu Serif"/>
              </a:rPr>
              <a:t>Thu thập thông tin bài tập từ Moodle Web Service API.</a:t>
            </a:r>
          </a:p>
        </p:txBody>
      </p:sp>
      <p:sp>
        <p:nvSpPr>
          <p:cNvPr id="8" name="TextBox 8"/>
          <p:cNvSpPr txBox="1"/>
          <p:nvPr/>
        </p:nvSpPr>
        <p:spPr>
          <a:xfrm>
            <a:off x="446590" y="2665400"/>
            <a:ext cx="8345209" cy="381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2/ </a:t>
            </a:r>
            <a:r>
              <a:rPr lang="en-US" sz="2000" u="none" strike="noStrike">
                <a:solidFill>
                  <a:srgbClr val="FFFFFF"/>
                </a:solidFill>
                <a:latin typeface="DejaVu Serif"/>
                <a:ea typeface="DejaVu Serif"/>
                <a:cs typeface="DejaVu Serif"/>
                <a:sym typeface="DejaVu Serif"/>
              </a:rPr>
              <a:t>Lọc và chuẩn hóa dữ liệu cần thiết.</a:t>
            </a:r>
          </a:p>
        </p:txBody>
      </p:sp>
      <p:sp>
        <p:nvSpPr>
          <p:cNvPr id="9" name="TextBox 9"/>
          <p:cNvSpPr txBox="1"/>
          <p:nvPr/>
        </p:nvSpPr>
        <p:spPr>
          <a:xfrm>
            <a:off x="446590" y="3547339"/>
            <a:ext cx="8345209" cy="793804"/>
          </a:xfrm>
          <a:prstGeom prst="rect">
            <a:avLst/>
          </a:prstGeom>
        </p:spPr>
        <p:txBody>
          <a:bodyPr lIns="0" tIns="0" rIns="0" bIns="0" rtlCol="0" anchor="t">
            <a:spAutoFit/>
          </a:bodyPr>
          <a:lstStyle/>
          <a:p>
            <a:pPr algn="l">
              <a:lnSpc>
                <a:spcPts val="3200"/>
              </a:lnSpc>
              <a:spcBef>
                <a:spcPct val="0"/>
              </a:spcBef>
            </a:pPr>
            <a:r>
              <a:rPr lang="en-US" sz="2000">
                <a:solidFill>
                  <a:srgbClr val="FFFFFF"/>
                </a:solidFill>
                <a:latin typeface="DejaVu Serif"/>
                <a:ea typeface="DejaVu Serif"/>
                <a:cs typeface="DejaVu Serif"/>
                <a:sym typeface="DejaVu Serif"/>
              </a:rPr>
              <a:t>3/ Có được ngữ cảnh bài tập kết hợp với System Prompt được thiết kế sẳn.</a:t>
            </a:r>
          </a:p>
        </p:txBody>
      </p:sp>
      <p:sp>
        <p:nvSpPr>
          <p:cNvPr id="10" name="TextBox 10"/>
          <p:cNvSpPr txBox="1"/>
          <p:nvPr/>
        </p:nvSpPr>
        <p:spPr>
          <a:xfrm>
            <a:off x="446590" y="4842083"/>
            <a:ext cx="8345209" cy="793804"/>
          </a:xfrm>
          <a:prstGeom prst="rect">
            <a:avLst/>
          </a:prstGeom>
        </p:spPr>
        <p:txBody>
          <a:bodyPr lIns="0" tIns="0" rIns="0" bIns="0" rtlCol="0" anchor="t">
            <a:spAutoFit/>
          </a:bodyPr>
          <a:lstStyle/>
          <a:p>
            <a:pPr algn="l">
              <a:lnSpc>
                <a:spcPts val="3200"/>
              </a:lnSpc>
              <a:spcBef>
                <a:spcPct val="0"/>
              </a:spcBef>
            </a:pPr>
            <a:r>
              <a:rPr lang="en-US" sz="2000">
                <a:solidFill>
                  <a:srgbClr val="FFFFFF"/>
                </a:solidFill>
                <a:latin typeface="DejaVu Serif"/>
                <a:ea typeface="DejaVu Serif"/>
                <a:cs typeface="DejaVu Serif"/>
                <a:sym typeface="DejaVu Serif"/>
              </a:rPr>
              <a:t>4/ Prompt hoàn chỉnh gửi đến mô hình GPT-5.4 mini thông qua ChatClient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28026" y="670377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9341025" y="1281109"/>
            <a:ext cx="8434142" cy="7492330"/>
          </a:xfrm>
          <a:custGeom>
            <a:avLst/>
            <a:gdLst/>
            <a:ahLst/>
            <a:cxnLst/>
            <a:rect l="l" t="t" r="r" b="b"/>
            <a:pathLst>
              <a:path w="8434142" h="7492330">
                <a:moveTo>
                  <a:pt x="0" y="0"/>
                </a:moveTo>
                <a:lnTo>
                  <a:pt x="8434143" y="0"/>
                </a:lnTo>
                <a:lnTo>
                  <a:pt x="8434143" y="7492329"/>
                </a:lnTo>
                <a:lnTo>
                  <a:pt x="0" y="7492329"/>
                </a:lnTo>
                <a:lnTo>
                  <a:pt x="0" y="0"/>
                </a:lnTo>
                <a:close/>
              </a:path>
            </a:pathLst>
          </a:custGeom>
          <a:blipFill>
            <a:blip r:embed="rId5"/>
            <a:stretch>
              <a:fillRect/>
            </a:stretch>
          </a:blipFill>
        </p:spPr>
      </p:sp>
      <p:sp>
        <p:nvSpPr>
          <p:cNvPr id="6" name="TextBox 6"/>
          <p:cNvSpPr txBox="1"/>
          <p:nvPr/>
        </p:nvSpPr>
        <p:spPr>
          <a:xfrm>
            <a:off x="446590" y="300974"/>
            <a:ext cx="16438644" cy="504879"/>
          </a:xfrm>
          <a:prstGeom prst="rect">
            <a:avLst/>
          </a:prstGeom>
        </p:spPr>
        <p:txBody>
          <a:bodyPr lIns="0" tIns="0" rIns="0" bIns="0" rtlCol="0" anchor="t">
            <a:spAutoFit/>
          </a:bodyPr>
          <a:lstStyle/>
          <a:p>
            <a:pPr marL="0" lvl="0" indent="0" algn="l">
              <a:lnSpc>
                <a:spcPts val="4080"/>
              </a:lnSpc>
              <a:spcBef>
                <a:spcPct val="0"/>
              </a:spcBef>
            </a:pPr>
            <a:r>
              <a:rPr lang="en-US" sz="3400" b="1">
                <a:solidFill>
                  <a:srgbClr val="FF9A00"/>
                </a:solidFill>
                <a:latin typeface="Muli Bold"/>
                <a:ea typeface="Muli Bold"/>
                <a:cs typeface="Muli Bold"/>
                <a:sym typeface="Muli Bold"/>
              </a:rPr>
              <a:t>XÂY DỰNG PROMPT CHỨC NĂNG HỎI ĐÁP HƯỚNG DẪN THỰC HÀNH</a:t>
            </a:r>
          </a:p>
        </p:txBody>
      </p:sp>
      <p:sp>
        <p:nvSpPr>
          <p:cNvPr id="7" name="TextBox 7"/>
          <p:cNvSpPr txBox="1"/>
          <p:nvPr/>
        </p:nvSpPr>
        <p:spPr>
          <a:xfrm>
            <a:off x="446590" y="1764411"/>
            <a:ext cx="8345209" cy="762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1/ </a:t>
            </a:r>
            <a:r>
              <a:rPr lang="en-US" sz="2000" u="none" strike="noStrike">
                <a:solidFill>
                  <a:srgbClr val="FFFFFF"/>
                </a:solidFill>
                <a:latin typeface="DejaVu Serif"/>
                <a:ea typeface="DejaVu Serif"/>
                <a:cs typeface="DejaVu Serif"/>
                <a:sym typeface="DejaVu Serif"/>
              </a:rPr>
              <a:t>Truy xuất từ MongoDB để lấy gợi ý bài tập trước đó làm ngữ cảnh</a:t>
            </a:r>
          </a:p>
        </p:txBody>
      </p:sp>
      <p:sp>
        <p:nvSpPr>
          <p:cNvPr id="8" name="TextBox 8"/>
          <p:cNvSpPr txBox="1"/>
          <p:nvPr/>
        </p:nvSpPr>
        <p:spPr>
          <a:xfrm>
            <a:off x="446590" y="2919400"/>
            <a:ext cx="8345209" cy="381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2/ Kết hợp ngữ cảnh với System Prompt được thiết kế sẳn</a:t>
            </a:r>
            <a:r>
              <a:rPr lang="en-US" sz="2000" u="none" strike="noStrike">
                <a:solidFill>
                  <a:srgbClr val="FFFFFF"/>
                </a:solidFill>
                <a:latin typeface="DejaVu Serif"/>
                <a:ea typeface="DejaVu Serif"/>
                <a:cs typeface="DejaVu Serif"/>
                <a:sym typeface="DejaVu Serif"/>
              </a:rPr>
              <a:t>.</a:t>
            </a:r>
          </a:p>
        </p:txBody>
      </p:sp>
      <p:sp>
        <p:nvSpPr>
          <p:cNvPr id="9" name="TextBox 9"/>
          <p:cNvSpPr txBox="1"/>
          <p:nvPr/>
        </p:nvSpPr>
        <p:spPr>
          <a:xfrm>
            <a:off x="446590" y="3674339"/>
            <a:ext cx="8345209" cy="793804"/>
          </a:xfrm>
          <a:prstGeom prst="rect">
            <a:avLst/>
          </a:prstGeom>
        </p:spPr>
        <p:txBody>
          <a:bodyPr lIns="0" tIns="0" rIns="0" bIns="0" rtlCol="0" anchor="t">
            <a:spAutoFit/>
          </a:bodyPr>
          <a:lstStyle/>
          <a:p>
            <a:pPr algn="l">
              <a:lnSpc>
                <a:spcPts val="3200"/>
              </a:lnSpc>
              <a:spcBef>
                <a:spcPct val="0"/>
              </a:spcBef>
            </a:pPr>
            <a:r>
              <a:rPr lang="en-US" sz="2000">
                <a:solidFill>
                  <a:srgbClr val="FFFFFF"/>
                </a:solidFill>
                <a:latin typeface="DejaVu Serif"/>
                <a:ea typeface="DejaVu Serif"/>
                <a:cs typeface="DejaVu Serif"/>
                <a:sym typeface="DejaVu Serif"/>
              </a:rPr>
              <a:t>3/ Kết hợp System Prompt và tin nhắn sinh viên để tạo Prompt hoàn chỉnh</a:t>
            </a:r>
          </a:p>
        </p:txBody>
      </p:sp>
      <p:sp>
        <p:nvSpPr>
          <p:cNvPr id="10" name="TextBox 10"/>
          <p:cNvSpPr txBox="1"/>
          <p:nvPr/>
        </p:nvSpPr>
        <p:spPr>
          <a:xfrm>
            <a:off x="446590" y="4842083"/>
            <a:ext cx="8345209" cy="793804"/>
          </a:xfrm>
          <a:prstGeom prst="rect">
            <a:avLst/>
          </a:prstGeom>
        </p:spPr>
        <p:txBody>
          <a:bodyPr lIns="0" tIns="0" rIns="0" bIns="0" rtlCol="0" anchor="t">
            <a:spAutoFit/>
          </a:bodyPr>
          <a:lstStyle/>
          <a:p>
            <a:pPr algn="l">
              <a:lnSpc>
                <a:spcPts val="3200"/>
              </a:lnSpc>
              <a:spcBef>
                <a:spcPct val="0"/>
              </a:spcBef>
            </a:pPr>
            <a:r>
              <a:rPr lang="en-US" sz="2000">
                <a:solidFill>
                  <a:srgbClr val="FFFFFF"/>
                </a:solidFill>
                <a:latin typeface="DejaVu Serif"/>
                <a:ea typeface="DejaVu Serif"/>
                <a:cs typeface="DejaVu Serif"/>
                <a:sym typeface="DejaVu Serif"/>
              </a:rPr>
              <a:t>4/ ChatClient gửi Prompt cùng với Chat Memory (lịch sử hội thoại gần nhất) đến mô hình GPT-5.4 mini.</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28026" y="670377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9144000" y="1712100"/>
            <a:ext cx="8835543" cy="6535682"/>
          </a:xfrm>
          <a:custGeom>
            <a:avLst/>
            <a:gdLst/>
            <a:ahLst/>
            <a:cxnLst/>
            <a:rect l="l" t="t" r="r" b="b"/>
            <a:pathLst>
              <a:path w="8835543" h="6535682">
                <a:moveTo>
                  <a:pt x="0" y="0"/>
                </a:moveTo>
                <a:lnTo>
                  <a:pt x="8835543" y="0"/>
                </a:lnTo>
                <a:lnTo>
                  <a:pt x="8835543" y="6535681"/>
                </a:lnTo>
                <a:lnTo>
                  <a:pt x="0" y="6535681"/>
                </a:lnTo>
                <a:lnTo>
                  <a:pt x="0" y="0"/>
                </a:lnTo>
                <a:close/>
              </a:path>
            </a:pathLst>
          </a:custGeom>
          <a:blipFill>
            <a:blip r:embed="rId5"/>
            <a:stretch>
              <a:fillRect/>
            </a:stretch>
          </a:blipFill>
        </p:spPr>
      </p:sp>
      <p:sp>
        <p:nvSpPr>
          <p:cNvPr id="6" name="TextBox 6"/>
          <p:cNvSpPr txBox="1"/>
          <p:nvPr/>
        </p:nvSpPr>
        <p:spPr>
          <a:xfrm>
            <a:off x="446590" y="300974"/>
            <a:ext cx="16438644" cy="504879"/>
          </a:xfrm>
          <a:prstGeom prst="rect">
            <a:avLst/>
          </a:prstGeom>
        </p:spPr>
        <p:txBody>
          <a:bodyPr lIns="0" tIns="0" rIns="0" bIns="0" rtlCol="0" anchor="t">
            <a:spAutoFit/>
          </a:bodyPr>
          <a:lstStyle/>
          <a:p>
            <a:pPr marL="0" lvl="0" indent="0" algn="l">
              <a:lnSpc>
                <a:spcPts val="4080"/>
              </a:lnSpc>
              <a:spcBef>
                <a:spcPct val="0"/>
              </a:spcBef>
            </a:pPr>
            <a:r>
              <a:rPr lang="en-US" sz="3400" b="1">
                <a:solidFill>
                  <a:srgbClr val="FF9A00"/>
                </a:solidFill>
                <a:latin typeface="Muli Bold"/>
                <a:ea typeface="Muli Bold"/>
                <a:cs typeface="Muli Bold"/>
                <a:sym typeface="Muli Bold"/>
              </a:rPr>
              <a:t>XÂY DỰNG PROMPT CHỨC NĂNG PHÂN TÍCH BÀI LÀM</a:t>
            </a:r>
          </a:p>
        </p:txBody>
      </p:sp>
      <p:sp>
        <p:nvSpPr>
          <p:cNvPr id="7" name="TextBox 7"/>
          <p:cNvSpPr txBox="1"/>
          <p:nvPr/>
        </p:nvSpPr>
        <p:spPr>
          <a:xfrm>
            <a:off x="446590" y="1764411"/>
            <a:ext cx="8345209" cy="762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1/ </a:t>
            </a:r>
            <a:r>
              <a:rPr lang="en-US" sz="2000" u="none" strike="noStrike">
                <a:solidFill>
                  <a:srgbClr val="FFFFFF"/>
                </a:solidFill>
                <a:latin typeface="DejaVu Serif"/>
                <a:ea typeface="DejaVu Serif"/>
                <a:cs typeface="DejaVu Serif"/>
                <a:sym typeface="DejaVu Serif"/>
              </a:rPr>
              <a:t>Thu thập thông tin bài tập và mã nguồn bài làm của sinh viên từ Moodle Web Service API.</a:t>
            </a:r>
          </a:p>
        </p:txBody>
      </p:sp>
      <p:sp>
        <p:nvSpPr>
          <p:cNvPr id="8" name="TextBox 8"/>
          <p:cNvSpPr txBox="1"/>
          <p:nvPr/>
        </p:nvSpPr>
        <p:spPr>
          <a:xfrm>
            <a:off x="446590" y="2750227"/>
            <a:ext cx="8345209" cy="381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2/ </a:t>
            </a:r>
            <a:r>
              <a:rPr lang="en-US" sz="2000" u="none" strike="noStrike">
                <a:solidFill>
                  <a:srgbClr val="FFFFFF"/>
                </a:solidFill>
                <a:latin typeface="DejaVu Serif"/>
                <a:ea typeface="DejaVu Serif"/>
                <a:cs typeface="DejaVu Serif"/>
                <a:sym typeface="DejaVu Serif"/>
              </a:rPr>
              <a:t>Lọc và chuẩn hóa dữ liệu cần thiết.</a:t>
            </a:r>
          </a:p>
        </p:txBody>
      </p:sp>
      <p:sp>
        <p:nvSpPr>
          <p:cNvPr id="9" name="TextBox 9"/>
          <p:cNvSpPr txBox="1"/>
          <p:nvPr/>
        </p:nvSpPr>
        <p:spPr>
          <a:xfrm>
            <a:off x="446590" y="4321810"/>
            <a:ext cx="8345209" cy="793804"/>
          </a:xfrm>
          <a:prstGeom prst="rect">
            <a:avLst/>
          </a:prstGeom>
        </p:spPr>
        <p:txBody>
          <a:bodyPr lIns="0" tIns="0" rIns="0" bIns="0" rtlCol="0" anchor="t">
            <a:spAutoFit/>
          </a:bodyPr>
          <a:lstStyle/>
          <a:p>
            <a:pPr algn="l">
              <a:lnSpc>
                <a:spcPts val="3200"/>
              </a:lnSpc>
              <a:spcBef>
                <a:spcPct val="0"/>
              </a:spcBef>
            </a:pPr>
            <a:r>
              <a:rPr lang="en-US" sz="2000">
                <a:solidFill>
                  <a:srgbClr val="FFFFFF"/>
                </a:solidFill>
                <a:latin typeface="DejaVu Serif"/>
                <a:ea typeface="DejaVu Serif"/>
                <a:cs typeface="DejaVu Serif"/>
                <a:sym typeface="DejaVu Serif"/>
              </a:rPr>
              <a:t>4/ Có được ngữ cảnh bài tập, gợi ý và mã nguồn kết hợp với System Prompt được thiết kế sẳn.</a:t>
            </a:r>
          </a:p>
        </p:txBody>
      </p:sp>
      <p:sp>
        <p:nvSpPr>
          <p:cNvPr id="10" name="TextBox 10"/>
          <p:cNvSpPr txBox="1"/>
          <p:nvPr/>
        </p:nvSpPr>
        <p:spPr>
          <a:xfrm>
            <a:off x="446590" y="5320380"/>
            <a:ext cx="8345209" cy="793804"/>
          </a:xfrm>
          <a:prstGeom prst="rect">
            <a:avLst/>
          </a:prstGeom>
        </p:spPr>
        <p:txBody>
          <a:bodyPr lIns="0" tIns="0" rIns="0" bIns="0" rtlCol="0" anchor="t">
            <a:spAutoFit/>
          </a:bodyPr>
          <a:lstStyle/>
          <a:p>
            <a:pPr algn="l">
              <a:lnSpc>
                <a:spcPts val="3200"/>
              </a:lnSpc>
              <a:spcBef>
                <a:spcPct val="0"/>
              </a:spcBef>
            </a:pPr>
            <a:r>
              <a:rPr lang="en-US" sz="2000">
                <a:solidFill>
                  <a:srgbClr val="FFFFFF"/>
                </a:solidFill>
                <a:latin typeface="DejaVu Serif"/>
                <a:ea typeface="DejaVu Serif"/>
                <a:cs typeface="DejaVu Serif"/>
                <a:sym typeface="DejaVu Serif"/>
              </a:rPr>
              <a:t>5/ Prompt hoàn chỉnh gửi đến mô hình GPT-5.4 mini thông qua ChatClient</a:t>
            </a:r>
          </a:p>
        </p:txBody>
      </p:sp>
      <p:sp>
        <p:nvSpPr>
          <p:cNvPr id="11" name="TextBox 11"/>
          <p:cNvSpPr txBox="1"/>
          <p:nvPr/>
        </p:nvSpPr>
        <p:spPr>
          <a:xfrm>
            <a:off x="446590" y="3355043"/>
            <a:ext cx="8345209" cy="762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3/ </a:t>
            </a:r>
            <a:r>
              <a:rPr lang="en-US" sz="2000" u="none" strike="noStrike">
                <a:solidFill>
                  <a:srgbClr val="FFFFFF"/>
                </a:solidFill>
                <a:latin typeface="DejaVu Serif"/>
                <a:ea typeface="DejaVu Serif"/>
                <a:cs typeface="DejaVu Serif"/>
                <a:sym typeface="DejaVu Serif"/>
              </a:rPr>
              <a:t>Truy xuất từ MongoDB để lấy gợi ý bài tập trước đó làm ngữ cảnh</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28026" y="670377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Freeform 5"/>
          <p:cNvSpPr/>
          <p:nvPr/>
        </p:nvSpPr>
        <p:spPr>
          <a:xfrm>
            <a:off x="6448205" y="1481521"/>
            <a:ext cx="11475199" cy="7675339"/>
          </a:xfrm>
          <a:custGeom>
            <a:avLst/>
            <a:gdLst/>
            <a:ahLst/>
            <a:cxnLst/>
            <a:rect l="l" t="t" r="r" b="b"/>
            <a:pathLst>
              <a:path w="11475199" h="7675339">
                <a:moveTo>
                  <a:pt x="0" y="0"/>
                </a:moveTo>
                <a:lnTo>
                  <a:pt x="11475199" y="0"/>
                </a:lnTo>
                <a:lnTo>
                  <a:pt x="11475199" y="7675339"/>
                </a:lnTo>
                <a:lnTo>
                  <a:pt x="0" y="7675339"/>
                </a:lnTo>
                <a:lnTo>
                  <a:pt x="0" y="0"/>
                </a:lnTo>
                <a:close/>
              </a:path>
            </a:pathLst>
          </a:custGeom>
          <a:blipFill>
            <a:blip r:embed="rId5"/>
            <a:stretch>
              <a:fillRect/>
            </a:stretch>
          </a:blipFill>
        </p:spPr>
      </p:sp>
      <p:sp>
        <p:nvSpPr>
          <p:cNvPr id="6" name="TextBox 6"/>
          <p:cNvSpPr txBox="1"/>
          <p:nvPr/>
        </p:nvSpPr>
        <p:spPr>
          <a:xfrm>
            <a:off x="446590" y="300974"/>
            <a:ext cx="16438644" cy="504879"/>
          </a:xfrm>
          <a:prstGeom prst="rect">
            <a:avLst/>
          </a:prstGeom>
        </p:spPr>
        <p:txBody>
          <a:bodyPr lIns="0" tIns="0" rIns="0" bIns="0" rtlCol="0" anchor="t">
            <a:spAutoFit/>
          </a:bodyPr>
          <a:lstStyle/>
          <a:p>
            <a:pPr marL="0" lvl="0" indent="0" algn="l">
              <a:lnSpc>
                <a:spcPts val="4080"/>
              </a:lnSpc>
              <a:spcBef>
                <a:spcPct val="0"/>
              </a:spcBef>
            </a:pPr>
            <a:r>
              <a:rPr lang="en-US" sz="3400" b="1">
                <a:solidFill>
                  <a:srgbClr val="FF9A00"/>
                </a:solidFill>
                <a:latin typeface="Muli Bold"/>
                <a:ea typeface="Muli Bold"/>
                <a:cs typeface="Muli Bold"/>
                <a:sym typeface="Muli Bold"/>
              </a:rPr>
              <a:t>XÂY DỰNG PROMPT CHỨC NĂNG HỎI ĐÁP VỀ KẾT QUẢ PHÂN TÍCH BÀI LÀM</a:t>
            </a:r>
          </a:p>
        </p:txBody>
      </p:sp>
      <p:sp>
        <p:nvSpPr>
          <p:cNvPr id="7" name="TextBox 7"/>
          <p:cNvSpPr txBox="1"/>
          <p:nvPr/>
        </p:nvSpPr>
        <p:spPr>
          <a:xfrm>
            <a:off x="446590" y="1405321"/>
            <a:ext cx="5582078" cy="762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1/ </a:t>
            </a:r>
            <a:r>
              <a:rPr lang="en-US" sz="2000" u="none" strike="noStrike">
                <a:solidFill>
                  <a:srgbClr val="FFFFFF"/>
                </a:solidFill>
                <a:latin typeface="DejaVu Serif"/>
                <a:ea typeface="DejaVu Serif"/>
                <a:cs typeface="DejaVu Serif"/>
                <a:sym typeface="DejaVu Serif"/>
              </a:rPr>
              <a:t>Thu thập thông tin bài tập từ Moodle Web Service API.</a:t>
            </a:r>
          </a:p>
        </p:txBody>
      </p:sp>
      <p:sp>
        <p:nvSpPr>
          <p:cNvPr id="8" name="TextBox 8"/>
          <p:cNvSpPr txBox="1"/>
          <p:nvPr/>
        </p:nvSpPr>
        <p:spPr>
          <a:xfrm>
            <a:off x="446590" y="2334868"/>
            <a:ext cx="5582078" cy="762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2/ </a:t>
            </a:r>
            <a:r>
              <a:rPr lang="en-US" sz="2000" u="none" strike="noStrike">
                <a:solidFill>
                  <a:srgbClr val="FFFFFF"/>
                </a:solidFill>
                <a:latin typeface="DejaVu Serif"/>
                <a:ea typeface="DejaVu Serif"/>
                <a:cs typeface="DejaVu Serif"/>
                <a:sym typeface="DejaVu Serif"/>
              </a:rPr>
              <a:t>Lọc và chuẩn hóa dữ liệu cần thiết, để có được ngữ cảnh bài tập.</a:t>
            </a:r>
          </a:p>
        </p:txBody>
      </p:sp>
      <p:sp>
        <p:nvSpPr>
          <p:cNvPr id="9" name="TextBox 9"/>
          <p:cNvSpPr txBox="1"/>
          <p:nvPr/>
        </p:nvSpPr>
        <p:spPr>
          <a:xfrm>
            <a:off x="446590" y="7177007"/>
            <a:ext cx="5582078" cy="793804"/>
          </a:xfrm>
          <a:prstGeom prst="rect">
            <a:avLst/>
          </a:prstGeom>
        </p:spPr>
        <p:txBody>
          <a:bodyPr lIns="0" tIns="0" rIns="0" bIns="0" rtlCol="0" anchor="t">
            <a:spAutoFit/>
          </a:bodyPr>
          <a:lstStyle/>
          <a:p>
            <a:pPr algn="l">
              <a:lnSpc>
                <a:spcPts val="3200"/>
              </a:lnSpc>
              <a:spcBef>
                <a:spcPct val="0"/>
              </a:spcBef>
            </a:pPr>
            <a:r>
              <a:rPr lang="en-US" sz="2000">
                <a:solidFill>
                  <a:srgbClr val="FFFFFF"/>
                </a:solidFill>
                <a:latin typeface="DejaVu Serif"/>
                <a:ea typeface="DejaVu Serif"/>
                <a:cs typeface="DejaVu Serif"/>
                <a:sym typeface="DejaVu Serif"/>
              </a:rPr>
              <a:t>6/ Có được các ngữ cảnh cần thiết kết hợp với System Prompt được thiết kế sẳn.</a:t>
            </a:r>
          </a:p>
        </p:txBody>
      </p:sp>
      <p:sp>
        <p:nvSpPr>
          <p:cNvPr id="10" name="TextBox 10"/>
          <p:cNvSpPr txBox="1"/>
          <p:nvPr/>
        </p:nvSpPr>
        <p:spPr>
          <a:xfrm>
            <a:off x="446590" y="9061610"/>
            <a:ext cx="5582078" cy="793804"/>
          </a:xfrm>
          <a:prstGeom prst="rect">
            <a:avLst/>
          </a:prstGeom>
        </p:spPr>
        <p:txBody>
          <a:bodyPr lIns="0" tIns="0" rIns="0" bIns="0" rtlCol="0" anchor="t">
            <a:spAutoFit/>
          </a:bodyPr>
          <a:lstStyle/>
          <a:p>
            <a:pPr algn="l">
              <a:lnSpc>
                <a:spcPts val="3200"/>
              </a:lnSpc>
              <a:spcBef>
                <a:spcPct val="0"/>
              </a:spcBef>
            </a:pPr>
            <a:r>
              <a:rPr lang="en-US" sz="2000">
                <a:solidFill>
                  <a:srgbClr val="FFFFFF"/>
                </a:solidFill>
                <a:latin typeface="DejaVu Serif"/>
                <a:ea typeface="DejaVu Serif"/>
                <a:cs typeface="DejaVu Serif"/>
                <a:sym typeface="DejaVu Serif"/>
              </a:rPr>
              <a:t>8/ ChatClient gửi Prompt cùng với Chat Memory đến mô hình GPT-5.4 mini.</a:t>
            </a:r>
          </a:p>
        </p:txBody>
      </p:sp>
      <p:sp>
        <p:nvSpPr>
          <p:cNvPr id="11" name="TextBox 11"/>
          <p:cNvSpPr txBox="1"/>
          <p:nvPr/>
        </p:nvSpPr>
        <p:spPr>
          <a:xfrm>
            <a:off x="446590" y="3264416"/>
            <a:ext cx="5582078" cy="1143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3/ </a:t>
            </a:r>
            <a:r>
              <a:rPr lang="en-US" sz="2000" u="none" strike="noStrike">
                <a:solidFill>
                  <a:srgbClr val="FFFFFF"/>
                </a:solidFill>
                <a:latin typeface="DejaVu Serif"/>
                <a:ea typeface="DejaVu Serif"/>
                <a:cs typeface="DejaVu Serif"/>
                <a:sym typeface="DejaVu Serif"/>
              </a:rPr>
              <a:t>Truy xuất từ MongoDB để lấy nội dung gợi ý bài tập và kết quả phân tích bài làm trước đó làm ngữ cảnh.</a:t>
            </a:r>
          </a:p>
        </p:txBody>
      </p:sp>
      <p:sp>
        <p:nvSpPr>
          <p:cNvPr id="12" name="TextBox 12"/>
          <p:cNvSpPr txBox="1"/>
          <p:nvPr/>
        </p:nvSpPr>
        <p:spPr>
          <a:xfrm>
            <a:off x="446590" y="4574963"/>
            <a:ext cx="5582078" cy="1143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4/ </a:t>
            </a:r>
            <a:r>
              <a:rPr lang="en-US" sz="2000" u="none" strike="noStrike">
                <a:solidFill>
                  <a:srgbClr val="FFFFFF"/>
                </a:solidFill>
                <a:latin typeface="DejaVu Serif"/>
                <a:ea typeface="DejaVu Serif"/>
                <a:cs typeface="DejaVu Serif"/>
                <a:sym typeface="DejaVu Serif"/>
              </a:rPr>
              <a:t>Đánh giá câu hỏi của sinh viên để xác định có cần sử dụng mã nguồn bài nộp hay không.</a:t>
            </a:r>
          </a:p>
        </p:txBody>
      </p:sp>
      <p:sp>
        <p:nvSpPr>
          <p:cNvPr id="13" name="TextBox 13"/>
          <p:cNvSpPr txBox="1"/>
          <p:nvPr/>
        </p:nvSpPr>
        <p:spPr>
          <a:xfrm>
            <a:off x="446590" y="5885510"/>
            <a:ext cx="5582078" cy="1143000"/>
          </a:xfrm>
          <a:prstGeom prst="rect">
            <a:avLst/>
          </a:prstGeom>
        </p:spPr>
        <p:txBody>
          <a:bodyPr lIns="0" tIns="0" rIns="0" bIns="0" rtlCol="0" anchor="t">
            <a:spAutoFit/>
          </a:bodyPr>
          <a:lstStyle/>
          <a:p>
            <a:pPr marL="0" lvl="0" indent="0" algn="l">
              <a:lnSpc>
                <a:spcPts val="3000"/>
              </a:lnSpc>
              <a:spcBef>
                <a:spcPct val="0"/>
              </a:spcBef>
            </a:pPr>
            <a:r>
              <a:rPr lang="en-US" sz="2000">
                <a:solidFill>
                  <a:srgbClr val="FFFFFF"/>
                </a:solidFill>
                <a:latin typeface="DejaVu Serif"/>
                <a:ea typeface="DejaVu Serif"/>
                <a:cs typeface="DejaVu Serif"/>
                <a:sym typeface="DejaVu Serif"/>
              </a:rPr>
              <a:t>5/ </a:t>
            </a:r>
            <a:r>
              <a:rPr lang="en-US" sz="2000" u="none" strike="noStrike">
                <a:solidFill>
                  <a:srgbClr val="FFFFFF"/>
                </a:solidFill>
                <a:latin typeface="DejaVu Serif"/>
                <a:ea typeface="DejaVu Serif"/>
                <a:cs typeface="DejaVu Serif"/>
                <a:sym typeface="DejaVu Serif"/>
              </a:rPr>
              <a:t>Nếu cần, hệ thống lấy bài làm từ Moodle, đọc nội dung mã nguồn để làm ngữ cảnh.</a:t>
            </a:r>
          </a:p>
        </p:txBody>
      </p:sp>
      <p:sp>
        <p:nvSpPr>
          <p:cNvPr id="14" name="TextBox 14"/>
          <p:cNvSpPr txBox="1"/>
          <p:nvPr/>
        </p:nvSpPr>
        <p:spPr>
          <a:xfrm>
            <a:off x="446590" y="8119309"/>
            <a:ext cx="5582078" cy="793804"/>
          </a:xfrm>
          <a:prstGeom prst="rect">
            <a:avLst/>
          </a:prstGeom>
        </p:spPr>
        <p:txBody>
          <a:bodyPr lIns="0" tIns="0" rIns="0" bIns="0" rtlCol="0" anchor="t">
            <a:spAutoFit/>
          </a:bodyPr>
          <a:lstStyle/>
          <a:p>
            <a:pPr algn="l">
              <a:lnSpc>
                <a:spcPts val="3200"/>
              </a:lnSpc>
              <a:spcBef>
                <a:spcPct val="0"/>
              </a:spcBef>
            </a:pPr>
            <a:r>
              <a:rPr lang="en-US" sz="2000">
                <a:solidFill>
                  <a:srgbClr val="FFFFFF"/>
                </a:solidFill>
                <a:latin typeface="DejaVu Serif"/>
                <a:ea typeface="DejaVu Serif"/>
                <a:cs typeface="DejaVu Serif"/>
                <a:sym typeface="DejaVu Serif"/>
              </a:rPr>
              <a:t>7/ Kết hợp System Prompt và tin nhắn sinh viên để tạo Prompt hoàn chỉnh</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05439" y="6546798"/>
            <a:ext cx="7480405" cy="7480405"/>
          </a:xfrm>
          <a:custGeom>
            <a:avLst/>
            <a:gdLst/>
            <a:ahLst/>
            <a:cxnLst/>
            <a:rect l="l" t="t" r="r" b="b"/>
            <a:pathLst>
              <a:path w="7480405" h="7480405">
                <a:moveTo>
                  <a:pt x="0" y="0"/>
                </a:moveTo>
                <a:lnTo>
                  <a:pt x="7480405" y="0"/>
                </a:lnTo>
                <a:lnTo>
                  <a:pt x="7480405" y="7480404"/>
                </a:lnTo>
                <a:lnTo>
                  <a:pt x="0" y="748040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TextBox 5"/>
          <p:cNvSpPr txBox="1"/>
          <p:nvPr/>
        </p:nvSpPr>
        <p:spPr>
          <a:xfrm>
            <a:off x="446590" y="300974"/>
            <a:ext cx="16305687" cy="476250"/>
          </a:xfrm>
          <a:prstGeom prst="rect">
            <a:avLst/>
          </a:prstGeom>
        </p:spPr>
        <p:txBody>
          <a:bodyPr lIns="0" tIns="0" rIns="0" bIns="0" rtlCol="0" anchor="t">
            <a:spAutoFit/>
          </a:bodyPr>
          <a:lstStyle/>
          <a:p>
            <a:pPr marL="0" lvl="0" indent="0" algn="l">
              <a:lnSpc>
                <a:spcPts val="3840"/>
              </a:lnSpc>
              <a:spcBef>
                <a:spcPct val="0"/>
              </a:spcBef>
            </a:pPr>
            <a:r>
              <a:rPr lang="en-US" sz="3200" b="1">
                <a:solidFill>
                  <a:srgbClr val="FF9A00"/>
                </a:solidFill>
                <a:latin typeface="Muli Bold"/>
                <a:ea typeface="Muli Bold"/>
                <a:cs typeface="Muli Bold"/>
                <a:sym typeface="Muli Bold"/>
              </a:rPr>
              <a:t>BẢNG DỮ LIỆU NGỮ CẢNH CẦN THIẾT ĐỂ XÂY DỰNG CÁC PROMPT CHỨC NĂNG </a:t>
            </a:r>
          </a:p>
        </p:txBody>
      </p:sp>
      <p:graphicFrame>
        <p:nvGraphicFramePr>
          <p:cNvPr id="6" name="Table 6"/>
          <p:cNvGraphicFramePr>
            <a:graphicFrameLocks noGrp="1"/>
          </p:cNvGraphicFramePr>
          <p:nvPr/>
        </p:nvGraphicFramePr>
        <p:xfrm>
          <a:off x="1454209" y="1987547"/>
          <a:ext cx="15379580" cy="6766008"/>
        </p:xfrm>
        <a:graphic>
          <a:graphicData uri="http://schemas.openxmlformats.org/drawingml/2006/table">
            <a:tbl>
              <a:tblPr/>
              <a:tblGrid>
                <a:gridCol w="3075916">
                  <a:extLst>
                    <a:ext uri="{9D8B030D-6E8A-4147-A177-3AD203B41FA5}">
                      <a16:colId xmlns:a16="http://schemas.microsoft.com/office/drawing/2014/main" val="20000"/>
                    </a:ext>
                  </a:extLst>
                </a:gridCol>
                <a:gridCol w="3075916">
                  <a:extLst>
                    <a:ext uri="{9D8B030D-6E8A-4147-A177-3AD203B41FA5}">
                      <a16:colId xmlns:a16="http://schemas.microsoft.com/office/drawing/2014/main" val="20001"/>
                    </a:ext>
                  </a:extLst>
                </a:gridCol>
                <a:gridCol w="3075916">
                  <a:extLst>
                    <a:ext uri="{9D8B030D-6E8A-4147-A177-3AD203B41FA5}">
                      <a16:colId xmlns:a16="http://schemas.microsoft.com/office/drawing/2014/main" val="20002"/>
                    </a:ext>
                  </a:extLst>
                </a:gridCol>
                <a:gridCol w="3075916">
                  <a:extLst>
                    <a:ext uri="{9D8B030D-6E8A-4147-A177-3AD203B41FA5}">
                      <a16:colId xmlns:a16="http://schemas.microsoft.com/office/drawing/2014/main" val="20003"/>
                    </a:ext>
                  </a:extLst>
                </a:gridCol>
                <a:gridCol w="3075916">
                  <a:extLst>
                    <a:ext uri="{9D8B030D-6E8A-4147-A177-3AD203B41FA5}">
                      <a16:colId xmlns:a16="http://schemas.microsoft.com/office/drawing/2014/main" val="20004"/>
                    </a:ext>
                  </a:extLst>
                </a:gridCol>
              </a:tblGrid>
              <a:tr h="863984">
                <a:tc>
                  <a:txBody>
                    <a:bodyPr/>
                    <a:lstStyle/>
                    <a:p>
                      <a:pPr algn="ctr">
                        <a:lnSpc>
                          <a:spcPts val="3500"/>
                        </a:lnSpc>
                        <a:defRPr/>
                      </a:pPr>
                      <a:r>
                        <a:rPr lang="en-US" sz="2500" b="1">
                          <a:solidFill>
                            <a:srgbClr val="FFFFFF"/>
                          </a:solidFill>
                          <a:latin typeface="DejaVu Serif Bold"/>
                          <a:ea typeface="DejaVu Serif Bold"/>
                          <a:cs typeface="DejaVu Serif Bold"/>
                          <a:sym typeface="DejaVu Serif Bold"/>
                        </a:rPr>
                        <a:t>Chức năng</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ctr">
                        <a:lnSpc>
                          <a:spcPts val="3500"/>
                        </a:lnSpc>
                        <a:defRPr/>
                      </a:pPr>
                      <a:r>
                        <a:rPr lang="en-US" sz="2500" b="1">
                          <a:solidFill>
                            <a:srgbClr val="FFFFFF"/>
                          </a:solidFill>
                          <a:latin typeface="DejaVu Serif Bold"/>
                          <a:ea typeface="DejaVu Serif Bold"/>
                          <a:cs typeface="DejaVu Serif Bold"/>
                          <a:sym typeface="DejaVu Serif Bold"/>
                        </a:rPr>
                        <a:t>Moodle</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ctr">
                        <a:lnSpc>
                          <a:spcPts val="3500"/>
                        </a:lnSpc>
                        <a:defRPr/>
                      </a:pPr>
                      <a:r>
                        <a:rPr lang="en-US" sz="2500" b="1">
                          <a:solidFill>
                            <a:srgbClr val="FFFFFF"/>
                          </a:solidFill>
                          <a:latin typeface="DejaVu Serif Bold"/>
                          <a:ea typeface="DejaVu Serif Bold"/>
                          <a:cs typeface="DejaVu Serif Bold"/>
                          <a:sym typeface="DejaVu Serif Bold"/>
                        </a:rPr>
                        <a:t>MongoDB</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ctr">
                        <a:lnSpc>
                          <a:spcPts val="3500"/>
                        </a:lnSpc>
                        <a:defRPr/>
                      </a:pPr>
                      <a:r>
                        <a:rPr lang="en-US" sz="2500" b="1">
                          <a:solidFill>
                            <a:srgbClr val="FFFFFF"/>
                          </a:solidFill>
                          <a:latin typeface="DejaVu Serif Bold"/>
                          <a:ea typeface="DejaVu Serif Bold"/>
                          <a:cs typeface="DejaVu Serif Bold"/>
                          <a:sym typeface="DejaVu Serif Bold"/>
                        </a:rPr>
                        <a:t>Chat Memory</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ctr">
                        <a:lnSpc>
                          <a:spcPts val="3500"/>
                        </a:lnSpc>
                        <a:defRPr/>
                      </a:pPr>
                      <a:r>
                        <a:rPr lang="en-US" sz="2500" b="1">
                          <a:solidFill>
                            <a:srgbClr val="FFFFFF"/>
                          </a:solidFill>
                          <a:latin typeface="DejaVu Serif Bold"/>
                          <a:ea typeface="DejaVu Serif Bold"/>
                          <a:cs typeface="DejaVu Serif Bold"/>
                          <a:sym typeface="DejaVu Serif Bold"/>
                        </a:rPr>
                        <a:t>Người dùng</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1475506">
                <a:tc>
                  <a:txBody>
                    <a:bodyPr/>
                    <a:lstStyle/>
                    <a:p>
                      <a:pPr algn="l">
                        <a:lnSpc>
                          <a:spcPts val="3080"/>
                        </a:lnSpc>
                        <a:defRPr/>
                      </a:pPr>
                      <a:r>
                        <a:rPr lang="en-US" sz="2200">
                          <a:solidFill>
                            <a:srgbClr val="FFFFFF"/>
                          </a:solidFill>
                          <a:latin typeface="DejaVu Serif"/>
                          <a:ea typeface="DejaVu Serif"/>
                          <a:cs typeface="DejaVu Serif"/>
                          <a:sym typeface="DejaVu Serif"/>
                        </a:rPr>
                        <a:t>Gợi ý bài tập</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Thông tin bài tập</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ctr">
                        <a:lnSpc>
                          <a:spcPts val="3080"/>
                        </a:lnSpc>
                        <a:defRPr/>
                      </a:pPr>
                      <a:r>
                        <a:rPr lang="en-US" sz="2200">
                          <a:solidFill>
                            <a:srgbClr val="FFFFFF"/>
                          </a:solidFill>
                          <a:latin typeface="DejaVu Serif"/>
                          <a:ea typeface="DejaVu Serif"/>
                          <a:cs typeface="DejaVu Serif"/>
                          <a:sym typeface="DejaVu Serif"/>
                        </a:rPr>
                        <a:t>-</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ctr">
                        <a:lnSpc>
                          <a:spcPts val="3080"/>
                        </a:lnSpc>
                        <a:defRPr/>
                      </a:pPr>
                      <a:r>
                        <a:rPr lang="en-US" sz="2200">
                          <a:solidFill>
                            <a:srgbClr val="FFFFFF"/>
                          </a:solidFill>
                          <a:latin typeface="DejaVu Serif"/>
                          <a:ea typeface="DejaVu Serif"/>
                          <a:cs typeface="DejaVu Serif"/>
                          <a:sym typeface="DejaVu Serif"/>
                        </a:rPr>
                        <a:t>-</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ctr">
                        <a:lnSpc>
                          <a:spcPts val="3080"/>
                        </a:lnSpc>
                        <a:defRPr/>
                      </a:pPr>
                      <a:r>
                        <a:rPr lang="en-US" sz="2200">
                          <a:solidFill>
                            <a:srgbClr val="FFFFFF"/>
                          </a:solidFill>
                          <a:latin typeface="DejaVu Serif"/>
                          <a:ea typeface="DejaVu Serif"/>
                          <a:cs typeface="DejaVu Serif"/>
                          <a:sym typeface="DejaVu Serif"/>
                        </a:rPr>
                        <a:t>-</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475506">
                <a:tc>
                  <a:txBody>
                    <a:bodyPr/>
                    <a:lstStyle/>
                    <a:p>
                      <a:pPr algn="l">
                        <a:lnSpc>
                          <a:spcPts val="3080"/>
                        </a:lnSpc>
                        <a:defRPr/>
                      </a:pPr>
                      <a:r>
                        <a:rPr lang="en-US" sz="2200">
                          <a:solidFill>
                            <a:srgbClr val="FFFFFF"/>
                          </a:solidFill>
                          <a:latin typeface="DejaVu Serif"/>
                          <a:ea typeface="DejaVu Serif"/>
                          <a:cs typeface="DejaVu Serif"/>
                          <a:sym typeface="DejaVu Serif"/>
                        </a:rPr>
                        <a:t>Hỏi đáp về hướng dẫn thực hành</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ctr">
                        <a:lnSpc>
                          <a:spcPts val="3080"/>
                        </a:lnSpc>
                        <a:defRPr/>
                      </a:pPr>
                      <a:r>
                        <a:rPr lang="en-US" sz="2200">
                          <a:solidFill>
                            <a:srgbClr val="FFFFFF"/>
                          </a:solidFill>
                          <a:latin typeface="DejaVu Serif"/>
                          <a:ea typeface="DejaVu Serif"/>
                          <a:cs typeface="DejaVu Serif"/>
                          <a:sym typeface="DejaVu Serif"/>
                        </a:rPr>
                        <a:t>-</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Nội dung gợi ý đã lưu</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Lịch sử hội thoại</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Câu hỏi/yêu cầu hiện tại</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475506">
                <a:tc>
                  <a:txBody>
                    <a:bodyPr/>
                    <a:lstStyle/>
                    <a:p>
                      <a:pPr algn="l">
                        <a:lnSpc>
                          <a:spcPts val="3080"/>
                        </a:lnSpc>
                        <a:defRPr/>
                      </a:pPr>
                      <a:r>
                        <a:rPr lang="en-US" sz="2200">
                          <a:solidFill>
                            <a:srgbClr val="FFFFFF"/>
                          </a:solidFill>
                          <a:latin typeface="DejaVu Serif"/>
                          <a:ea typeface="DejaVu Serif"/>
                          <a:cs typeface="DejaVu Serif"/>
                          <a:sym typeface="DejaVu Serif"/>
                        </a:rPr>
                        <a:t>Phân tích bài làm</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Thông tin bài tập, bài nộp</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Nội dung gợi ý đã lưu</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ctr">
                        <a:lnSpc>
                          <a:spcPts val="3080"/>
                        </a:lnSpc>
                        <a:defRPr/>
                      </a:pPr>
                      <a:r>
                        <a:rPr lang="en-US" sz="2200">
                          <a:solidFill>
                            <a:srgbClr val="FFFFFF"/>
                          </a:solidFill>
                          <a:latin typeface="DejaVu Serif"/>
                          <a:ea typeface="DejaVu Serif"/>
                          <a:cs typeface="DejaVu Serif"/>
                          <a:sym typeface="DejaVu Serif"/>
                        </a:rPr>
                        <a:t>-</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Tệp mã nguồn tải lên (khi chưa có bài nộp)</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475506">
                <a:tc>
                  <a:txBody>
                    <a:bodyPr/>
                    <a:lstStyle/>
                    <a:p>
                      <a:pPr algn="l">
                        <a:lnSpc>
                          <a:spcPts val="3080"/>
                        </a:lnSpc>
                        <a:defRPr/>
                      </a:pPr>
                      <a:r>
                        <a:rPr lang="en-US" sz="2200">
                          <a:solidFill>
                            <a:srgbClr val="FFFFFF"/>
                          </a:solidFill>
                          <a:latin typeface="DejaVu Serif"/>
                          <a:ea typeface="DejaVu Serif"/>
                          <a:cs typeface="DejaVu Serif"/>
                          <a:sym typeface="DejaVu Serif"/>
                        </a:rPr>
                        <a:t>Hỏi đáp về phân tích bài làm</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Thông tin bài tập, bài nộp (nếu cần)</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Nội dung gợi ý, kết quả phân tích</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Lịch sử hội thoại</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3080"/>
                        </a:lnSpc>
                        <a:defRPr/>
                      </a:pPr>
                      <a:r>
                        <a:rPr lang="en-US" sz="2200">
                          <a:solidFill>
                            <a:srgbClr val="FFFFFF"/>
                          </a:solidFill>
                          <a:latin typeface="DejaVu Serif"/>
                          <a:ea typeface="DejaVu Serif"/>
                          <a:cs typeface="DejaVu Serif"/>
                          <a:sym typeface="DejaVu Serif"/>
                        </a:rPr>
                        <a:t>Câu hỏi/yêu cầu hiện tại</a:t>
                      </a:r>
                      <a:endParaRPr lang="en-US" sz="1100"/>
                    </a:p>
                  </a:txBody>
                  <a:tcPr marL="76200" marR="76200" marT="76200" marB="76200" anchor="ctr">
                    <a:lnL w="28575"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28026" y="670377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TextBox 5"/>
          <p:cNvSpPr txBox="1"/>
          <p:nvPr/>
        </p:nvSpPr>
        <p:spPr>
          <a:xfrm>
            <a:off x="446590" y="300974"/>
            <a:ext cx="16438644" cy="504879"/>
          </a:xfrm>
          <a:prstGeom prst="rect">
            <a:avLst/>
          </a:prstGeom>
        </p:spPr>
        <p:txBody>
          <a:bodyPr lIns="0" tIns="0" rIns="0" bIns="0" rtlCol="0" anchor="t">
            <a:spAutoFit/>
          </a:bodyPr>
          <a:lstStyle/>
          <a:p>
            <a:pPr marL="0" lvl="0" indent="0" algn="l">
              <a:lnSpc>
                <a:spcPts val="4080"/>
              </a:lnSpc>
              <a:spcBef>
                <a:spcPct val="0"/>
              </a:spcBef>
            </a:pPr>
            <a:r>
              <a:rPr lang="en-US" sz="3400" b="1">
                <a:solidFill>
                  <a:srgbClr val="FF9A00"/>
                </a:solidFill>
                <a:latin typeface="Muli Bold"/>
                <a:ea typeface="Muli Bold"/>
                <a:cs typeface="Muli Bold"/>
                <a:sym typeface="Muli Bold"/>
              </a:rPr>
              <a:t>THIẾT KẾ SYSTEM PROMPT CHO CÁC CHỨC NĂNG</a:t>
            </a:r>
          </a:p>
        </p:txBody>
      </p:sp>
      <p:sp>
        <p:nvSpPr>
          <p:cNvPr id="6" name="TextBox 6"/>
          <p:cNvSpPr txBox="1"/>
          <p:nvPr/>
        </p:nvSpPr>
        <p:spPr>
          <a:xfrm>
            <a:off x="851552" y="1613404"/>
            <a:ext cx="16407748" cy="3307078"/>
          </a:xfrm>
          <a:prstGeom prst="rect">
            <a:avLst/>
          </a:prstGeom>
        </p:spPr>
        <p:txBody>
          <a:bodyPr lIns="0" tIns="0" rIns="0" bIns="0" rtlCol="0" anchor="t">
            <a:spAutoFit/>
          </a:bodyPr>
          <a:lstStyle/>
          <a:p>
            <a:pPr algn="l">
              <a:lnSpc>
                <a:spcPts val="3780"/>
              </a:lnSpc>
            </a:pPr>
            <a:r>
              <a:rPr lang="en-US" sz="2100" err="1">
                <a:solidFill>
                  <a:srgbClr val="FFFFFF"/>
                </a:solidFill>
                <a:latin typeface="DejaVu Serif"/>
                <a:ea typeface="DejaVu Serif"/>
                <a:cs typeface="DejaVu Serif"/>
                <a:sym typeface="DejaVu Serif"/>
              </a:rPr>
              <a:t>Định</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hướng</a:t>
            </a:r>
            <a:r>
              <a:rPr lang="en-US" sz="2100">
                <a:solidFill>
                  <a:srgbClr val="FFFFFF"/>
                </a:solidFill>
                <a:latin typeface="DejaVu Serif"/>
                <a:ea typeface="DejaVu Serif"/>
                <a:cs typeface="DejaVu Serif"/>
                <a:sym typeface="DejaVu Serif"/>
              </a:rPr>
              <a:t> AI </a:t>
            </a:r>
            <a:r>
              <a:rPr lang="en-US" sz="2100" err="1">
                <a:solidFill>
                  <a:srgbClr val="FFFFFF"/>
                </a:solidFill>
                <a:latin typeface="DejaVu Serif"/>
                <a:ea typeface="DejaVu Serif"/>
                <a:cs typeface="DejaVu Serif"/>
                <a:sym typeface="DejaVu Serif"/>
              </a:rPr>
              <a:t>đóng</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vai</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trò</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trợ</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lý</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học</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tập</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hỗ</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trợ</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sinh</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viên</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tìm</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hiểu</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yêu</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cầu</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bài</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tập</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trước</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khi</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thực</a:t>
            </a:r>
            <a:r>
              <a:rPr lang="en-US" sz="2100">
                <a:solidFill>
                  <a:srgbClr val="FFFFFF"/>
                </a:solidFill>
                <a:latin typeface="DejaVu Serif"/>
                <a:ea typeface="DejaVu Serif"/>
                <a:cs typeface="DejaVu Serif"/>
                <a:sym typeface="DejaVu Serif"/>
              </a:rPr>
              <a:t> </a:t>
            </a:r>
            <a:r>
              <a:rPr lang="en-US" sz="2100" err="1">
                <a:solidFill>
                  <a:srgbClr val="FFFFFF"/>
                </a:solidFill>
                <a:latin typeface="DejaVu Serif"/>
                <a:ea typeface="DejaVu Serif"/>
                <a:cs typeface="DejaVu Serif"/>
                <a:sym typeface="DejaVu Serif"/>
              </a:rPr>
              <a:t>hiện</a:t>
            </a:r>
            <a:r>
              <a:rPr lang="en-US" sz="2100">
                <a:solidFill>
                  <a:srgbClr val="FFFFFF"/>
                </a:solidFill>
                <a:latin typeface="DejaVu Serif"/>
                <a:ea typeface="DejaVu Serif"/>
                <a:cs typeface="DejaVu Serif"/>
                <a:sym typeface="DejaVu Serif"/>
              </a:rPr>
              <a:t>.</a:t>
            </a:r>
          </a:p>
          <a:p>
            <a:pPr marL="0" lvl="0" indent="0" algn="l">
              <a:lnSpc>
                <a:spcPts val="3780"/>
              </a:lnSpc>
            </a:pPr>
            <a:r>
              <a:rPr lang="en-US" sz="2100" u="none" strike="noStrike" err="1">
                <a:solidFill>
                  <a:srgbClr val="FFFFFF"/>
                </a:solidFill>
                <a:latin typeface="DejaVu Serif"/>
                <a:ea typeface="DejaVu Serif"/>
                <a:cs typeface="DejaVu Serif"/>
                <a:sym typeface="DejaVu Serif"/>
              </a:rPr>
              <a:t>Phân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tích</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ngữ</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cảnh</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dữ</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liệu</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bài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tập</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từ</a:t>
            </a:r>
            <a:r>
              <a:rPr lang="en-US" sz="2100" u="none" strike="noStrike">
                <a:solidFill>
                  <a:srgbClr val="FFFFFF"/>
                </a:solidFill>
                <a:latin typeface="DejaVu Serif"/>
                <a:ea typeface="DejaVu Serif"/>
                <a:cs typeface="DejaVu Serif"/>
                <a:sym typeface="DejaVu Serif"/>
              </a:rPr>
              <a:t> Moodle (</a:t>
            </a:r>
            <a:r>
              <a:rPr lang="en-US" sz="2100" u="none" strike="noStrike" err="1">
                <a:solidFill>
                  <a:srgbClr val="FFFFFF"/>
                </a:solidFill>
                <a:latin typeface="DejaVu Serif"/>
                <a:ea typeface="DejaVu Serif"/>
                <a:cs typeface="DejaVu Serif"/>
                <a:sym typeface="DejaVu Serif"/>
              </a:rPr>
              <a:t>mô</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tả</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hướng</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dẫn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và</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tài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liệu</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đính</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kèm</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để</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xác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định</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yêu</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cầu</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và</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tiêu</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chí</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đánh</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giá</a:t>
            </a:r>
            <a:r>
              <a:rPr lang="en-US" sz="2100" u="none" strike="noStrike">
                <a:solidFill>
                  <a:srgbClr val="FFFFFF"/>
                </a:solidFill>
                <a:latin typeface="DejaVu Serif"/>
                <a:ea typeface="DejaVu Serif"/>
                <a:cs typeface="DejaVu Serif"/>
                <a:sym typeface="DejaVu Serif"/>
              </a:rPr>
              <a:t>.</a:t>
            </a:r>
          </a:p>
          <a:p>
            <a:pPr marL="0" lvl="0" indent="0" algn="l">
              <a:lnSpc>
                <a:spcPts val="3780"/>
              </a:lnSpc>
            </a:pPr>
            <a:r>
              <a:rPr lang="en-US" sz="2100" u="none" strike="noStrike" err="1">
                <a:solidFill>
                  <a:srgbClr val="FFFFFF"/>
                </a:solidFill>
                <a:latin typeface="DejaVu Serif"/>
                <a:ea typeface="DejaVu Serif"/>
                <a:cs typeface="DejaVu Serif"/>
                <a:sym typeface="DejaVu Serif"/>
              </a:rPr>
              <a:t>Xác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định</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các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chức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năng</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cần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xây</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dựng</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kiến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thức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liên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quan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và</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các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lỗi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thường</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gặp</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của</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bài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tập</a:t>
            </a:r>
            <a:r>
              <a:rPr lang="en-US" sz="2100" u="none" strike="noStrike">
                <a:solidFill>
                  <a:srgbClr val="FFFFFF"/>
                </a:solidFill>
                <a:latin typeface="DejaVu Serif"/>
                <a:ea typeface="DejaVu Serif"/>
                <a:cs typeface="DejaVu Serif"/>
                <a:sym typeface="DejaVu Serif"/>
              </a:rPr>
              <a:t>.</a:t>
            </a:r>
          </a:p>
          <a:p>
            <a:pPr marL="0" lvl="0" indent="0" algn="l">
              <a:lnSpc>
                <a:spcPts val="3780"/>
              </a:lnSpc>
            </a:pPr>
            <a:r>
              <a:rPr lang="en-US" sz="2100" u="none" strike="noStrike" err="1">
                <a:solidFill>
                  <a:srgbClr val="FFFFFF"/>
                </a:solidFill>
                <a:latin typeface="DejaVu Serif"/>
                <a:ea typeface="DejaVu Serif"/>
                <a:cs typeface="DejaVu Serif"/>
                <a:sym typeface="DejaVu Serif"/>
              </a:rPr>
              <a:t>Chỉ</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cung</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cấp</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gợi</a:t>
            </a:r>
            <a:r>
              <a:rPr lang="en-US" sz="2100" u="none" strike="noStrike">
                <a:solidFill>
                  <a:srgbClr val="FFFFFF"/>
                </a:solidFill>
                <a:latin typeface="DejaVu Serif"/>
                <a:ea typeface="DejaVu Serif"/>
                <a:cs typeface="DejaVu Serif"/>
                <a:sym typeface="DejaVu Serif"/>
              </a:rPr>
              <a:t> ý </a:t>
            </a:r>
            <a:r>
              <a:rPr lang="en-US" sz="2100" u="none" strike="noStrike" err="1">
                <a:solidFill>
                  <a:srgbClr val="FFFFFF"/>
                </a:solidFill>
                <a:latin typeface="DejaVu Serif"/>
                <a:ea typeface="DejaVu Serif"/>
                <a:cs typeface="DejaVu Serif"/>
                <a:sym typeface="DejaVu Serif"/>
              </a:rPr>
              <a:t>và</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định</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hướng</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thực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hiện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không</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sinh</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lời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giải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hoàn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chỉnh</a:t>
            </a:r>
            <a:r>
              <a:rPr lang="en-US" sz="2100" u="none" strike="noStrike">
                <a:solidFill>
                  <a:srgbClr val="FFFFFF"/>
                </a:solidFill>
                <a:latin typeface="DejaVu Serif"/>
                <a:ea typeface="DejaVu Serif"/>
                <a:cs typeface="DejaVu Serif"/>
                <a:sym typeface="DejaVu Serif"/>
              </a:rPr>
              <a:t>.</a:t>
            </a:r>
          </a:p>
          <a:p>
            <a:pPr marL="0" lvl="0" indent="0" algn="l">
              <a:lnSpc>
                <a:spcPts val="3780"/>
              </a:lnSpc>
            </a:pPr>
            <a:r>
              <a:rPr lang="en-US" sz="2100" u="none" strike="noStrike" err="1">
                <a:solidFill>
                  <a:srgbClr val="FFFFFF"/>
                </a:solidFill>
                <a:latin typeface="DejaVu Serif"/>
                <a:ea typeface="DejaVu Serif"/>
                <a:cs typeface="DejaVu Serif"/>
                <a:sym typeface="DejaVu Serif"/>
              </a:rPr>
              <a:t>Yêu</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cầu</a:t>
            </a:r>
            <a:r>
              <a:rPr lang="en-US" sz="2100" u="none" strike="noStrike">
                <a:solidFill>
                  <a:srgbClr val="FFFFFF"/>
                </a:solidFill>
                <a:latin typeface="DejaVu Serif"/>
                <a:ea typeface="DejaVu Serif"/>
                <a:cs typeface="DejaVu Serif"/>
                <a:sym typeface="DejaVu Serif"/>
              </a:rPr>
              <a:t> AI </a:t>
            </a:r>
            <a:r>
              <a:rPr lang="en-US" sz="2100" u="none" strike="noStrike" err="1">
                <a:solidFill>
                  <a:srgbClr val="FFFFFF"/>
                </a:solidFill>
                <a:latin typeface="DejaVu Serif"/>
                <a:ea typeface="DejaVu Serif"/>
                <a:cs typeface="DejaVu Serif"/>
                <a:sym typeface="DejaVu Serif"/>
              </a:rPr>
              <a:t>trả</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về</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kết</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quả</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theo</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cấu</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trúc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gồm</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mục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tiêu</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bài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tập</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kiến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thức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cần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thiết</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gợi</a:t>
            </a:r>
            <a:r>
              <a:rPr lang="en-US" sz="2100" u="none" strike="noStrike">
                <a:solidFill>
                  <a:srgbClr val="FFFFFF"/>
                </a:solidFill>
                <a:latin typeface="DejaVu Serif"/>
                <a:ea typeface="DejaVu Serif"/>
                <a:cs typeface="DejaVu Serif"/>
                <a:sym typeface="DejaVu Serif"/>
              </a:rPr>
              <a:t> ý </a:t>
            </a:r>
            <a:r>
              <a:rPr lang="en-US" sz="2100" u="none" strike="noStrike" err="1">
                <a:solidFill>
                  <a:srgbClr val="FFFFFF"/>
                </a:solidFill>
                <a:latin typeface="DejaVu Serif"/>
                <a:ea typeface="DejaVu Serif"/>
                <a:cs typeface="DejaVu Serif"/>
                <a:sym typeface="DejaVu Serif"/>
              </a:rPr>
              <a:t>thực</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hiện</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lỗi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thường</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gặp</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và</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câu</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hỏi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gợi</a:t>
            </a:r>
            <a:r>
              <a:rPr lang="en-US" sz="2100" u="none" strike="noStrike">
                <a:solidFill>
                  <a:srgbClr val="FFFFFF"/>
                </a:solidFill>
                <a:latin typeface="DejaVu Serif"/>
                <a:ea typeface="DejaVu Serif"/>
                <a:cs typeface="DejaVu Serif"/>
                <a:sym typeface="DejaVu Serif"/>
              </a:rPr>
              <a:t> </a:t>
            </a:r>
            <a:r>
              <a:rPr lang="en-US" sz="2100" u="none" strike="noStrike" err="1">
                <a:solidFill>
                  <a:srgbClr val="FFFFFF"/>
                </a:solidFill>
                <a:latin typeface="DejaVu Serif"/>
                <a:ea typeface="DejaVu Serif"/>
                <a:cs typeface="DejaVu Serif"/>
                <a:sym typeface="DejaVu Serif"/>
              </a:rPr>
              <a:t>mở</a:t>
            </a:r>
            <a:r>
              <a:rPr lang="en-US" sz="2100" u="none" strike="noStrike">
                <a:solidFill>
                  <a:srgbClr val="FFFFFF"/>
                </a:solidFill>
                <a:latin typeface="DejaVu Serif"/>
                <a:ea typeface="DejaVu Serif"/>
                <a:cs typeface="DejaVu Serif"/>
                <a:sym typeface="DejaVu Serif"/>
              </a:rPr>
              <a:t>.</a:t>
            </a:r>
          </a:p>
        </p:txBody>
      </p:sp>
      <p:sp>
        <p:nvSpPr>
          <p:cNvPr id="7" name="TextBox 7"/>
          <p:cNvSpPr txBox="1"/>
          <p:nvPr/>
        </p:nvSpPr>
        <p:spPr>
          <a:xfrm>
            <a:off x="446590" y="1062859"/>
            <a:ext cx="6880737" cy="426719"/>
          </a:xfrm>
          <a:prstGeom prst="rect">
            <a:avLst/>
          </a:prstGeom>
        </p:spPr>
        <p:txBody>
          <a:bodyPr lIns="0" tIns="0" rIns="0" bIns="0" rtlCol="0" anchor="t">
            <a:spAutoFit/>
          </a:bodyPr>
          <a:lstStyle/>
          <a:p>
            <a:pPr marL="0" lvl="0" indent="0" algn="l">
              <a:lnSpc>
                <a:spcPts val="3450"/>
              </a:lnSpc>
              <a:spcBef>
                <a:spcPct val="0"/>
              </a:spcBef>
            </a:pPr>
            <a:r>
              <a:rPr lang="en-US" sz="2300" b="1">
                <a:solidFill>
                  <a:srgbClr val="17E3B2"/>
                </a:solidFill>
                <a:latin typeface="DejaVu Serif Bold"/>
                <a:ea typeface="DejaVu Serif Bold"/>
                <a:cs typeface="DejaVu Serif Bold"/>
                <a:sym typeface="DejaVu Serif Bold"/>
              </a:rPr>
              <a:t>Thiết kế System Prompt gợi ý bài tập</a:t>
            </a:r>
          </a:p>
        </p:txBody>
      </p:sp>
      <p:sp>
        <p:nvSpPr>
          <p:cNvPr id="8" name="TextBox 8"/>
          <p:cNvSpPr txBox="1"/>
          <p:nvPr/>
        </p:nvSpPr>
        <p:spPr>
          <a:xfrm>
            <a:off x="446590" y="5192348"/>
            <a:ext cx="10210430" cy="426719"/>
          </a:xfrm>
          <a:prstGeom prst="rect">
            <a:avLst/>
          </a:prstGeom>
        </p:spPr>
        <p:txBody>
          <a:bodyPr lIns="0" tIns="0" rIns="0" bIns="0" rtlCol="0" anchor="t">
            <a:spAutoFit/>
          </a:bodyPr>
          <a:lstStyle/>
          <a:p>
            <a:pPr marL="0" lvl="0" indent="0" algn="l">
              <a:lnSpc>
                <a:spcPts val="3450"/>
              </a:lnSpc>
              <a:spcBef>
                <a:spcPct val="0"/>
              </a:spcBef>
            </a:pPr>
            <a:r>
              <a:rPr lang="en-US" sz="2300" b="1">
                <a:solidFill>
                  <a:srgbClr val="17E3B2"/>
                </a:solidFill>
                <a:latin typeface="DejaVu Serif Bold"/>
                <a:ea typeface="DejaVu Serif Bold"/>
                <a:cs typeface="DejaVu Serif Bold"/>
                <a:sym typeface="DejaVu Serif Bold"/>
              </a:rPr>
              <a:t>Thiết kế System Prompt hỏi đáp về hướng dẫn thực hành</a:t>
            </a:r>
          </a:p>
        </p:txBody>
      </p:sp>
      <p:sp>
        <p:nvSpPr>
          <p:cNvPr id="9" name="TextBox 9"/>
          <p:cNvSpPr txBox="1"/>
          <p:nvPr/>
        </p:nvSpPr>
        <p:spPr>
          <a:xfrm>
            <a:off x="851552" y="5747523"/>
            <a:ext cx="16407748" cy="2923877"/>
          </a:xfrm>
          <a:prstGeom prst="rect">
            <a:avLst/>
          </a:prstGeom>
        </p:spPr>
        <p:txBody>
          <a:bodyPr lIns="0" tIns="0" rIns="0" bIns="0" rtlCol="0" anchor="t">
            <a:spAutoFit/>
          </a:bodyPr>
          <a:lstStyle/>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Sử dụng nội dung gợi ý đã sinh trước đó làm ngữ cảnh chính để đảm bảo phản hồi bám sát yêu cầu bài tập.</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Tập trung vào việc giải thích tư duy, thuật toán, hướng triển khai và cách gỡ lỗi, thay vì cung cấp đáp án hoàn chỉnh.</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Hỗ trợ sinh viên từng bước giải quyết khó khăn và duy trì cuộc trao đổi trong phạm vi bài tập.</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Khuyến khích AI sử dụng các hình thức trình bày như </a:t>
            </a:r>
            <a:r>
              <a:rPr lang="en-US" sz="2100" u="none" strike="noStrike" smtClean="0">
                <a:solidFill>
                  <a:srgbClr val="FFFFFF"/>
                </a:solidFill>
                <a:latin typeface="DejaVu Serif"/>
                <a:ea typeface="DejaVu Serif"/>
                <a:cs typeface="DejaVu Serif"/>
                <a:sym typeface="DejaVu Serif"/>
              </a:rPr>
              <a:t>mã giả, </a:t>
            </a:r>
            <a:r>
              <a:rPr lang="en-US" sz="2100" u="none" strike="noStrike">
                <a:solidFill>
                  <a:srgbClr val="FFFFFF"/>
                </a:solidFill>
                <a:latin typeface="DejaVu Serif"/>
                <a:ea typeface="DejaVu Serif"/>
                <a:cs typeface="DejaVu Serif"/>
                <a:sym typeface="DejaVu Serif"/>
              </a:rPr>
              <a:t>sơ đồ luồng hoặc mô tả cấu trúc khi cần thiết.</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Sử dụng thuật ngữ phù hợp với ngôn ngữ lập trình và giải thích rõ vai trò của các thành phần trong chương trình.</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Sinh thêm các câu hỏi gợi mở nhằm khuyến khích sinh viên tiếp tục trao đổi và học tập.</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51D40"/>
        </a:solidFill>
        <a:effectLst/>
      </p:bgPr>
    </p:bg>
    <p:spTree>
      <p:nvGrpSpPr>
        <p:cNvPr id="1" name=""/>
        <p:cNvGrpSpPr/>
        <p:nvPr/>
      </p:nvGrpSpPr>
      <p:grpSpPr>
        <a:xfrm>
          <a:off x="0" y="0"/>
          <a:ext cx="0" cy="0"/>
          <a:chOff x="0" y="0"/>
          <a:chExt cx="0" cy="0"/>
        </a:xfrm>
      </p:grpSpPr>
      <p:sp>
        <p:nvSpPr>
          <p:cNvPr id="2" name="Freeform 2"/>
          <p:cNvSpPr/>
          <p:nvPr/>
        </p:nvSpPr>
        <p:spPr>
          <a:xfrm>
            <a:off x="-4028026" y="6703772"/>
            <a:ext cx="7480405" cy="7480405"/>
          </a:xfrm>
          <a:custGeom>
            <a:avLst/>
            <a:gdLst/>
            <a:ahLst/>
            <a:cxnLst/>
            <a:rect l="l" t="t" r="r" b="b"/>
            <a:pathLst>
              <a:path w="7480405" h="7480405">
                <a:moveTo>
                  <a:pt x="0" y="0"/>
                </a:moveTo>
                <a:lnTo>
                  <a:pt x="7480404" y="0"/>
                </a:lnTo>
                <a:lnTo>
                  <a:pt x="7480404" y="7480405"/>
                </a:lnTo>
                <a:lnTo>
                  <a:pt x="0" y="7480405"/>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7259300" y="-2287272"/>
            <a:ext cx="5754080" cy="8220114"/>
            <a:chOff x="0" y="0"/>
            <a:chExt cx="4445000" cy="6350000"/>
          </a:xfrm>
        </p:grpSpPr>
        <p:sp>
          <p:nvSpPr>
            <p:cNvPr id="4" name="Freeform 4"/>
            <p:cNvSpPr/>
            <p:nvPr/>
          </p:nvSpPr>
          <p:spPr>
            <a:xfrm>
              <a:off x="0" y="0"/>
              <a:ext cx="4445000" cy="6350000"/>
            </a:xfrm>
            <a:custGeom>
              <a:avLst/>
              <a:gdLst/>
              <a:ahLst/>
              <a:cxnLst/>
              <a:rect l="l" t="t" r="r" b="b"/>
              <a:pathLst>
                <a:path w="4445000" h="6350000">
                  <a:moveTo>
                    <a:pt x="2222500" y="6350000"/>
                  </a:moveTo>
                  <a:cubicBezTo>
                    <a:pt x="995680" y="6350000"/>
                    <a:pt x="0" y="5354320"/>
                    <a:pt x="0" y="4127500"/>
                  </a:cubicBezTo>
                  <a:lnTo>
                    <a:pt x="0" y="2222500"/>
                  </a:lnTo>
                  <a:cubicBezTo>
                    <a:pt x="0" y="995680"/>
                    <a:pt x="995680" y="0"/>
                    <a:pt x="2222500" y="0"/>
                  </a:cubicBezTo>
                  <a:cubicBezTo>
                    <a:pt x="3449320" y="0"/>
                    <a:pt x="4445000" y="995680"/>
                    <a:pt x="4445000" y="2222500"/>
                  </a:cubicBezTo>
                  <a:lnTo>
                    <a:pt x="4445000" y="4127500"/>
                  </a:lnTo>
                  <a:cubicBezTo>
                    <a:pt x="4445000" y="5354320"/>
                    <a:pt x="3449320" y="6350000"/>
                    <a:pt x="2222500" y="6350000"/>
                  </a:cubicBezTo>
                  <a:close/>
                </a:path>
              </a:pathLst>
            </a:custGeom>
            <a:blipFill>
              <a:blip r:embed="rId4">
                <a:alphaModFix amt="74000"/>
              </a:blip>
              <a:stretch>
                <a:fillRect l="-201730" r="-201730"/>
              </a:stretch>
            </a:blipFill>
          </p:spPr>
        </p:sp>
      </p:grpSp>
      <p:sp>
        <p:nvSpPr>
          <p:cNvPr id="5" name="TextBox 5"/>
          <p:cNvSpPr txBox="1"/>
          <p:nvPr/>
        </p:nvSpPr>
        <p:spPr>
          <a:xfrm>
            <a:off x="446590" y="300974"/>
            <a:ext cx="16438644" cy="504879"/>
          </a:xfrm>
          <a:prstGeom prst="rect">
            <a:avLst/>
          </a:prstGeom>
        </p:spPr>
        <p:txBody>
          <a:bodyPr lIns="0" tIns="0" rIns="0" bIns="0" rtlCol="0" anchor="t">
            <a:spAutoFit/>
          </a:bodyPr>
          <a:lstStyle/>
          <a:p>
            <a:pPr marL="0" lvl="0" indent="0" algn="l">
              <a:lnSpc>
                <a:spcPts val="4080"/>
              </a:lnSpc>
              <a:spcBef>
                <a:spcPct val="0"/>
              </a:spcBef>
            </a:pPr>
            <a:r>
              <a:rPr lang="en-US" sz="3400" b="1">
                <a:solidFill>
                  <a:srgbClr val="FF9A00"/>
                </a:solidFill>
                <a:latin typeface="Muli Bold"/>
                <a:ea typeface="Muli Bold"/>
                <a:cs typeface="Muli Bold"/>
                <a:sym typeface="Muli Bold"/>
              </a:rPr>
              <a:t>THIẾT KẾ SYSTEM PROMPT CHO CÁC CHỨC NĂNG</a:t>
            </a:r>
          </a:p>
        </p:txBody>
      </p:sp>
      <p:sp>
        <p:nvSpPr>
          <p:cNvPr id="6" name="TextBox 6"/>
          <p:cNvSpPr txBox="1"/>
          <p:nvPr/>
        </p:nvSpPr>
        <p:spPr>
          <a:xfrm>
            <a:off x="446590" y="1224180"/>
            <a:ext cx="10682887" cy="426719"/>
          </a:xfrm>
          <a:prstGeom prst="rect">
            <a:avLst/>
          </a:prstGeom>
        </p:spPr>
        <p:txBody>
          <a:bodyPr lIns="0" tIns="0" rIns="0" bIns="0" rtlCol="0" anchor="t">
            <a:spAutoFit/>
          </a:bodyPr>
          <a:lstStyle/>
          <a:p>
            <a:pPr marL="0" lvl="0" indent="0" algn="l">
              <a:lnSpc>
                <a:spcPts val="3450"/>
              </a:lnSpc>
              <a:spcBef>
                <a:spcPct val="0"/>
              </a:spcBef>
            </a:pPr>
            <a:r>
              <a:rPr lang="en-US" sz="2300" b="1">
                <a:solidFill>
                  <a:srgbClr val="17E3B2"/>
                </a:solidFill>
                <a:latin typeface="DejaVu Serif Bold"/>
                <a:ea typeface="DejaVu Serif Bold"/>
                <a:cs typeface="DejaVu Serif Bold"/>
                <a:sym typeface="DejaVu Serif Bold"/>
              </a:rPr>
              <a:t>Thiết kế System Prompt phân tích mã nguồn bài làm</a:t>
            </a:r>
          </a:p>
        </p:txBody>
      </p:sp>
      <p:sp>
        <p:nvSpPr>
          <p:cNvPr id="7" name="TextBox 7"/>
          <p:cNvSpPr txBox="1"/>
          <p:nvPr/>
        </p:nvSpPr>
        <p:spPr>
          <a:xfrm>
            <a:off x="813413" y="1689435"/>
            <a:ext cx="17002130" cy="3411190"/>
          </a:xfrm>
          <a:prstGeom prst="rect">
            <a:avLst/>
          </a:prstGeom>
        </p:spPr>
        <p:txBody>
          <a:bodyPr lIns="0" tIns="0" rIns="0" bIns="0" rtlCol="0" anchor="t">
            <a:spAutoFit/>
          </a:bodyPr>
          <a:lstStyle/>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Định hướng AI đóng vai trò giảng viên, đánh giá bài làm sinh viên dựa trên yêu cầu bài tập và mã nguồn của sinh viên.</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Sử dụng thông tin bài tập và tiêu chí đánh giá làm cơ sở đối chiếu với bài làm.</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Kết hợp nội dung gợi ý đã sinh trước đó để đảm bảo tính nhất quán giữa giai đoạn hướng dẫn và </a:t>
            </a:r>
            <a:r>
              <a:rPr lang="en-US" sz="2100" smtClean="0">
                <a:solidFill>
                  <a:srgbClr val="FFFFFF"/>
                </a:solidFill>
                <a:latin typeface="DejaVu Serif"/>
                <a:ea typeface="DejaVu Serif"/>
                <a:cs typeface="DejaVu Serif"/>
                <a:sym typeface="DejaVu Serif"/>
              </a:rPr>
              <a:t>đưa ra </a:t>
            </a:r>
            <a:r>
              <a:rPr lang="en-US" sz="2100" u="none" strike="noStrike" smtClean="0">
                <a:solidFill>
                  <a:srgbClr val="FFFFFF"/>
                </a:solidFill>
                <a:latin typeface="DejaVu Serif"/>
                <a:ea typeface="DejaVu Serif"/>
                <a:cs typeface="DejaVu Serif"/>
                <a:sym typeface="DejaVu Serif"/>
              </a:rPr>
              <a:t>đánh </a:t>
            </a:r>
            <a:r>
              <a:rPr lang="en-US" sz="2100" u="none" strike="noStrike">
                <a:solidFill>
                  <a:srgbClr val="FFFFFF"/>
                </a:solidFill>
                <a:latin typeface="DejaVu Serif"/>
                <a:ea typeface="DejaVu Serif"/>
                <a:cs typeface="DejaVu Serif"/>
                <a:sym typeface="DejaVu Serif"/>
              </a:rPr>
              <a:t>giá.</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Phân tích trực tiếp mã nguồn để xác định các chức năng đã triển khai, các yêu cầu còn thiếu và các lỗi trong chương trình.</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Xác định mối quan hệ giữa các tệp mã nguồn để lựa chọn hình thức đánh giá phù hợp (theo từng tệp hoặc toàn bộ dự án).</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Đánh giá mức độ hoàn thành bài tập, phát hiện lỗi cú pháp và lỗi logic.</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Đưa ra nhận xét, gợi ý chỉnh sửa và đề xuất hướng cải thiện chương trình.</a:t>
            </a:r>
          </a:p>
        </p:txBody>
      </p:sp>
      <p:sp>
        <p:nvSpPr>
          <p:cNvPr id="8" name="TextBox 8"/>
          <p:cNvSpPr txBox="1"/>
          <p:nvPr/>
        </p:nvSpPr>
        <p:spPr>
          <a:xfrm>
            <a:off x="446590" y="5415614"/>
            <a:ext cx="10682887" cy="426719"/>
          </a:xfrm>
          <a:prstGeom prst="rect">
            <a:avLst/>
          </a:prstGeom>
        </p:spPr>
        <p:txBody>
          <a:bodyPr lIns="0" tIns="0" rIns="0" bIns="0" rtlCol="0" anchor="t">
            <a:spAutoFit/>
          </a:bodyPr>
          <a:lstStyle/>
          <a:p>
            <a:pPr marL="0" lvl="0" indent="0" algn="l">
              <a:lnSpc>
                <a:spcPts val="3450"/>
              </a:lnSpc>
              <a:spcBef>
                <a:spcPct val="0"/>
              </a:spcBef>
            </a:pPr>
            <a:r>
              <a:rPr lang="en-US" sz="2300" b="1">
                <a:solidFill>
                  <a:srgbClr val="17E3B2"/>
                </a:solidFill>
                <a:latin typeface="DejaVu Serif Bold"/>
                <a:ea typeface="DejaVu Serif Bold"/>
                <a:cs typeface="DejaVu Serif Bold"/>
                <a:sym typeface="DejaVu Serif Bold"/>
              </a:rPr>
              <a:t>Thiết kế System Prompt hỏi đáp về phân tích bài làm</a:t>
            </a:r>
          </a:p>
        </p:txBody>
      </p:sp>
      <p:sp>
        <p:nvSpPr>
          <p:cNvPr id="9" name="TextBox 9"/>
          <p:cNvSpPr txBox="1"/>
          <p:nvPr/>
        </p:nvSpPr>
        <p:spPr>
          <a:xfrm>
            <a:off x="813413" y="5880433"/>
            <a:ext cx="17002130" cy="3783328"/>
          </a:xfrm>
          <a:prstGeom prst="rect">
            <a:avLst/>
          </a:prstGeom>
        </p:spPr>
        <p:txBody>
          <a:bodyPr lIns="0" tIns="0" rIns="0" bIns="0" rtlCol="0" anchor="t">
            <a:spAutoFit/>
          </a:bodyPr>
          <a:lstStyle/>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Sử dụng kết quả phân tích làm ngữ cảnh chính, kết hợp với thông tin bài tập và nội dung gợi ý đã lưu để AI bám sát phạm vi bài tập và sự nhất quán với gợi ý hướng dẫn trước đó. Hướng dẫn AI khắc cách phản hồi khi sinh viên đứa ra câu hỏi hoặc yêu cầu không liên quan đến đề bài.</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Giải thích các lỗi, nhận xét, tiêu chí chưa đạt và mức độ hoàn thành của bài tập một cách dễ hiểu.</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Khi có mã nguồn làm ngữ cảnh thì câu hỏi hoặc yêu cầu của sinh viên cần phân tích chi tiết hoặc kiểm tra mã nguồn.</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Đảm bảo phản hồi dựa trên dữ liệu phân tích đã có, hạn chế suy diễn ngoài ngữ cảnh được cung cấp.</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Tập trung hướng dẫn cách khắc phục lỗi, cải thiện thuật toán và hoàn thiện chương trình tốt nhất theo các tiêu chí đã đặt ra.</a:t>
            </a:r>
          </a:p>
          <a:p>
            <a:pPr marL="0" lvl="0" indent="0" algn="l">
              <a:lnSpc>
                <a:spcPts val="3780"/>
              </a:lnSpc>
              <a:spcBef>
                <a:spcPct val="0"/>
              </a:spcBef>
            </a:pPr>
            <a:r>
              <a:rPr lang="en-US" sz="2100" u="none" strike="noStrike">
                <a:solidFill>
                  <a:srgbClr val="FFFFFF"/>
                </a:solidFill>
                <a:latin typeface="DejaVu Serif"/>
                <a:ea typeface="DejaVu Serif"/>
                <a:cs typeface="DejaVu Serif"/>
                <a:sym typeface="DejaVu Serif"/>
              </a:rPr>
              <a:t>Có thể sử dụng mã giả, sơ đồ luồng hoặc mô tả cấu trúc để hỗ trợ sinh viên hiểu rõ hơn về giải pháp chỉnh sửa hay cải thiện.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847</TotalTime>
  <Words>3595</Words>
  <Application>Microsoft Office PowerPoint</Application>
  <PresentationFormat>Custom</PresentationFormat>
  <Paragraphs>258</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DejaVu Serif Bold</vt:lpstr>
      <vt:lpstr>Arial</vt:lpstr>
      <vt:lpstr>DejaVu Serif</vt:lpstr>
      <vt:lpstr>Calibri</vt:lpstr>
      <vt:lpstr>Muli Bold</vt:lpstr>
      <vt:lpstr>Muli</vt:lpstr>
      <vt:lpstr>Muli Ultra-Bold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KLTN</dc:title>
  <dc:creator>Nguyen Huynh Chi</dc:creator>
  <cp:lastModifiedBy>DELL</cp:lastModifiedBy>
  <cp:revision>15</cp:revision>
  <dcterms:created xsi:type="dcterms:W3CDTF">2006-08-16T00:00:00Z</dcterms:created>
  <dcterms:modified xsi:type="dcterms:W3CDTF">2026-07-07T00:37:28Z</dcterms:modified>
  <dc:identifier>DAHNyAI_OiY</dc:identifier>
</cp:coreProperties>
</file>